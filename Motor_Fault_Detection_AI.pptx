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e0180bfe-4395-65a4-ac09-3c6d8ab6924f}">
          <p14:sldIdLst>
            <p14:sldId id="256"/>
            <p14:sldId id="257"/>
            <p14:sldId id="258"/>
          </p14:sldIdLst>
        </p14:section>
        <p14:section name="Approach" id="{da4a82d3-1bb1-bf2f-7e9d-457be2fb3527}">
          <p14:sldIdLst>
            <p14:sldId id="259"/>
            <p14:sldId id="260"/>
            <p14:sldId id="261"/>
            <p14:sldId id="262"/>
            <p14:sldId id="263"/>
          </p14:sldIdLst>
        </p14:section>
        <p14:section name="Results" id="{a4f3997b-cee6-8c24-dd37-5b89e5698b2d}">
          <p14:sldIdLst>
            <p14:sldId id="264"/>
            <p14:sldId id="265"/>
            <p14:sldId id="266"/>
            <p14:sldId id="267"/>
          </p14:sldIdLst>
        </p14:section>
        <p14:section name="Conclusion" id="{14b45bf8-3198-8208-6840-9952c43b00c5}">
          <p14:sldIdLst>
            <p14:sldId id="268"/>
            <p14:sldId id="269"/>
            <p14:sldId id="2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project: an AI system that listens to a motor's vibration and identifies bearing faults, both the type of fault and how big it is. The waveform on the right is a real recording from the dataset of a bearing with an inner race crack; the sharp spikes are the impacts every time a ball rolls over the crack. This is a software prototype built on public lab data, not a hardware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Motors are everywhere in industry, and bearings are a common point of failure. The key idea of this project: a damaged bearing vibrates differently. On the right, the top plot is a healthy bearing with small, smooth vibration; the bottom plot is a bearing with an inner race crack, showing large repeating spikes. If a human can see the difference, a machine learning model can learn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problems with manual vibration analysis: it needs an expert, faults are often noticed too late, and simply knowing a motor is faulty isn't enough. Our goal is a system that automatically classifies the bearing into one of four conditions, estimates the crack size, gives a confidence score, and warns the user when it isn't sure.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used the public CWRU bearing dataset: 40 recordings covering a healthy bearing and three fault types, each with three crack sizes and four motor loads. Each recording is cut into 2048-sample windows, giving 2331 windows. One important data check: we found the healthy recordings were actually sampled at 48 kHz, not 12 kHz. We confirmed this from the shaft-speed peaks in the spectrum and downsampled them, so the model can't cheat by spotting the sampling-rate difference.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solution has four parts: signal processing, feature extraction, two Random Forest models (one for fault type, one for fault size), and a Streamlit web app. We also made it robust: the models are trained on noisy copies of the data, the app converts any sampling rate to 12 kHz, and it warns the user instead of giving a confident wrong answer when a signal looks unfamiliar.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full pipeline. A vibration CSV comes in at any sampling rate and is converted to 12 kHz, cut into 2048-sample windows, turned into 14 features, and scaled. Two Random Forest models then predict the fault type and the fault size. A safety check flags unfamiliar or low-confidence results, and the app shows the final status: motor healthy or needs inspection.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2048-sample window becomes 14 numbers. Time-domain features describe the strength and shape of the vibration: RMS is overall energy, kurtosis is high when there are sharp impacts. Frequency-domain features come from the FFT: the dominant frequency and the energy in four frequency bands. The chart shows which features the Random Forest relied on most: peak-to-peak, band 3 energy and variance.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frequency spectra (FFT) for the four conditions. The healthy bearing shows small, scattered peaks. The fault spectra show strong clusters of energy, mostly between about 2.5 and 4 kHz, and each fault has a different shape and strength. That is why the band-energy features are so useful to the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results, all on windows the model did not train on. Fault type: 99.57% on a random split, and 98.82% when we train on loads 0 to 2 HP and test on 3 HP, a load the model never saw. Fault size: 99.76% and 99.25%. The confusion matrix shows the unseen-load test: almost everything is on the diagonal, and healthy bearings are never mistaken for faulty 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Real factories are noisy, so we tested by adding random noise to the test signals. The model trained only on clean data drops to 65.1% when the noise is as strong as the signal. By training with extra noisy copies of each signal, a technique called data augmentation, accuracy stays at 92.5% at that noise level, and it costs almost nothing on clean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also tested the model's limits honestly. It generalises well to an unseen motor load. But if a crack size is completely missing from training, accuracy falls to between 32 and 63 percent, and a model trained on the drive-end sensor doesn't work on the fan-end sensor. The lesson: a real deployment needs training data from the same sensor position and fault range. This is part of our future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Live demo. Run python3 -m streamlit run app.py, then upload a sample from data/samples. Show the inner race fault sample first: the app shows the waveform, spectrum, RMS, peak and dominant frequency, then predicts Inner Race Fault with the 0.021 inch size and says the motor needs inspection. Then upload sample_normal.csv to show Motor healthy. If time allows, set the sampling rate to 48000 and upload the 48 kHz sample.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advantages: it identifies both the fault type and size; it stays accurate on noisy signals; it warns when it isn't sure; it accepts any sampling rate; it is lightweight enough to run on a laptop; and it is explainable, because every feature has a physical meaning.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Limitations: this is a software prototype on lab data; it doesn't yet connect to hardware, it doesn't generalise to unseen crack sizes or sensor positions, and it only covers bearing faults. Future work: add an accelerometer with an ESP32 for real-time monitoring, send data to a cloud dashboard, use physics-based envelope analysis to generalise better, and train on real industrial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Summarise: the system detects the bearing fault type with 98.82 percent accuracy at an unseen load, estimates the fault size with 99.25 percent, and stays above 92 percent even with heavy noise. Then invite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1C2530"/>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554480"/>
            <a:ext cx="6766560" cy="2103120"/>
          </a:xfrm>
          <a:prstGeom prst="rect">
            <a:avLst/>
          </a:prstGeom>
          <a:noFill/>
          <a:ln/>
        </p:spPr>
        <p:txBody>
          <a:bodyPr wrap="square" rtlCol="0"/>
          <a:lstStyle>
            <a:lvl1pPr algn="l" indent="0" marL="0">
              <a:buNone/>
              <a:defRPr lang="en-US" sz="4000" b="1" dirty="0">
                <a:solidFill>
                  <a:schemeClr val="bg1"/>
                </a:solidFill>
                <a:latin typeface="Arial" pitchFamily="34" charset="0"/>
                <a:ea typeface="Arial" pitchFamily="34" charset="-122"/>
                <a:cs typeface="Arial" pitchFamily="34" charset="-120"/>
              </a:defRPr>
            </a:lvl1pPr>
          </a:lstStyle>
          <a:p>
            <a:pPr algn="l" indent="0" marL="0">
              <a:buNone/>
            </a:pPr>
            <a:endParaRPr lang="en-US" sz="4000" dirty="0"/>
          </a:p>
        </p:txBody>
      </p:sp>
      <p:sp>
        <p:nvSpPr>
          <p:cNvPr id="3" name="Text 0"/>
          <p:cNvSpPr/>
          <p:nvPr>
            <p:ph idx="101" type="body" hasCustomPrompt="1"/>
          </p:nvPr>
        </p:nvSpPr>
        <p:spPr>
          <a:xfrm>
            <a:off x="548640" y="3840480"/>
            <a:ext cx="6400800" cy="914400"/>
          </a:xfrm>
          <a:prstGeom prst="rect">
            <a:avLst/>
          </a:prstGeom>
          <a:noFill/>
          <a:ln/>
        </p:spPr>
        <p:txBody>
          <a:bodyPr wrap="square" rtlCol="0"/>
          <a:lstStyle>
            <a:lvl1pPr algn="l" indent="0" marL="0">
              <a:buNone/>
              <a:defRPr lang="en-US" sz="1800" dirty="0">
                <a:solidFill>
                  <a:schemeClr val="accent6"/>
                </a:solidFill>
              </a:defRPr>
            </a:lvl1pPr>
          </a:lstStyle>
          <a:p>
            <a:pPr algn="l"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rtlCol="0"/>
          <a:lstStyle>
            <a:lvl1pPr algn="l" indent="0" marL="0">
              <a:buNone/>
              <a:defRPr lang="en-US" sz="3200" b="1" dirty="0">
                <a:solidFill>
                  <a:schemeClr val="tx1"/>
                </a:solidFill>
                <a:latin typeface="Arial" pitchFamily="34" charset="0"/>
                <a:ea typeface="Arial" pitchFamily="34" charset="-122"/>
                <a:cs typeface="Arial" pitchFamily="34" charset="-120"/>
              </a:defRPr>
            </a:lvl1pPr>
          </a:lstStyle>
          <a:p>
            <a:pPr algn="l" indent="0" marL="0">
              <a:buNone/>
            </a:pPr>
            <a:endParaRPr lang="en-US" sz="3200" dirty="0"/>
          </a:p>
        </p:txBody>
      </p:sp>
      <p:sp>
        <p:nvSpPr>
          <p:cNvPr id="3" name="Text 0"/>
          <p:cNvSpPr txBox="1"/>
          <p:nvPr/>
        </p:nvSpPr>
        <p:spPr>
          <a:xfrm>
            <a:off x="548640" y="6419088"/>
            <a:ext cx="6400800" cy="274320"/>
          </a:xfrm>
          <a:prstGeom prst="rect">
            <a:avLst/>
          </a:prstGeom>
          <a:noFill/>
          <a:ln/>
        </p:spPr>
        <p:txBody>
          <a:bodyPr wrap="square" lIns="0" tIns="0" rIns="0" bIns="0" rtlCol="0" anchor="ctr"/>
          <a:lstStyle/>
          <a:p>
            <a:pPr indent="0" marL="0">
              <a:buNone/>
            </a:pPr>
            <a:r>
              <a:rPr lang="en-US" sz="1000" dirty="0">
                <a:solidFill>
                  <a:srgbClr val="6B7B8C"/>
                </a:solidFill>
              </a:rPr>
              <a:t>Motor Fault Detection AI  ·  CWRU bearing data</a:t>
            </a:r>
            <a:endParaRPr lang="en-US" sz="10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B8C"/>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_DARK">
    <p:bg>
      <p:bgPr>
        <a:solidFill>
          <a:srgbClr val="1C2530"/>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rtlCol="0"/>
          <a:lstStyle>
            <a:lvl1pPr algn="l" indent="0" marL="0">
              <a:buNone/>
              <a:defRPr lang="en-US" sz="3200" b="1" dirty="0">
                <a:solidFill>
                  <a:schemeClr val="bg1"/>
                </a:solidFill>
                <a:latin typeface="Arial" pitchFamily="34" charset="0"/>
                <a:ea typeface="Arial" pitchFamily="34" charset="-122"/>
                <a:cs typeface="Arial" pitchFamily="34" charset="-120"/>
              </a:defRPr>
            </a:lvl1pPr>
          </a:lstStyle>
          <a:p>
            <a:pPr algn="l" indent="0" marL="0">
              <a:buNone/>
            </a:pPr>
            <a:endParaRPr lang="en-US" sz="3200" dirty="0"/>
          </a:p>
        </p:txBody>
      </p:sp>
      <p:sp>
        <p:nvSpPr>
          <p:cNvPr id="3" name="Text 0"/>
          <p:cNvSpPr txBox="1"/>
          <p:nvPr/>
        </p:nvSpPr>
        <p:spPr>
          <a:xfrm>
            <a:off x="548640" y="6419088"/>
            <a:ext cx="6400800" cy="274320"/>
          </a:xfrm>
          <a:prstGeom prst="rect">
            <a:avLst/>
          </a:prstGeom>
          <a:noFill/>
          <a:ln/>
        </p:spPr>
        <p:txBody>
          <a:bodyPr wrap="square" lIns="0" tIns="0" rIns="0" bIns="0" rtlCol="0" anchor="ctr"/>
          <a:lstStyle/>
          <a:p>
            <a:pPr indent="0" marL="0">
              <a:buNone/>
            </a:pPr>
            <a:r>
              <a:rPr lang="en-US" sz="1000" dirty="0">
                <a:solidFill>
                  <a:srgbClr val="9FB3C8"/>
                </a:solidFill>
              </a:rPr>
              <a:t>Motor Fault Detection AI  ·  CWRU bearing data</a:t>
            </a:r>
            <a:endParaRPr lang="en-US" sz="10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FB3C8"/>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B8C"/>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3.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3.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3.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image" Target="../media/image-6-8.png"/><Relationship Id="rId9" Type="http://schemas.openxmlformats.org/officeDocument/2006/relationships/slideLayout" Target="../slideLayouts/slideLayout3.xml"/><Relationship Id="rId10"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3.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3.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image" Target="../media/image-12-2.jpg"/><Relationship Id="rId3" Type="http://schemas.openxmlformats.org/officeDocument/2006/relationships/slideLayout" Target="../slideLayouts/slideLayout3.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slideLayout" Target="../slideLayouts/slideLayout3.xml"/><Relationship Id="rId8"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slideLayout" Target="../slideLayouts/slideLayout4.xml"/><Relationship Id="rId6"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554480"/>
            <a:ext cx="6766560" cy="2103120"/>
          </a:xfrm>
          <a:prstGeom prst="rect">
            <a:avLst/>
          </a:prstGeom>
          <a:noFill/>
          <a:ln/>
        </p:spPr>
        <p:txBody>
          <a:bodyPr wrap="square" lIns="0" tIns="0" rIns="0" bIns="0" rtlCol="0" anchor="b"/>
          <a:lstStyle/>
          <a:p>
            <a:pPr algn="l" indent="0" marL="0">
              <a:buNone/>
            </a:pPr>
            <a:r>
              <a:rPr lang="en-US" sz="4000" b="1" dirty="0">
                <a:solidFill>
                  <a:schemeClr val="bg1"/>
                </a:solidFill>
                <a:latin typeface="Arial" pitchFamily="34" charset="0"/>
                <a:ea typeface="Arial" pitchFamily="34" charset="-122"/>
                <a:cs typeface="Arial" pitchFamily="34" charset="-120"/>
              </a:rPr>
              <a:t>AI-Based Motor Vibration Fault Detection for Industries</a:t>
            </a:r>
            <a:endParaRPr lang="en-US" sz="4000" dirty="0"/>
          </a:p>
        </p:txBody>
      </p:sp>
      <p:sp>
        <p:nvSpPr>
          <p:cNvPr id="3" name="Text 0"/>
          <p:cNvSpPr/>
          <p:nvPr>
            <p:ph idx="101" type="body" hasCustomPrompt="1"/>
          </p:nvPr>
        </p:nvSpPr>
        <p:spPr>
          <a:xfrm>
            <a:off x="548640" y="3840480"/>
            <a:ext cx="6400800" cy="914400"/>
          </a:xfrm>
          <a:prstGeom prst="rect">
            <a:avLst/>
          </a:prstGeom>
          <a:noFill/>
          <a:ln/>
        </p:spPr>
        <p:txBody>
          <a:bodyPr wrap="square" lIns="0" tIns="0" rIns="0" bIns="0" rtlCol="0" anchor="t"/>
          <a:lstStyle/>
          <a:p>
            <a:pPr algn="l" indent="0" marL="0">
              <a:buNone/>
            </a:pPr>
            <a:r>
              <a:rPr lang="en-US" sz="1800" dirty="0">
                <a:solidFill>
                  <a:schemeClr val="accent6"/>
                </a:solidFill>
              </a:rPr>
              <a:t>Detecting bearing fault type and severity from vibration signals using Machine Learning</a:t>
            </a:r>
            <a:endParaRPr lang="en-US" sz="1800" dirty="0"/>
          </a:p>
        </p:txBody>
      </p:sp>
      <p:sp>
        <p:nvSpPr>
          <p:cNvPr id="4" name="Text 2"/>
          <p:cNvSpPr txBox="1"/>
          <p:nvPr/>
        </p:nvSpPr>
        <p:spPr>
          <a:xfrm>
            <a:off x="548640" y="640080"/>
            <a:ext cx="6400800" cy="365760"/>
          </a:xfrm>
          <a:prstGeom prst="rect">
            <a:avLst/>
          </a:prstGeom>
          <a:noFill/>
          <a:ln/>
        </p:spPr>
        <p:txBody>
          <a:bodyPr wrap="square" lIns="0" tIns="0" rIns="0" bIns="0" rtlCol="0" anchor="ctr"/>
          <a:lstStyle/>
          <a:p>
            <a:pPr indent="0" marL="0">
              <a:buNone/>
            </a:pPr>
            <a:r>
              <a:rPr lang="en-US" sz="1400" b="1" spc="100" kern="0" dirty="0">
                <a:solidFill>
                  <a:schemeClr val="accent1"/>
                </a:solidFill>
                <a:latin typeface="Calibri" pitchFamily="34" charset="0"/>
                <a:ea typeface="Calibri" pitchFamily="34" charset="-122"/>
                <a:cs typeface="Calibri" pitchFamily="34" charset="-120"/>
              </a:rPr>
              <a:t>Software prototype  ·  CWRU Bearing Data Center</a:t>
            </a:r>
            <a:endParaRPr lang="en-US" sz="1400" dirty="0"/>
          </a:p>
        </p:txBody>
      </p:sp>
      <p:sp>
        <p:nvSpPr>
          <p:cNvPr id="5" name="Text 3"/>
          <p:cNvSpPr txBox="1"/>
          <p:nvPr/>
        </p:nvSpPr>
        <p:spPr>
          <a:xfrm>
            <a:off x="548640" y="5760720"/>
            <a:ext cx="7315200" cy="365760"/>
          </a:xfrm>
          <a:prstGeom prst="rect">
            <a:avLst/>
          </a:prstGeom>
          <a:noFill/>
          <a:ln/>
        </p:spPr>
        <p:txBody>
          <a:bodyPr wrap="square" lIns="0" tIns="0" rIns="0" bIns="0" rtlCol="0" anchor="ctr"/>
          <a:lstStyle/>
          <a:p>
            <a:pPr indent="0" marL="0">
              <a:buNone/>
            </a:pPr>
            <a:r>
              <a:rPr lang="en-US" sz="1400" dirty="0">
                <a:solidFill>
                  <a:schemeClr val="accent6"/>
                </a:solidFill>
                <a:latin typeface="Calibri" pitchFamily="34" charset="0"/>
                <a:ea typeface="Calibri" pitchFamily="34" charset="-122"/>
                <a:cs typeface="Calibri" pitchFamily="34" charset="-120"/>
              </a:rPr>
              <a:t>[Your Name]  ·  [Roll No.]  ·  [Department, College]  ·  [Date]</a:t>
            </a:r>
            <a:endParaRPr lang="en-US" sz="1400" dirty="0"/>
          </a:p>
        </p:txBody>
      </p:sp>
      <p:sp>
        <p:nvSpPr>
          <p:cNvPr id="6" name="Vibration waveform"/>
          <p:cNvSpPr/>
          <p:nvPr/>
        </p:nvSpPr>
        <p:spPr>
          <a:xfrm>
            <a:off x="7589520" y="1463040"/>
            <a:ext cx="4023360" cy="3474720"/>
          </a:xfrm>
          <a:custGeom>
            <a:avLst/>
            <a:gdLst/>
            <a:ahLst/>
            <a:cxnLst/>
            <a:rect l="l" t="t" r="r" b="b"/>
            <a:pathLst>
              <a:path w="4023360" h="3474720">
                <a:moveTo>
                  <a:pt x="0" y="1772102"/>
                </a:moveTo>
                <a:lnTo>
                  <a:pt x="5596" y="1659934"/>
                </a:lnTo>
                <a:lnTo>
                  <a:pt x="11192" y="1766643"/>
                </a:lnTo>
                <a:lnTo>
                  <a:pt x="16787" y="1932413"/>
                </a:lnTo>
                <a:lnTo>
                  <a:pt x="22383" y="1762920"/>
                </a:lnTo>
                <a:lnTo>
                  <a:pt x="27979" y="1542059"/>
                </a:lnTo>
                <a:lnTo>
                  <a:pt x="33575" y="1602362"/>
                </a:lnTo>
                <a:lnTo>
                  <a:pt x="39170" y="1798407"/>
                </a:lnTo>
                <a:lnTo>
                  <a:pt x="44766" y="1752498"/>
                </a:lnTo>
                <a:lnTo>
                  <a:pt x="50362" y="1643060"/>
                </a:lnTo>
                <a:lnTo>
                  <a:pt x="55958" y="1848287"/>
                </a:lnTo>
                <a:lnTo>
                  <a:pt x="61553" y="1827690"/>
                </a:lnTo>
                <a:lnTo>
                  <a:pt x="67149" y="1518236"/>
                </a:lnTo>
                <a:lnTo>
                  <a:pt x="72745" y="1710559"/>
                </a:lnTo>
                <a:lnTo>
                  <a:pt x="78341" y="2051281"/>
                </a:lnTo>
                <a:lnTo>
                  <a:pt x="83937" y="1732645"/>
                </a:lnTo>
                <a:lnTo>
                  <a:pt x="89532" y="1310030"/>
                </a:lnTo>
                <a:lnTo>
                  <a:pt x="95128" y="1681524"/>
                </a:lnTo>
                <a:lnTo>
                  <a:pt x="100724" y="2115058"/>
                </a:lnTo>
                <a:lnTo>
                  <a:pt x="106320" y="1830668"/>
                </a:lnTo>
                <a:lnTo>
                  <a:pt x="111915" y="1450240"/>
                </a:lnTo>
                <a:lnTo>
                  <a:pt x="117511" y="1365370"/>
                </a:lnTo>
                <a:lnTo>
                  <a:pt x="123107" y="1829427"/>
                </a:lnTo>
                <a:lnTo>
                  <a:pt x="128703" y="2319541"/>
                </a:lnTo>
                <a:lnTo>
                  <a:pt x="134299" y="1753738"/>
                </a:lnTo>
                <a:lnTo>
                  <a:pt x="139894" y="968316"/>
                </a:lnTo>
                <a:lnTo>
                  <a:pt x="145490" y="1605091"/>
                </a:lnTo>
                <a:lnTo>
                  <a:pt x="151086" y="2556532"/>
                </a:lnTo>
                <a:lnTo>
                  <a:pt x="156682" y="1938865"/>
                </a:lnTo>
                <a:lnTo>
                  <a:pt x="162277" y="1010751"/>
                </a:lnTo>
                <a:lnTo>
                  <a:pt x="167873" y="1538088"/>
                </a:lnTo>
                <a:lnTo>
                  <a:pt x="173469" y="2376121"/>
                </a:lnTo>
                <a:lnTo>
                  <a:pt x="179065" y="1945069"/>
                </a:lnTo>
                <a:lnTo>
                  <a:pt x="184660" y="1252209"/>
                </a:lnTo>
                <a:lnTo>
                  <a:pt x="190256" y="1565634"/>
                </a:lnTo>
                <a:lnTo>
                  <a:pt x="195852" y="2090986"/>
                </a:lnTo>
                <a:lnTo>
                  <a:pt x="201448" y="1873847"/>
                </a:lnTo>
                <a:lnTo>
                  <a:pt x="207044" y="1606828"/>
                </a:lnTo>
                <a:lnTo>
                  <a:pt x="212639" y="1729171"/>
                </a:lnTo>
                <a:lnTo>
                  <a:pt x="218235" y="1808830"/>
                </a:lnTo>
                <a:lnTo>
                  <a:pt x="223831" y="1785999"/>
                </a:lnTo>
                <a:lnTo>
                  <a:pt x="229427" y="1756716"/>
                </a:lnTo>
                <a:lnTo>
                  <a:pt x="235022" y="1661672"/>
                </a:lnTo>
                <a:lnTo>
                  <a:pt x="240618" y="1585735"/>
                </a:lnTo>
                <a:lnTo>
                  <a:pt x="246214" y="1760687"/>
                </a:lnTo>
                <a:lnTo>
                  <a:pt x="251810" y="1824712"/>
                </a:lnTo>
                <a:lnTo>
                  <a:pt x="257406" y="1601369"/>
                </a:lnTo>
                <a:lnTo>
                  <a:pt x="263001" y="1589457"/>
                </a:lnTo>
                <a:lnTo>
                  <a:pt x="268597" y="1896926"/>
                </a:lnTo>
                <a:lnTo>
                  <a:pt x="274193" y="1813297"/>
                </a:lnTo>
                <a:lnTo>
                  <a:pt x="279789" y="1395893"/>
                </a:lnTo>
                <a:lnTo>
                  <a:pt x="285384" y="1543052"/>
                </a:lnTo>
                <a:lnTo>
                  <a:pt x="290980" y="1999168"/>
                </a:lnTo>
                <a:lnTo>
                  <a:pt x="296576" y="1891218"/>
                </a:lnTo>
                <a:lnTo>
                  <a:pt x="302172" y="1441307"/>
                </a:lnTo>
                <a:lnTo>
                  <a:pt x="307767" y="1614770"/>
                </a:lnTo>
                <a:lnTo>
                  <a:pt x="313363" y="2039369"/>
                </a:lnTo>
                <a:lnTo>
                  <a:pt x="318959" y="1850520"/>
                </a:lnTo>
                <a:lnTo>
                  <a:pt x="324555" y="1553722"/>
                </a:lnTo>
                <a:lnTo>
                  <a:pt x="330151" y="1706588"/>
                </a:lnTo>
                <a:lnTo>
                  <a:pt x="335746" y="1923975"/>
                </a:lnTo>
                <a:lnTo>
                  <a:pt x="341342" y="1821982"/>
                </a:lnTo>
                <a:lnTo>
                  <a:pt x="346938" y="1714033"/>
                </a:lnTo>
                <a:lnTo>
                  <a:pt x="352534" y="1807589"/>
                </a:lnTo>
                <a:lnTo>
                  <a:pt x="358129" y="1773095"/>
                </a:lnTo>
                <a:lnTo>
                  <a:pt x="363725" y="1681772"/>
                </a:lnTo>
                <a:lnTo>
                  <a:pt x="369321" y="1780788"/>
                </a:lnTo>
                <a:lnTo>
                  <a:pt x="374917" y="1743564"/>
                </a:lnTo>
                <a:lnTo>
                  <a:pt x="380512" y="1474808"/>
                </a:lnTo>
                <a:lnTo>
                  <a:pt x="386108" y="1520221"/>
                </a:lnTo>
                <a:lnTo>
                  <a:pt x="391704" y="1845805"/>
                </a:lnTo>
                <a:lnTo>
                  <a:pt x="397300" y="1819501"/>
                </a:lnTo>
                <a:lnTo>
                  <a:pt x="402896" y="1554715"/>
                </a:lnTo>
                <a:lnTo>
                  <a:pt x="408491" y="1638345"/>
                </a:lnTo>
                <a:lnTo>
                  <a:pt x="414087" y="1950777"/>
                </a:lnTo>
                <a:lnTo>
                  <a:pt x="419683" y="1842083"/>
                </a:lnTo>
                <a:lnTo>
                  <a:pt x="425279" y="1580524"/>
                </a:lnTo>
                <a:lnTo>
                  <a:pt x="430874" y="1756220"/>
                </a:lnTo>
                <a:lnTo>
                  <a:pt x="436470" y="1979067"/>
                </a:lnTo>
                <a:lnTo>
                  <a:pt x="442066" y="1757461"/>
                </a:lnTo>
                <a:lnTo>
                  <a:pt x="447662" y="1547022"/>
                </a:lnTo>
                <a:lnTo>
                  <a:pt x="453258" y="1824712"/>
                </a:lnTo>
                <a:lnTo>
                  <a:pt x="458853" y="1964922"/>
                </a:lnTo>
                <a:lnTo>
                  <a:pt x="464449" y="1697158"/>
                </a:lnTo>
                <a:lnTo>
                  <a:pt x="470045" y="1464633"/>
                </a:lnTo>
                <a:lnTo>
                  <a:pt x="475641" y="1601617"/>
                </a:lnTo>
                <a:lnTo>
                  <a:pt x="481236" y="1782029"/>
                </a:lnTo>
                <a:lnTo>
                  <a:pt x="486832" y="1898415"/>
                </a:lnTo>
                <a:lnTo>
                  <a:pt x="492428" y="1974104"/>
                </a:lnTo>
                <a:lnTo>
                  <a:pt x="498024" y="1475056"/>
                </a:lnTo>
                <a:lnTo>
                  <a:pt x="503619" y="1406812"/>
                </a:lnTo>
                <a:lnTo>
                  <a:pt x="509215" y="2136896"/>
                </a:lnTo>
                <a:lnTo>
                  <a:pt x="514811" y="2233181"/>
                </a:lnTo>
                <a:lnTo>
                  <a:pt x="520407" y="1424432"/>
                </a:lnTo>
                <a:lnTo>
                  <a:pt x="526003" y="1286455"/>
                </a:lnTo>
                <a:lnTo>
                  <a:pt x="531598" y="2347086"/>
                </a:lnTo>
                <a:lnTo>
                  <a:pt x="537194" y="2649096"/>
                </a:lnTo>
                <a:lnTo>
                  <a:pt x="542790" y="1296134"/>
                </a:lnTo>
                <a:lnTo>
                  <a:pt x="548386" y="499296"/>
                </a:lnTo>
                <a:lnTo>
                  <a:pt x="553981" y="1954499"/>
                </a:lnTo>
                <a:lnTo>
                  <a:pt x="559577" y="3061039"/>
                </a:lnTo>
                <a:lnTo>
                  <a:pt x="565173" y="1566627"/>
                </a:lnTo>
                <a:lnTo>
                  <a:pt x="570769" y="252378"/>
                </a:lnTo>
                <a:lnTo>
                  <a:pt x="576365" y="1646038"/>
                </a:lnTo>
                <a:lnTo>
                  <a:pt x="581960" y="2845389"/>
                </a:lnTo>
                <a:lnTo>
                  <a:pt x="587556" y="1549007"/>
                </a:lnTo>
                <a:lnTo>
                  <a:pt x="593152" y="534038"/>
                </a:lnTo>
                <a:lnTo>
                  <a:pt x="598748" y="1668620"/>
                </a:lnTo>
                <a:lnTo>
                  <a:pt x="604343" y="2616339"/>
                </a:lnTo>
                <a:lnTo>
                  <a:pt x="609939" y="1826945"/>
                </a:lnTo>
                <a:lnTo>
                  <a:pt x="615535" y="1231364"/>
                </a:lnTo>
                <a:lnTo>
                  <a:pt x="621131" y="1729915"/>
                </a:lnTo>
                <a:lnTo>
                  <a:pt x="626726" y="2125729"/>
                </a:lnTo>
                <a:lnTo>
                  <a:pt x="632322" y="2034902"/>
                </a:lnTo>
                <a:lnTo>
                  <a:pt x="637918" y="1808830"/>
                </a:lnTo>
                <a:lnTo>
                  <a:pt x="643514" y="1596406"/>
                </a:lnTo>
                <a:lnTo>
                  <a:pt x="649110" y="1608814"/>
                </a:lnTo>
                <a:lnTo>
                  <a:pt x="654705" y="2092723"/>
                </a:lnTo>
                <a:lnTo>
                  <a:pt x="660301" y="2163945"/>
                </a:lnTo>
                <a:lnTo>
                  <a:pt x="665897" y="1386463"/>
                </a:lnTo>
                <a:lnTo>
                  <a:pt x="671493" y="1221438"/>
                </a:lnTo>
                <a:lnTo>
                  <a:pt x="677088" y="1985271"/>
                </a:lnTo>
                <a:lnTo>
                  <a:pt x="682684" y="2128706"/>
                </a:lnTo>
                <a:lnTo>
                  <a:pt x="688280" y="1303082"/>
                </a:lnTo>
                <a:lnTo>
                  <a:pt x="693876" y="1287200"/>
                </a:lnTo>
                <a:lnTo>
                  <a:pt x="699471" y="2137640"/>
                </a:lnTo>
                <a:lnTo>
                  <a:pt x="705067" y="2025969"/>
                </a:lnTo>
                <a:lnTo>
                  <a:pt x="710663" y="1234342"/>
                </a:lnTo>
                <a:lnTo>
                  <a:pt x="716259" y="1330380"/>
                </a:lnTo>
                <a:lnTo>
                  <a:pt x="721855" y="2021502"/>
                </a:lnTo>
                <a:lnTo>
                  <a:pt x="727450" y="1842579"/>
                </a:lnTo>
                <a:lnTo>
                  <a:pt x="733046" y="1383486"/>
                </a:lnTo>
                <a:lnTo>
                  <a:pt x="738642" y="1736864"/>
                </a:lnTo>
                <a:lnTo>
                  <a:pt x="744238" y="2054507"/>
                </a:lnTo>
                <a:lnTo>
                  <a:pt x="749833" y="1649760"/>
                </a:lnTo>
                <a:lnTo>
                  <a:pt x="755429" y="1486720"/>
                </a:lnTo>
                <a:lnTo>
                  <a:pt x="761025" y="1944076"/>
                </a:lnTo>
                <a:lnTo>
                  <a:pt x="766621" y="2019268"/>
                </a:lnTo>
                <a:lnTo>
                  <a:pt x="772217" y="1647278"/>
                </a:lnTo>
                <a:lnTo>
                  <a:pt x="777812" y="1578290"/>
                </a:lnTo>
                <a:lnTo>
                  <a:pt x="783408" y="1818012"/>
                </a:lnTo>
                <a:lnTo>
                  <a:pt x="789004" y="1858462"/>
                </a:lnTo>
                <a:lnTo>
                  <a:pt x="794600" y="1817515"/>
                </a:lnTo>
                <a:lnTo>
                  <a:pt x="800195" y="1866899"/>
                </a:lnTo>
                <a:lnTo>
                  <a:pt x="805791" y="1718252"/>
                </a:lnTo>
                <a:lnTo>
                  <a:pt x="811387" y="1576801"/>
                </a:lnTo>
                <a:lnTo>
                  <a:pt x="816983" y="1774088"/>
                </a:lnTo>
                <a:lnTo>
                  <a:pt x="822578" y="1905860"/>
                </a:lnTo>
                <a:lnTo>
                  <a:pt x="828174" y="1590698"/>
                </a:lnTo>
                <a:lnTo>
                  <a:pt x="833770" y="1433365"/>
                </a:lnTo>
                <a:lnTo>
                  <a:pt x="839366" y="1790466"/>
                </a:lnTo>
                <a:lnTo>
                  <a:pt x="844962" y="1957229"/>
                </a:lnTo>
                <a:lnTo>
                  <a:pt x="850557" y="1590946"/>
                </a:lnTo>
                <a:lnTo>
                  <a:pt x="856153" y="1387208"/>
                </a:lnTo>
                <a:lnTo>
                  <a:pt x="861749" y="1702618"/>
                </a:lnTo>
                <a:lnTo>
                  <a:pt x="867345" y="1935391"/>
                </a:lnTo>
                <a:lnTo>
                  <a:pt x="872940" y="1733886"/>
                </a:lnTo>
                <a:lnTo>
                  <a:pt x="878536" y="1541315"/>
                </a:lnTo>
                <a:lnTo>
                  <a:pt x="884132" y="1735871"/>
                </a:lnTo>
                <a:lnTo>
                  <a:pt x="889728" y="1972118"/>
                </a:lnTo>
                <a:lnTo>
                  <a:pt x="895324" y="1897422"/>
                </a:lnTo>
                <a:lnTo>
                  <a:pt x="900919" y="1812552"/>
                </a:lnTo>
                <a:lnTo>
                  <a:pt x="906515" y="1884022"/>
                </a:lnTo>
                <a:lnTo>
                  <a:pt x="912111" y="1799896"/>
                </a:lnTo>
                <a:lnTo>
                  <a:pt x="917707" y="1621718"/>
                </a:lnTo>
                <a:lnTo>
                  <a:pt x="923302" y="1673583"/>
                </a:lnTo>
                <a:lnTo>
                  <a:pt x="928898" y="1871862"/>
                </a:lnTo>
                <a:lnTo>
                  <a:pt x="934494" y="1784758"/>
                </a:lnTo>
                <a:lnTo>
                  <a:pt x="940090" y="1475552"/>
                </a:lnTo>
                <a:lnTo>
                  <a:pt x="945685" y="1502850"/>
                </a:lnTo>
                <a:lnTo>
                  <a:pt x="951281" y="1952017"/>
                </a:lnTo>
                <a:lnTo>
                  <a:pt x="956877" y="2033910"/>
                </a:lnTo>
                <a:lnTo>
                  <a:pt x="962473" y="1499872"/>
                </a:lnTo>
                <a:lnTo>
                  <a:pt x="968069" y="1344028"/>
                </a:lnTo>
                <a:lnTo>
                  <a:pt x="973664" y="1847046"/>
                </a:lnTo>
                <a:lnTo>
                  <a:pt x="979260" y="2279587"/>
                </a:lnTo>
                <a:lnTo>
                  <a:pt x="984856" y="1867395"/>
                </a:lnTo>
                <a:lnTo>
                  <a:pt x="990452" y="1296382"/>
                </a:lnTo>
                <a:lnTo>
                  <a:pt x="996047" y="1729419"/>
                </a:lnTo>
                <a:lnTo>
                  <a:pt x="1001643" y="2325000"/>
                </a:lnTo>
                <a:lnTo>
                  <a:pt x="1007239" y="1909086"/>
                </a:lnTo>
                <a:lnTo>
                  <a:pt x="1012835" y="1157661"/>
                </a:lnTo>
                <a:lnTo>
                  <a:pt x="1018430" y="1370581"/>
                </a:lnTo>
                <a:lnTo>
                  <a:pt x="1024026" y="2020757"/>
                </a:lnTo>
                <a:lnTo>
                  <a:pt x="1029622" y="2000160"/>
                </a:lnTo>
                <a:lnTo>
                  <a:pt x="1035218" y="1545285"/>
                </a:lnTo>
                <a:lnTo>
                  <a:pt x="1040814" y="1492675"/>
                </a:lnTo>
                <a:lnTo>
                  <a:pt x="1046409" y="1829179"/>
                </a:lnTo>
                <a:lnTo>
                  <a:pt x="1052005" y="1837120"/>
                </a:lnTo>
                <a:lnTo>
                  <a:pt x="1057601" y="1593924"/>
                </a:lnTo>
                <a:lnTo>
                  <a:pt x="1063197" y="1589457"/>
                </a:lnTo>
                <a:lnTo>
                  <a:pt x="1068792" y="1745549"/>
                </a:lnTo>
                <a:lnTo>
                  <a:pt x="1074388" y="1777065"/>
                </a:lnTo>
                <a:lnTo>
                  <a:pt x="1079984" y="1769621"/>
                </a:lnTo>
                <a:lnTo>
                  <a:pt x="1085580" y="1810071"/>
                </a:lnTo>
                <a:lnTo>
                  <a:pt x="1091176" y="1841835"/>
                </a:lnTo>
                <a:lnTo>
                  <a:pt x="1096771" y="1798903"/>
                </a:lnTo>
                <a:lnTo>
                  <a:pt x="1102367" y="1659686"/>
                </a:lnTo>
                <a:lnTo>
                  <a:pt x="1107963" y="1701625"/>
                </a:lnTo>
                <a:lnTo>
                  <a:pt x="1113559" y="1858213"/>
                </a:lnTo>
                <a:lnTo>
                  <a:pt x="1119154" y="1821734"/>
                </a:lnTo>
                <a:lnTo>
                  <a:pt x="1124750" y="1631148"/>
                </a:lnTo>
                <a:lnTo>
                  <a:pt x="1130346" y="1595661"/>
                </a:lnTo>
                <a:lnTo>
                  <a:pt x="1135942" y="1835383"/>
                </a:lnTo>
                <a:lnTo>
                  <a:pt x="1141537" y="1895933"/>
                </a:lnTo>
                <a:lnTo>
                  <a:pt x="1147133" y="1599384"/>
                </a:lnTo>
                <a:lnTo>
                  <a:pt x="1152729" y="1417731"/>
                </a:lnTo>
                <a:lnTo>
                  <a:pt x="1158325" y="1653482"/>
                </a:lnTo>
                <a:lnTo>
                  <a:pt x="1163921" y="1909334"/>
                </a:lnTo>
                <a:lnTo>
                  <a:pt x="1169516" y="1829675"/>
                </a:lnTo>
                <a:lnTo>
                  <a:pt x="1175112" y="1641819"/>
                </a:lnTo>
                <a:lnTo>
                  <a:pt x="1180708" y="1655716"/>
                </a:lnTo>
                <a:lnTo>
                  <a:pt x="1186304" y="1811808"/>
                </a:lnTo>
                <a:lnTo>
                  <a:pt x="1191899" y="1870125"/>
                </a:lnTo>
                <a:lnTo>
                  <a:pt x="1197495" y="1733638"/>
                </a:lnTo>
                <a:lnTo>
                  <a:pt x="1203091" y="1528658"/>
                </a:lnTo>
                <a:lnTo>
                  <a:pt x="1208687" y="1537592"/>
                </a:lnTo>
                <a:lnTo>
                  <a:pt x="1214283" y="1752001"/>
                </a:lnTo>
                <a:lnTo>
                  <a:pt x="1219878" y="1892211"/>
                </a:lnTo>
                <a:lnTo>
                  <a:pt x="1225474" y="1703859"/>
                </a:lnTo>
                <a:lnTo>
                  <a:pt x="1231070" y="1525681"/>
                </a:lnTo>
                <a:lnTo>
                  <a:pt x="1236666" y="1760687"/>
                </a:lnTo>
                <a:lnTo>
                  <a:pt x="1242261" y="1972615"/>
                </a:lnTo>
                <a:lnTo>
                  <a:pt x="1247857" y="1793692"/>
                </a:lnTo>
                <a:lnTo>
                  <a:pt x="1253453" y="1539826"/>
                </a:lnTo>
                <a:lnTo>
                  <a:pt x="1259049" y="1681524"/>
                </a:lnTo>
                <a:lnTo>
                  <a:pt x="1264644" y="1982293"/>
                </a:lnTo>
                <a:lnTo>
                  <a:pt x="1270240" y="1953506"/>
                </a:lnTo>
                <a:lnTo>
                  <a:pt x="1275836" y="1757957"/>
                </a:lnTo>
                <a:lnTo>
                  <a:pt x="1281432" y="1748775"/>
                </a:lnTo>
                <a:lnTo>
                  <a:pt x="1287028" y="1854987"/>
                </a:lnTo>
                <a:lnTo>
                  <a:pt x="1292623" y="1769372"/>
                </a:lnTo>
                <a:lnTo>
                  <a:pt x="1298219" y="1648271"/>
                </a:lnTo>
                <a:lnTo>
                  <a:pt x="1303815" y="1668620"/>
                </a:lnTo>
                <a:lnTo>
                  <a:pt x="1309411" y="1696662"/>
                </a:lnTo>
                <a:lnTo>
                  <a:pt x="1315006" y="1709814"/>
                </a:lnTo>
                <a:lnTo>
                  <a:pt x="1320602" y="1730908"/>
                </a:lnTo>
                <a:lnTo>
                  <a:pt x="1326198" y="1754979"/>
                </a:lnTo>
                <a:lnTo>
                  <a:pt x="1331794" y="1803122"/>
                </a:lnTo>
                <a:lnTo>
                  <a:pt x="1337389" y="1812056"/>
                </a:lnTo>
                <a:lnTo>
                  <a:pt x="1342985" y="1601617"/>
                </a:lnTo>
                <a:lnTo>
                  <a:pt x="1348581" y="1451729"/>
                </a:lnTo>
                <a:lnTo>
                  <a:pt x="1354177" y="1741331"/>
                </a:lnTo>
                <a:lnTo>
                  <a:pt x="1359773" y="2024976"/>
                </a:lnTo>
                <a:lnTo>
                  <a:pt x="1365368" y="1690954"/>
                </a:lnTo>
                <a:lnTo>
                  <a:pt x="1370964" y="1352714"/>
                </a:lnTo>
                <a:lnTo>
                  <a:pt x="1376560" y="1753242"/>
                </a:lnTo>
                <a:lnTo>
                  <a:pt x="1382156" y="2098679"/>
                </a:lnTo>
                <a:lnTo>
                  <a:pt x="1387751" y="1706092"/>
                </a:lnTo>
                <a:lnTo>
                  <a:pt x="1393347" y="1413761"/>
                </a:lnTo>
                <a:lnTo>
                  <a:pt x="1398943" y="1742075"/>
                </a:lnTo>
                <a:lnTo>
                  <a:pt x="1404539" y="1941347"/>
                </a:lnTo>
                <a:lnTo>
                  <a:pt x="1410135" y="1810815"/>
                </a:lnTo>
                <a:lnTo>
                  <a:pt x="1415730" y="1770117"/>
                </a:lnTo>
                <a:lnTo>
                  <a:pt x="1421326" y="1771854"/>
                </a:lnTo>
                <a:lnTo>
                  <a:pt x="1426922" y="1691451"/>
                </a:lnTo>
                <a:lnTo>
                  <a:pt x="1432518" y="1793692"/>
                </a:lnTo>
                <a:lnTo>
                  <a:pt x="1438113" y="1992467"/>
                </a:lnTo>
                <a:lnTo>
                  <a:pt x="1443709" y="1728178"/>
                </a:lnTo>
                <a:lnTo>
                  <a:pt x="1449305" y="1416491"/>
                </a:lnTo>
                <a:lnTo>
                  <a:pt x="1454901" y="1726441"/>
                </a:lnTo>
                <a:lnTo>
                  <a:pt x="1460496" y="2045077"/>
                </a:lnTo>
                <a:lnTo>
                  <a:pt x="1466092" y="1761680"/>
                </a:lnTo>
                <a:lnTo>
                  <a:pt x="1471688" y="1508309"/>
                </a:lnTo>
                <a:lnTo>
                  <a:pt x="1477284" y="1741082"/>
                </a:lnTo>
                <a:lnTo>
                  <a:pt x="1482880" y="1884518"/>
                </a:lnTo>
                <a:lnTo>
                  <a:pt x="1488475" y="1634622"/>
                </a:lnTo>
                <a:lnTo>
                  <a:pt x="1494071" y="1525681"/>
                </a:lnTo>
                <a:lnTo>
                  <a:pt x="1499667" y="1711055"/>
                </a:lnTo>
                <a:lnTo>
                  <a:pt x="1505263" y="1712048"/>
                </a:lnTo>
                <a:lnTo>
                  <a:pt x="1510858" y="1608317"/>
                </a:lnTo>
                <a:lnTo>
                  <a:pt x="1516454" y="1766395"/>
                </a:lnTo>
                <a:lnTo>
                  <a:pt x="1522050" y="1918764"/>
                </a:lnTo>
                <a:lnTo>
                  <a:pt x="1527646" y="1727930"/>
                </a:lnTo>
                <a:lnTo>
                  <a:pt x="1533242" y="1620974"/>
                </a:lnTo>
                <a:lnTo>
                  <a:pt x="1538837" y="1855980"/>
                </a:lnTo>
                <a:lnTo>
                  <a:pt x="1544433" y="1893948"/>
                </a:lnTo>
                <a:lnTo>
                  <a:pt x="1550029" y="1644797"/>
                </a:lnTo>
                <a:lnTo>
                  <a:pt x="1555625" y="1623951"/>
                </a:lnTo>
                <a:lnTo>
                  <a:pt x="1561220" y="1794933"/>
                </a:lnTo>
                <a:lnTo>
                  <a:pt x="1566816" y="1746294"/>
                </a:lnTo>
                <a:lnTo>
                  <a:pt x="1572412" y="1606828"/>
                </a:lnTo>
                <a:lnTo>
                  <a:pt x="1578008" y="1684006"/>
                </a:lnTo>
                <a:lnTo>
                  <a:pt x="1583603" y="1756716"/>
                </a:lnTo>
                <a:lnTo>
                  <a:pt x="1589199" y="1613032"/>
                </a:lnTo>
                <a:lnTo>
                  <a:pt x="1594795" y="1603851"/>
                </a:lnTo>
                <a:lnTo>
                  <a:pt x="1600391" y="1814786"/>
                </a:lnTo>
                <a:lnTo>
                  <a:pt x="1605987" y="1829427"/>
                </a:lnTo>
                <a:lnTo>
                  <a:pt x="1611582" y="1647775"/>
                </a:lnTo>
                <a:lnTo>
                  <a:pt x="1617178" y="1723959"/>
                </a:lnTo>
                <a:lnTo>
                  <a:pt x="1622774" y="1970381"/>
                </a:lnTo>
                <a:lnTo>
                  <a:pt x="1628370" y="1878314"/>
                </a:lnTo>
                <a:lnTo>
                  <a:pt x="1633965" y="1614025"/>
                </a:lnTo>
                <a:lnTo>
                  <a:pt x="1639561" y="1652738"/>
                </a:lnTo>
                <a:lnTo>
                  <a:pt x="1645157" y="1841090"/>
                </a:lnTo>
                <a:lnTo>
                  <a:pt x="1650753" y="1775328"/>
                </a:lnTo>
                <a:lnTo>
                  <a:pt x="1656348" y="1678795"/>
                </a:lnTo>
                <a:lnTo>
                  <a:pt x="1661944" y="1772350"/>
                </a:lnTo>
                <a:lnTo>
                  <a:pt x="1667540" y="1803618"/>
                </a:lnTo>
                <a:lnTo>
                  <a:pt x="1673136" y="1729915"/>
                </a:lnTo>
                <a:lnTo>
                  <a:pt x="1678732" y="1729419"/>
                </a:lnTo>
                <a:lnTo>
                  <a:pt x="1684327" y="1780540"/>
                </a:lnTo>
                <a:lnTo>
                  <a:pt x="1689923" y="1660183"/>
                </a:lnTo>
                <a:lnTo>
                  <a:pt x="1695519" y="1575809"/>
                </a:lnTo>
                <a:lnTo>
                  <a:pt x="1701115" y="1747783"/>
                </a:lnTo>
                <a:lnTo>
                  <a:pt x="1706710" y="1856973"/>
                </a:lnTo>
                <a:lnTo>
                  <a:pt x="1712306" y="1745797"/>
                </a:lnTo>
                <a:lnTo>
                  <a:pt x="1717902" y="1688969"/>
                </a:lnTo>
                <a:lnTo>
                  <a:pt x="1723498" y="1792948"/>
                </a:lnTo>
                <a:lnTo>
                  <a:pt x="1729094" y="1802874"/>
                </a:lnTo>
                <a:lnTo>
                  <a:pt x="1734689" y="1730163"/>
                </a:lnTo>
                <a:lnTo>
                  <a:pt x="1740285" y="1754731"/>
                </a:lnTo>
                <a:lnTo>
                  <a:pt x="1745881" y="1793692"/>
                </a:lnTo>
                <a:lnTo>
                  <a:pt x="1751477" y="1719989"/>
                </a:lnTo>
                <a:lnTo>
                  <a:pt x="1757072" y="1699640"/>
                </a:lnTo>
                <a:lnTo>
                  <a:pt x="1762668" y="1858213"/>
                </a:lnTo>
                <a:lnTo>
                  <a:pt x="1768264" y="1886255"/>
                </a:lnTo>
                <a:lnTo>
                  <a:pt x="1773860" y="1573823"/>
                </a:lnTo>
                <a:lnTo>
                  <a:pt x="1779455" y="1460911"/>
                </a:lnTo>
                <a:lnTo>
                  <a:pt x="1785051" y="1872110"/>
                </a:lnTo>
                <a:lnTo>
                  <a:pt x="1790647" y="2010831"/>
                </a:lnTo>
                <a:lnTo>
                  <a:pt x="1796243" y="1529403"/>
                </a:lnTo>
                <a:lnTo>
                  <a:pt x="1801839" y="1425921"/>
                </a:lnTo>
                <a:lnTo>
                  <a:pt x="1807434" y="1974104"/>
                </a:lnTo>
                <a:lnTo>
                  <a:pt x="1813030" y="2074360"/>
                </a:lnTo>
                <a:lnTo>
                  <a:pt x="1818626" y="1567619"/>
                </a:lnTo>
                <a:lnTo>
                  <a:pt x="1824222" y="1493668"/>
                </a:lnTo>
                <a:lnTo>
                  <a:pt x="1829817" y="1838857"/>
                </a:lnTo>
                <a:lnTo>
                  <a:pt x="1835413" y="1774088"/>
                </a:lnTo>
                <a:lnTo>
                  <a:pt x="1841009" y="1722470"/>
                </a:lnTo>
                <a:lnTo>
                  <a:pt x="1846605" y="1886752"/>
                </a:lnTo>
                <a:lnTo>
                  <a:pt x="1852201" y="1611543"/>
                </a:lnTo>
                <a:lnTo>
                  <a:pt x="1857796" y="1520717"/>
                </a:lnTo>
                <a:lnTo>
                  <a:pt x="1863392" y="2038873"/>
                </a:lnTo>
                <a:lnTo>
                  <a:pt x="1868988" y="1961944"/>
                </a:lnTo>
                <a:lnTo>
                  <a:pt x="1874584" y="1343780"/>
                </a:lnTo>
                <a:lnTo>
                  <a:pt x="1880179" y="1530147"/>
                </a:lnTo>
                <a:lnTo>
                  <a:pt x="1885775" y="2099672"/>
                </a:lnTo>
                <a:lnTo>
                  <a:pt x="1891371" y="1854987"/>
                </a:lnTo>
                <a:lnTo>
                  <a:pt x="1896967" y="1333854"/>
                </a:lnTo>
                <a:lnTo>
                  <a:pt x="1902562" y="1650008"/>
                </a:lnTo>
                <a:lnTo>
                  <a:pt x="1908158" y="2057733"/>
                </a:lnTo>
                <a:lnTo>
                  <a:pt x="1913754" y="1704355"/>
                </a:lnTo>
                <a:lnTo>
                  <a:pt x="1919350" y="1494413"/>
                </a:lnTo>
                <a:lnTo>
                  <a:pt x="1924946" y="1814289"/>
                </a:lnTo>
                <a:lnTo>
                  <a:pt x="1930541" y="1805852"/>
                </a:lnTo>
                <a:lnTo>
                  <a:pt x="1936137" y="1522951"/>
                </a:lnTo>
                <a:lnTo>
                  <a:pt x="1941733" y="1694925"/>
                </a:lnTo>
                <a:lnTo>
                  <a:pt x="1947329" y="1898663"/>
                </a:lnTo>
                <a:lnTo>
                  <a:pt x="1952924" y="1579531"/>
                </a:lnTo>
                <a:lnTo>
                  <a:pt x="1958520" y="1470093"/>
                </a:lnTo>
                <a:lnTo>
                  <a:pt x="1964116" y="1928194"/>
                </a:lnTo>
                <a:lnTo>
                  <a:pt x="1969712" y="1972366"/>
                </a:lnTo>
                <a:lnTo>
                  <a:pt x="1975307" y="1455203"/>
                </a:lnTo>
                <a:lnTo>
                  <a:pt x="1980903" y="1513273"/>
                </a:lnTo>
                <a:lnTo>
                  <a:pt x="1986499" y="2081060"/>
                </a:lnTo>
                <a:lnTo>
                  <a:pt x="1992095" y="2003138"/>
                </a:lnTo>
                <a:lnTo>
                  <a:pt x="1997691" y="1502602"/>
                </a:lnTo>
                <a:lnTo>
                  <a:pt x="2003286" y="1621222"/>
                </a:lnTo>
                <a:lnTo>
                  <a:pt x="2008882" y="2049047"/>
                </a:lnTo>
                <a:lnTo>
                  <a:pt x="2014478" y="1899160"/>
                </a:lnTo>
                <a:lnTo>
                  <a:pt x="2020074" y="1575809"/>
                </a:lnTo>
                <a:lnTo>
                  <a:pt x="2025669" y="1645789"/>
                </a:lnTo>
                <a:lnTo>
                  <a:pt x="2031265" y="1769621"/>
                </a:lnTo>
                <a:lnTo>
                  <a:pt x="2036861" y="1713537"/>
                </a:lnTo>
                <a:lnTo>
                  <a:pt x="2042457" y="1718500"/>
                </a:lnTo>
                <a:lnTo>
                  <a:pt x="2048053" y="1804859"/>
                </a:lnTo>
                <a:lnTo>
                  <a:pt x="2053648" y="1722719"/>
                </a:lnTo>
                <a:lnTo>
                  <a:pt x="2059244" y="1607325"/>
                </a:lnTo>
                <a:lnTo>
                  <a:pt x="2064840" y="1729915"/>
                </a:lnTo>
                <a:lnTo>
                  <a:pt x="2070436" y="1899408"/>
                </a:lnTo>
                <a:lnTo>
                  <a:pt x="2076031" y="1716515"/>
                </a:lnTo>
                <a:lnTo>
                  <a:pt x="2081627" y="1527418"/>
                </a:lnTo>
                <a:lnTo>
                  <a:pt x="2087223" y="1723463"/>
                </a:lnTo>
                <a:lnTo>
                  <a:pt x="2092819" y="1899160"/>
                </a:lnTo>
                <a:lnTo>
                  <a:pt x="2098414" y="1801633"/>
                </a:lnTo>
                <a:lnTo>
                  <a:pt x="2104010" y="1686239"/>
                </a:lnTo>
                <a:lnTo>
                  <a:pt x="2109606" y="1728426"/>
                </a:lnTo>
                <a:lnTo>
                  <a:pt x="2115202" y="1788233"/>
                </a:lnTo>
                <a:lnTo>
                  <a:pt x="2120798" y="1818260"/>
                </a:lnTo>
                <a:lnTo>
                  <a:pt x="2126393" y="1781284"/>
                </a:lnTo>
                <a:lnTo>
                  <a:pt x="2131989" y="1681276"/>
                </a:lnTo>
                <a:lnTo>
                  <a:pt x="2137585" y="1627674"/>
                </a:lnTo>
                <a:lnTo>
                  <a:pt x="2143181" y="1736119"/>
                </a:lnTo>
                <a:lnTo>
                  <a:pt x="2148776" y="1900897"/>
                </a:lnTo>
                <a:lnTo>
                  <a:pt x="2154372" y="1778306"/>
                </a:lnTo>
                <a:lnTo>
                  <a:pt x="2159968" y="1579035"/>
                </a:lnTo>
                <a:lnTo>
                  <a:pt x="2165564" y="1624944"/>
                </a:lnTo>
                <a:lnTo>
                  <a:pt x="2171159" y="1809574"/>
                </a:lnTo>
                <a:lnTo>
                  <a:pt x="2176755" y="1840594"/>
                </a:lnTo>
                <a:lnTo>
                  <a:pt x="2182351" y="1699144"/>
                </a:lnTo>
                <a:lnTo>
                  <a:pt x="2187947" y="1675817"/>
                </a:lnTo>
                <a:lnTo>
                  <a:pt x="2193543" y="1761431"/>
                </a:lnTo>
                <a:lnTo>
                  <a:pt x="2199138" y="1787488"/>
                </a:lnTo>
                <a:lnTo>
                  <a:pt x="2204734" y="1731652"/>
                </a:lnTo>
                <a:lnTo>
                  <a:pt x="2210330" y="1812552"/>
                </a:lnTo>
                <a:lnTo>
                  <a:pt x="2215926" y="1801137"/>
                </a:lnTo>
                <a:lnTo>
                  <a:pt x="2221521" y="1508061"/>
                </a:lnTo>
                <a:lnTo>
                  <a:pt x="2227117" y="1627922"/>
                </a:lnTo>
                <a:lnTo>
                  <a:pt x="2232713" y="2050536"/>
                </a:lnTo>
                <a:lnTo>
                  <a:pt x="2238309" y="1905860"/>
                </a:lnTo>
                <a:lnTo>
                  <a:pt x="2243905" y="1439073"/>
                </a:lnTo>
                <a:lnTo>
                  <a:pt x="2249500" y="1579283"/>
                </a:lnTo>
                <a:lnTo>
                  <a:pt x="2255096" y="2127218"/>
                </a:lnTo>
                <a:lnTo>
                  <a:pt x="2260692" y="2109350"/>
                </a:lnTo>
                <a:lnTo>
                  <a:pt x="2266288" y="1462152"/>
                </a:lnTo>
                <a:lnTo>
                  <a:pt x="2271883" y="1176769"/>
                </a:lnTo>
                <a:lnTo>
                  <a:pt x="2277479" y="1787984"/>
                </a:lnTo>
                <a:lnTo>
                  <a:pt x="2283075" y="2304403"/>
                </a:lnTo>
                <a:lnTo>
                  <a:pt x="2288671" y="1734630"/>
                </a:lnTo>
                <a:lnTo>
                  <a:pt x="2294266" y="1021670"/>
                </a:lnTo>
                <a:lnTo>
                  <a:pt x="2299862" y="1564145"/>
                </a:lnTo>
                <a:lnTo>
                  <a:pt x="2305458" y="2374136"/>
                </a:lnTo>
                <a:lnTo>
                  <a:pt x="2311054" y="1939361"/>
                </a:lnTo>
                <a:lnTo>
                  <a:pt x="2316650" y="1115970"/>
                </a:lnTo>
                <a:lnTo>
                  <a:pt x="2322245" y="1395645"/>
                </a:lnTo>
                <a:lnTo>
                  <a:pt x="2327841" y="2189009"/>
                </a:lnTo>
                <a:lnTo>
                  <a:pt x="2333437" y="2046814"/>
                </a:lnTo>
                <a:lnTo>
                  <a:pt x="2339033" y="1446518"/>
                </a:lnTo>
                <a:lnTo>
                  <a:pt x="2344628" y="1501609"/>
                </a:lnTo>
                <a:lnTo>
                  <a:pt x="2350224" y="1982789"/>
                </a:lnTo>
                <a:lnTo>
                  <a:pt x="2355820" y="2018028"/>
                </a:lnTo>
                <a:lnTo>
                  <a:pt x="2361416" y="1609310"/>
                </a:lnTo>
                <a:lnTo>
                  <a:pt x="2367012" y="1520965"/>
                </a:lnTo>
                <a:lnTo>
                  <a:pt x="2372607" y="1767387"/>
                </a:lnTo>
                <a:lnTo>
                  <a:pt x="2378203" y="1889978"/>
                </a:lnTo>
                <a:lnTo>
                  <a:pt x="2383799" y="1747535"/>
                </a:lnTo>
                <a:lnTo>
                  <a:pt x="2389395" y="1657701"/>
                </a:lnTo>
                <a:lnTo>
                  <a:pt x="2394990" y="1774832"/>
                </a:lnTo>
                <a:lnTo>
                  <a:pt x="2400586" y="1773343"/>
                </a:lnTo>
                <a:lnTo>
                  <a:pt x="2406182" y="1626185"/>
                </a:lnTo>
                <a:lnTo>
                  <a:pt x="2411778" y="1589705"/>
                </a:lnTo>
                <a:lnTo>
                  <a:pt x="2417373" y="1714778"/>
                </a:lnTo>
                <a:lnTo>
                  <a:pt x="2422969" y="1787488"/>
                </a:lnTo>
                <a:lnTo>
                  <a:pt x="2428565" y="1662912"/>
                </a:lnTo>
                <a:lnTo>
                  <a:pt x="2434161" y="1575312"/>
                </a:lnTo>
                <a:lnTo>
                  <a:pt x="2439757" y="1762920"/>
                </a:lnTo>
                <a:lnTo>
                  <a:pt x="2445352" y="1924472"/>
                </a:lnTo>
                <a:lnTo>
                  <a:pt x="2450948" y="1816523"/>
                </a:lnTo>
                <a:lnTo>
                  <a:pt x="2456544" y="1626433"/>
                </a:lnTo>
                <a:lnTo>
                  <a:pt x="2462140" y="1659438"/>
                </a:lnTo>
                <a:lnTo>
                  <a:pt x="2467735" y="1884766"/>
                </a:lnTo>
                <a:lnTo>
                  <a:pt x="2473331" y="1851265"/>
                </a:lnTo>
                <a:lnTo>
                  <a:pt x="2478927" y="1656460"/>
                </a:lnTo>
                <a:lnTo>
                  <a:pt x="2484523" y="1654723"/>
                </a:lnTo>
                <a:lnTo>
                  <a:pt x="2490118" y="1817763"/>
                </a:lnTo>
                <a:lnTo>
                  <a:pt x="2495714" y="1929683"/>
                </a:lnTo>
                <a:lnTo>
                  <a:pt x="2501310" y="1777065"/>
                </a:lnTo>
                <a:lnTo>
                  <a:pt x="2506906" y="1532381"/>
                </a:lnTo>
                <a:lnTo>
                  <a:pt x="2512502" y="1534366"/>
                </a:lnTo>
                <a:lnTo>
                  <a:pt x="2518097" y="1819997"/>
                </a:lnTo>
                <a:lnTo>
                  <a:pt x="2523693" y="1885263"/>
                </a:lnTo>
                <a:lnTo>
                  <a:pt x="2529289" y="1594669"/>
                </a:lnTo>
                <a:lnTo>
                  <a:pt x="2534885" y="1499872"/>
                </a:lnTo>
                <a:lnTo>
                  <a:pt x="2540480" y="1768380"/>
                </a:lnTo>
                <a:lnTo>
                  <a:pt x="2546076" y="1975592"/>
                </a:lnTo>
                <a:lnTo>
                  <a:pt x="2551672" y="1750761"/>
                </a:lnTo>
                <a:lnTo>
                  <a:pt x="2557268" y="1540074"/>
                </a:lnTo>
                <a:lnTo>
                  <a:pt x="2562864" y="1707829"/>
                </a:lnTo>
                <a:lnTo>
                  <a:pt x="2568459" y="1881788"/>
                </a:lnTo>
                <a:lnTo>
                  <a:pt x="2574055" y="1825208"/>
                </a:lnTo>
                <a:lnTo>
                  <a:pt x="2579651" y="1706836"/>
                </a:lnTo>
                <a:lnTo>
                  <a:pt x="2585247" y="1779547"/>
                </a:lnTo>
                <a:lnTo>
                  <a:pt x="2590842" y="1870621"/>
                </a:lnTo>
                <a:lnTo>
                  <a:pt x="2596438" y="1780788"/>
                </a:lnTo>
                <a:lnTo>
                  <a:pt x="2602034" y="1685495"/>
                </a:lnTo>
                <a:lnTo>
                  <a:pt x="2607630" y="1707581"/>
                </a:lnTo>
                <a:lnTo>
                  <a:pt x="2613225" y="1760439"/>
                </a:lnTo>
                <a:lnTo>
                  <a:pt x="2618821" y="1731901"/>
                </a:lnTo>
                <a:lnTo>
                  <a:pt x="2624417" y="1763169"/>
                </a:lnTo>
                <a:lnTo>
                  <a:pt x="2630013" y="1715026"/>
                </a:lnTo>
                <a:lnTo>
                  <a:pt x="2635609" y="1575809"/>
                </a:lnTo>
                <a:lnTo>
                  <a:pt x="2641204" y="1656460"/>
                </a:lnTo>
                <a:lnTo>
                  <a:pt x="2646800" y="1958470"/>
                </a:lnTo>
                <a:lnTo>
                  <a:pt x="2652396" y="1998423"/>
                </a:lnTo>
                <a:lnTo>
                  <a:pt x="2657992" y="1509550"/>
                </a:lnTo>
                <a:lnTo>
                  <a:pt x="2663587" y="1471086"/>
                </a:lnTo>
                <a:lnTo>
                  <a:pt x="2669183" y="2061952"/>
                </a:lnTo>
                <a:lnTo>
                  <a:pt x="2674779" y="2138137"/>
                </a:lnTo>
                <a:lnTo>
                  <a:pt x="2680375" y="1609558"/>
                </a:lnTo>
                <a:lnTo>
                  <a:pt x="2685971" y="1587224"/>
                </a:lnTo>
                <a:lnTo>
                  <a:pt x="2691566" y="2176353"/>
                </a:lnTo>
                <a:lnTo>
                  <a:pt x="2697162" y="2381332"/>
                </a:lnTo>
                <a:lnTo>
                  <a:pt x="2702758" y="1297126"/>
                </a:lnTo>
                <a:lnTo>
                  <a:pt x="2708354" y="353626"/>
                </a:lnTo>
                <a:lnTo>
                  <a:pt x="2713949" y="1684750"/>
                </a:lnTo>
                <a:lnTo>
                  <a:pt x="2719545" y="3042675"/>
                </a:lnTo>
                <a:lnTo>
                  <a:pt x="2725141" y="1599880"/>
                </a:lnTo>
                <a:lnTo>
                  <a:pt x="2730737" y="0"/>
                </a:lnTo>
                <a:lnTo>
                  <a:pt x="2736332" y="1598887"/>
                </a:lnTo>
                <a:lnTo>
                  <a:pt x="2741928" y="3152362"/>
                </a:lnTo>
                <a:lnTo>
                  <a:pt x="2747524" y="1707829"/>
                </a:lnTo>
                <a:lnTo>
                  <a:pt x="2753120" y="240714"/>
                </a:lnTo>
                <a:lnTo>
                  <a:pt x="2758716" y="1440314"/>
                </a:lnTo>
                <a:lnTo>
                  <a:pt x="2764311" y="2933734"/>
                </a:lnTo>
                <a:lnTo>
                  <a:pt x="2769907" y="2070637"/>
                </a:lnTo>
                <a:lnTo>
                  <a:pt x="2775503" y="1029611"/>
                </a:lnTo>
                <a:lnTo>
                  <a:pt x="2781099" y="1562656"/>
                </a:lnTo>
                <a:lnTo>
                  <a:pt x="2786694" y="2396222"/>
                </a:lnTo>
                <a:lnTo>
                  <a:pt x="2792290" y="2275368"/>
                </a:lnTo>
                <a:lnTo>
                  <a:pt x="2797886" y="1718004"/>
                </a:lnTo>
                <a:lnTo>
                  <a:pt x="2803482" y="1487464"/>
                </a:lnTo>
                <a:lnTo>
                  <a:pt x="2809077" y="1665394"/>
                </a:lnTo>
                <a:lnTo>
                  <a:pt x="2814673" y="2223751"/>
                </a:lnTo>
                <a:lnTo>
                  <a:pt x="2820269" y="2189505"/>
                </a:lnTo>
                <a:lnTo>
                  <a:pt x="2825865" y="1437336"/>
                </a:lnTo>
                <a:lnTo>
                  <a:pt x="2831461" y="1310279"/>
                </a:lnTo>
                <a:lnTo>
                  <a:pt x="2837056" y="2015546"/>
                </a:lnTo>
                <a:lnTo>
                  <a:pt x="2842652" y="2057237"/>
                </a:lnTo>
                <a:lnTo>
                  <a:pt x="2848248" y="1210767"/>
                </a:lnTo>
                <a:lnTo>
                  <a:pt x="2853844" y="1266603"/>
                </a:lnTo>
                <a:lnTo>
                  <a:pt x="2859439" y="2037632"/>
                </a:lnTo>
                <a:lnTo>
                  <a:pt x="2865035" y="1853746"/>
                </a:lnTo>
                <a:lnTo>
                  <a:pt x="2870631" y="1163865"/>
                </a:lnTo>
                <a:lnTo>
                  <a:pt x="2876227" y="1459174"/>
                </a:lnTo>
                <a:lnTo>
                  <a:pt x="2881823" y="2141611"/>
                </a:lnTo>
                <a:lnTo>
                  <a:pt x="2887418" y="1790218"/>
                </a:lnTo>
                <a:lnTo>
                  <a:pt x="2893014" y="1285215"/>
                </a:lnTo>
                <a:lnTo>
                  <a:pt x="2898610" y="1739842"/>
                </a:lnTo>
                <a:lnTo>
                  <a:pt x="2904206" y="2070141"/>
                </a:lnTo>
                <a:lnTo>
                  <a:pt x="2909801" y="1536351"/>
                </a:lnTo>
                <a:lnTo>
                  <a:pt x="2915397" y="1399864"/>
                </a:lnTo>
                <a:lnTo>
                  <a:pt x="2920993" y="2010831"/>
                </a:lnTo>
                <a:lnTo>
                  <a:pt x="2926589" y="2159478"/>
                </a:lnTo>
                <a:lnTo>
                  <a:pt x="2932184" y="1727185"/>
                </a:lnTo>
                <a:lnTo>
                  <a:pt x="2937780" y="1627674"/>
                </a:lnTo>
                <a:lnTo>
                  <a:pt x="2943376" y="1846550"/>
                </a:lnTo>
                <a:lnTo>
                  <a:pt x="2948972" y="1782773"/>
                </a:lnTo>
                <a:lnTo>
                  <a:pt x="2954568" y="1785999"/>
                </a:lnTo>
                <a:lnTo>
                  <a:pt x="2960163" y="2018276"/>
                </a:lnTo>
                <a:lnTo>
                  <a:pt x="2965759" y="1787736"/>
                </a:lnTo>
                <a:lnTo>
                  <a:pt x="2971355" y="1434110"/>
                </a:lnTo>
                <a:lnTo>
                  <a:pt x="2976951" y="1749520"/>
                </a:lnTo>
                <a:lnTo>
                  <a:pt x="2982546" y="2126225"/>
                </a:lnTo>
                <a:lnTo>
                  <a:pt x="2988142" y="1706340"/>
                </a:lnTo>
                <a:lnTo>
                  <a:pt x="2993738" y="1233598"/>
                </a:lnTo>
                <a:lnTo>
                  <a:pt x="2999334" y="1646782"/>
                </a:lnTo>
                <a:lnTo>
                  <a:pt x="3004930" y="2049792"/>
                </a:lnTo>
                <a:lnTo>
                  <a:pt x="3010525" y="1633630"/>
                </a:lnTo>
                <a:lnTo>
                  <a:pt x="3016121" y="1290178"/>
                </a:lnTo>
                <a:lnTo>
                  <a:pt x="3021717" y="1760191"/>
                </a:lnTo>
                <a:lnTo>
                  <a:pt x="3027313" y="2142355"/>
                </a:lnTo>
                <a:lnTo>
                  <a:pt x="3032908" y="1734878"/>
                </a:lnTo>
                <a:lnTo>
                  <a:pt x="3038504" y="1464385"/>
                </a:lnTo>
                <a:lnTo>
                  <a:pt x="3044100" y="1767635"/>
                </a:lnTo>
                <a:lnTo>
                  <a:pt x="3049696" y="1927946"/>
                </a:lnTo>
                <a:lnTo>
                  <a:pt x="3055291" y="1721230"/>
                </a:lnTo>
                <a:lnTo>
                  <a:pt x="3060887" y="1677802"/>
                </a:lnTo>
                <a:lnTo>
                  <a:pt x="3066483" y="1814786"/>
                </a:lnTo>
                <a:lnTo>
                  <a:pt x="3072079" y="1780043"/>
                </a:lnTo>
                <a:lnTo>
                  <a:pt x="3077675" y="1790962"/>
                </a:lnTo>
                <a:lnTo>
                  <a:pt x="3083270" y="1784014"/>
                </a:lnTo>
                <a:lnTo>
                  <a:pt x="3088866" y="1610055"/>
                </a:lnTo>
                <a:lnTo>
                  <a:pt x="3094462" y="1597647"/>
                </a:lnTo>
                <a:lnTo>
                  <a:pt x="3100058" y="1788481"/>
                </a:lnTo>
                <a:lnTo>
                  <a:pt x="3105653" y="1765898"/>
                </a:lnTo>
                <a:lnTo>
                  <a:pt x="3111249" y="1564145"/>
                </a:lnTo>
                <a:lnTo>
                  <a:pt x="3116845" y="1812800"/>
                </a:lnTo>
                <a:lnTo>
                  <a:pt x="3122441" y="2137144"/>
                </a:lnTo>
                <a:lnTo>
                  <a:pt x="3128036" y="1879555"/>
                </a:lnTo>
                <a:lnTo>
                  <a:pt x="3133632" y="1499624"/>
                </a:lnTo>
                <a:lnTo>
                  <a:pt x="3139228" y="1666883"/>
                </a:lnTo>
                <a:lnTo>
                  <a:pt x="3144824" y="2034158"/>
                </a:lnTo>
                <a:lnTo>
                  <a:pt x="3150420" y="1846302"/>
                </a:lnTo>
                <a:lnTo>
                  <a:pt x="3156015" y="1548759"/>
                </a:lnTo>
                <a:lnTo>
                  <a:pt x="3161611" y="1720982"/>
                </a:lnTo>
                <a:lnTo>
                  <a:pt x="3167207" y="1935391"/>
                </a:lnTo>
                <a:lnTo>
                  <a:pt x="3172803" y="1725448"/>
                </a:lnTo>
                <a:lnTo>
                  <a:pt x="3178398" y="1426913"/>
                </a:lnTo>
                <a:lnTo>
                  <a:pt x="3183994" y="1512776"/>
                </a:lnTo>
                <a:lnTo>
                  <a:pt x="3189590" y="1791955"/>
                </a:lnTo>
                <a:lnTo>
                  <a:pt x="3195186" y="1769372"/>
                </a:lnTo>
                <a:lnTo>
                  <a:pt x="3200782" y="1584246"/>
                </a:lnTo>
                <a:lnTo>
                  <a:pt x="3206377" y="1633878"/>
                </a:lnTo>
                <a:lnTo>
                  <a:pt x="3211973" y="1723959"/>
                </a:lnTo>
                <a:lnTo>
                  <a:pt x="3217569" y="1784758"/>
                </a:lnTo>
                <a:lnTo>
                  <a:pt x="3223165" y="1840098"/>
                </a:lnTo>
                <a:lnTo>
                  <a:pt x="3228760" y="1830916"/>
                </a:lnTo>
                <a:lnTo>
                  <a:pt x="3234356" y="1687480"/>
                </a:lnTo>
                <a:lnTo>
                  <a:pt x="3239952" y="1609062"/>
                </a:lnTo>
                <a:lnTo>
                  <a:pt x="3245548" y="1814537"/>
                </a:lnTo>
                <a:lnTo>
                  <a:pt x="3251143" y="1956981"/>
                </a:lnTo>
                <a:lnTo>
                  <a:pt x="3256739" y="1817515"/>
                </a:lnTo>
                <a:lnTo>
                  <a:pt x="3262335" y="1563401"/>
                </a:lnTo>
                <a:lnTo>
                  <a:pt x="3267931" y="1675320"/>
                </a:lnTo>
                <a:lnTo>
                  <a:pt x="3273527" y="1962192"/>
                </a:lnTo>
                <a:lnTo>
                  <a:pt x="3279122" y="1820741"/>
                </a:lnTo>
                <a:lnTo>
                  <a:pt x="3284718" y="1481260"/>
                </a:lnTo>
                <a:lnTo>
                  <a:pt x="3290314" y="1484982"/>
                </a:lnTo>
                <a:lnTo>
                  <a:pt x="3295910" y="1799648"/>
                </a:lnTo>
                <a:lnTo>
                  <a:pt x="3301505" y="1813545"/>
                </a:lnTo>
                <a:lnTo>
                  <a:pt x="3307101" y="1541563"/>
                </a:lnTo>
                <a:lnTo>
                  <a:pt x="3312697" y="1542307"/>
                </a:lnTo>
                <a:lnTo>
                  <a:pt x="3318293" y="1761431"/>
                </a:lnTo>
                <a:lnTo>
                  <a:pt x="3323889" y="1794933"/>
                </a:lnTo>
                <a:lnTo>
                  <a:pt x="3329484" y="1773095"/>
                </a:lnTo>
                <a:lnTo>
                  <a:pt x="3335080" y="1783518"/>
                </a:lnTo>
                <a:lnTo>
                  <a:pt x="3340676" y="1680035"/>
                </a:lnTo>
                <a:lnTo>
                  <a:pt x="3346272" y="1660927"/>
                </a:lnTo>
                <a:lnTo>
                  <a:pt x="3351867" y="1825953"/>
                </a:lnTo>
                <a:lnTo>
                  <a:pt x="3357463" y="1959462"/>
                </a:lnTo>
                <a:lnTo>
                  <a:pt x="3363059" y="1804115"/>
                </a:lnTo>
                <a:lnTo>
                  <a:pt x="3368655" y="1583005"/>
                </a:lnTo>
                <a:lnTo>
                  <a:pt x="3374250" y="1675320"/>
                </a:lnTo>
                <a:lnTo>
                  <a:pt x="3379846" y="1921990"/>
                </a:lnTo>
                <a:lnTo>
                  <a:pt x="3385442" y="1840842"/>
                </a:lnTo>
                <a:lnTo>
                  <a:pt x="3391038" y="1554219"/>
                </a:lnTo>
                <a:lnTo>
                  <a:pt x="3396634" y="1635367"/>
                </a:lnTo>
                <a:lnTo>
                  <a:pt x="3402229" y="1893452"/>
                </a:lnTo>
                <a:lnTo>
                  <a:pt x="3407825" y="1863425"/>
                </a:lnTo>
                <a:lnTo>
                  <a:pt x="3413421" y="1663161"/>
                </a:lnTo>
                <a:lnTo>
                  <a:pt x="3419017" y="1640826"/>
                </a:lnTo>
                <a:lnTo>
                  <a:pt x="3424612" y="1794437"/>
                </a:lnTo>
                <a:lnTo>
                  <a:pt x="3430208" y="1808333"/>
                </a:lnTo>
                <a:lnTo>
                  <a:pt x="3435804" y="1674576"/>
                </a:lnTo>
                <a:lnTo>
                  <a:pt x="3441400" y="1669364"/>
                </a:lnTo>
                <a:lnTo>
                  <a:pt x="3446995" y="1756716"/>
                </a:lnTo>
                <a:lnTo>
                  <a:pt x="3452591" y="1748031"/>
                </a:lnTo>
                <a:lnTo>
                  <a:pt x="3458187" y="1731652"/>
                </a:lnTo>
                <a:lnTo>
                  <a:pt x="3463783" y="1797911"/>
                </a:lnTo>
                <a:lnTo>
                  <a:pt x="3469379" y="1803122"/>
                </a:lnTo>
                <a:lnTo>
                  <a:pt x="3474974" y="1720733"/>
                </a:lnTo>
                <a:lnTo>
                  <a:pt x="3480570" y="1695173"/>
                </a:lnTo>
                <a:lnTo>
                  <a:pt x="3486166" y="1762920"/>
                </a:lnTo>
                <a:lnTo>
                  <a:pt x="3491762" y="1919509"/>
                </a:lnTo>
                <a:lnTo>
                  <a:pt x="3497357" y="1937376"/>
                </a:lnTo>
                <a:lnTo>
                  <a:pt x="3502953" y="1578538"/>
                </a:lnTo>
                <a:lnTo>
                  <a:pt x="3508549" y="1343532"/>
                </a:lnTo>
                <a:lnTo>
                  <a:pt x="3514145" y="1762176"/>
                </a:lnTo>
                <a:lnTo>
                  <a:pt x="3519741" y="2133670"/>
                </a:lnTo>
                <a:lnTo>
                  <a:pt x="3525336" y="1623455"/>
                </a:lnTo>
                <a:lnTo>
                  <a:pt x="3530932" y="1119693"/>
                </a:lnTo>
                <a:lnTo>
                  <a:pt x="3536528" y="1606332"/>
                </a:lnTo>
                <a:lnTo>
                  <a:pt x="3542124" y="2192731"/>
                </a:lnTo>
                <a:lnTo>
                  <a:pt x="3547719" y="1780291"/>
                </a:lnTo>
                <a:lnTo>
                  <a:pt x="3553315" y="1255187"/>
                </a:lnTo>
                <a:lnTo>
                  <a:pt x="3558911" y="1549752"/>
                </a:lnTo>
                <a:lnTo>
                  <a:pt x="3564507" y="2138385"/>
                </a:lnTo>
                <a:lnTo>
                  <a:pt x="3570102" y="2469429"/>
                </a:lnTo>
                <a:lnTo>
                  <a:pt x="3575698" y="1872855"/>
                </a:lnTo>
                <a:lnTo>
                  <a:pt x="3581294" y="1101825"/>
                </a:lnTo>
                <a:lnTo>
                  <a:pt x="3586890" y="1651993"/>
                </a:lnTo>
                <a:lnTo>
                  <a:pt x="3592486" y="2709150"/>
                </a:lnTo>
                <a:lnTo>
                  <a:pt x="3598081" y="2220525"/>
                </a:lnTo>
                <a:lnTo>
                  <a:pt x="3603677" y="858381"/>
                </a:lnTo>
                <a:lnTo>
                  <a:pt x="3609273" y="1250721"/>
                </a:lnTo>
                <a:lnTo>
                  <a:pt x="3614869" y="2560255"/>
                </a:lnTo>
                <a:lnTo>
                  <a:pt x="3620464" y="2235167"/>
                </a:lnTo>
                <a:lnTo>
                  <a:pt x="3626060" y="918188"/>
                </a:lnTo>
                <a:lnTo>
                  <a:pt x="3631656" y="995613"/>
                </a:lnTo>
                <a:lnTo>
                  <a:pt x="3637252" y="2093220"/>
                </a:lnTo>
                <a:lnTo>
                  <a:pt x="3642848" y="2092723"/>
                </a:lnTo>
                <a:lnTo>
                  <a:pt x="3648443" y="1195381"/>
                </a:lnTo>
                <a:lnTo>
                  <a:pt x="3654039" y="1168828"/>
                </a:lnTo>
                <a:lnTo>
                  <a:pt x="3659635" y="1876577"/>
                </a:lnTo>
                <a:lnTo>
                  <a:pt x="3665231" y="1977330"/>
                </a:lnTo>
                <a:lnTo>
                  <a:pt x="3670826" y="1608317"/>
                </a:lnTo>
                <a:lnTo>
                  <a:pt x="3676422" y="1542307"/>
                </a:lnTo>
                <a:lnTo>
                  <a:pt x="3682018" y="1800144"/>
                </a:lnTo>
                <a:lnTo>
                  <a:pt x="3687614" y="1954003"/>
                </a:lnTo>
                <a:lnTo>
                  <a:pt x="3693209" y="1918764"/>
                </a:lnTo>
                <a:lnTo>
                  <a:pt x="3698805" y="1816523"/>
                </a:lnTo>
                <a:lnTo>
                  <a:pt x="3704401" y="1771606"/>
                </a:lnTo>
                <a:lnTo>
                  <a:pt x="3709997" y="1852258"/>
                </a:lnTo>
                <a:lnTo>
                  <a:pt x="3715593" y="1903875"/>
                </a:lnTo>
                <a:lnTo>
                  <a:pt x="3721188" y="1690706"/>
                </a:lnTo>
                <a:lnTo>
                  <a:pt x="3726784" y="1571838"/>
                </a:lnTo>
                <a:lnTo>
                  <a:pt x="3732380" y="1799400"/>
                </a:lnTo>
                <a:lnTo>
                  <a:pt x="3737976" y="1803867"/>
                </a:lnTo>
                <a:lnTo>
                  <a:pt x="3743571" y="1469100"/>
                </a:lnTo>
                <a:lnTo>
                  <a:pt x="3749167" y="1461407"/>
                </a:lnTo>
                <a:lnTo>
                  <a:pt x="3754763" y="1904371"/>
                </a:lnTo>
                <a:lnTo>
                  <a:pt x="3760359" y="1914545"/>
                </a:lnTo>
                <a:lnTo>
                  <a:pt x="3765954" y="1455452"/>
                </a:lnTo>
                <a:lnTo>
                  <a:pt x="3771550" y="1459670"/>
                </a:lnTo>
                <a:lnTo>
                  <a:pt x="3777146" y="1949039"/>
                </a:lnTo>
                <a:lnTo>
                  <a:pt x="3782742" y="1996686"/>
                </a:lnTo>
                <a:lnTo>
                  <a:pt x="3788338" y="1605340"/>
                </a:lnTo>
                <a:lnTo>
                  <a:pt x="3793933" y="1559926"/>
                </a:lnTo>
                <a:lnTo>
                  <a:pt x="3799529" y="1795677"/>
                </a:lnTo>
                <a:lnTo>
                  <a:pt x="3805125" y="1932909"/>
                </a:lnTo>
                <a:lnTo>
                  <a:pt x="3810721" y="1784262"/>
                </a:lnTo>
                <a:lnTo>
                  <a:pt x="3816316" y="1567868"/>
                </a:lnTo>
                <a:lnTo>
                  <a:pt x="3821912" y="1571590"/>
                </a:lnTo>
                <a:lnTo>
                  <a:pt x="3827508" y="1726689"/>
                </a:lnTo>
                <a:lnTo>
                  <a:pt x="3833104" y="1910079"/>
                </a:lnTo>
                <a:lnTo>
                  <a:pt x="3838700" y="1818508"/>
                </a:lnTo>
                <a:lnTo>
                  <a:pt x="3844295" y="1574320"/>
                </a:lnTo>
                <a:lnTo>
                  <a:pt x="3849891" y="1665146"/>
                </a:lnTo>
                <a:lnTo>
                  <a:pt x="3855487" y="1954499"/>
                </a:lnTo>
                <a:lnTo>
                  <a:pt x="3861083" y="1887496"/>
                </a:lnTo>
                <a:lnTo>
                  <a:pt x="3866678" y="1614025"/>
                </a:lnTo>
                <a:lnTo>
                  <a:pt x="3872274" y="1677802"/>
                </a:lnTo>
                <a:lnTo>
                  <a:pt x="3877870" y="1866154"/>
                </a:lnTo>
                <a:lnTo>
                  <a:pt x="3883466" y="1768876"/>
                </a:lnTo>
                <a:lnTo>
                  <a:pt x="3889061" y="1635615"/>
                </a:lnTo>
                <a:lnTo>
                  <a:pt x="3894657" y="1777562"/>
                </a:lnTo>
                <a:lnTo>
                  <a:pt x="3900253" y="1911071"/>
                </a:lnTo>
                <a:lnTo>
                  <a:pt x="3905849" y="1755724"/>
                </a:lnTo>
                <a:lnTo>
                  <a:pt x="3911445" y="1648767"/>
                </a:lnTo>
                <a:lnTo>
                  <a:pt x="3917040" y="1847543"/>
                </a:lnTo>
                <a:lnTo>
                  <a:pt x="3922636" y="1940106"/>
                </a:lnTo>
                <a:lnTo>
                  <a:pt x="3928232" y="1708822"/>
                </a:lnTo>
                <a:lnTo>
                  <a:pt x="3933828" y="1589209"/>
                </a:lnTo>
                <a:lnTo>
                  <a:pt x="3939423" y="1795925"/>
                </a:lnTo>
                <a:lnTo>
                  <a:pt x="3945019" y="1935391"/>
                </a:lnTo>
                <a:lnTo>
                  <a:pt x="3950615" y="1783269"/>
                </a:lnTo>
                <a:lnTo>
                  <a:pt x="3956211" y="1620974"/>
                </a:lnTo>
                <a:lnTo>
                  <a:pt x="3961807" y="1666138"/>
                </a:lnTo>
                <a:lnTo>
                  <a:pt x="3967402" y="1758950"/>
                </a:lnTo>
                <a:lnTo>
                  <a:pt x="3972998" y="1737112"/>
                </a:lnTo>
                <a:lnTo>
                  <a:pt x="3978594" y="1631396"/>
                </a:lnTo>
                <a:lnTo>
                  <a:pt x="3984190" y="1586976"/>
                </a:lnTo>
                <a:lnTo>
                  <a:pt x="3989785" y="1699888"/>
                </a:lnTo>
                <a:lnTo>
                  <a:pt x="3995381" y="1802626"/>
                </a:lnTo>
                <a:lnTo>
                  <a:pt x="4000977" y="1732645"/>
                </a:lnTo>
                <a:lnTo>
                  <a:pt x="4006573" y="1574568"/>
                </a:lnTo>
                <a:lnTo>
                  <a:pt x="4012168" y="1610303"/>
                </a:lnTo>
                <a:lnTo>
                  <a:pt x="4017764" y="1757709"/>
                </a:lnTo>
                <a:lnTo>
                  <a:pt x="4023360" y="1736864"/>
                </a:lnTo>
              </a:path>
            </a:pathLst>
          </a:custGeom>
          <a:ln w="12700">
            <a:solidFill>
              <a:srgbClr val="F2A900"/>
            </a:solidFill>
            <a:prstDash val="solid"/>
          </a:ln>
        </p:spPr>
      </p:sp>
      <p:sp>
        <p:nvSpPr>
          <p:cNvPr id="7" name="Text 5"/>
          <p:cNvSpPr txBox="1"/>
          <p:nvPr/>
        </p:nvSpPr>
        <p:spPr>
          <a:xfrm>
            <a:off x="7589520" y="5074920"/>
            <a:ext cx="4023360" cy="274320"/>
          </a:xfrm>
          <a:prstGeom prst="rect">
            <a:avLst/>
          </a:prstGeom>
          <a:noFill/>
          <a:ln/>
        </p:spPr>
        <p:txBody>
          <a:bodyPr wrap="square" lIns="0" tIns="0" rIns="0" bIns="0" rtlCol="0" anchor="ctr"/>
          <a:lstStyle/>
          <a:p>
            <a:pPr indent="0" marL="0">
              <a:buNone/>
            </a:pPr>
            <a:r>
              <a:rPr lang="en-US" sz="1100" i="1" dirty="0">
                <a:solidFill>
                  <a:schemeClr val="accent6"/>
                </a:solidFill>
                <a:latin typeface="Calibri" pitchFamily="34" charset="0"/>
                <a:ea typeface="Calibri" pitchFamily="34" charset="-122"/>
                <a:cs typeface="Calibri" pitchFamily="34" charset="-120"/>
              </a:rPr>
              <a:t>Real drive-end vibration: inner race fault (0.021")</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chemeClr val="tx1"/>
                </a:solidFill>
                <a:latin typeface="Arial" pitchFamily="34" charset="0"/>
                <a:ea typeface="Arial" pitchFamily="34" charset="-122"/>
                <a:cs typeface="Arial" pitchFamily="34" charset="-120"/>
              </a:rPr>
              <a:t>Why bearing health matters</a:t>
            </a:r>
            <a:endParaRPr lang="en-US" sz="3200" dirty="0"/>
          </a:p>
        </p:txBody>
      </p:sp>
      <p:sp>
        <p:nvSpPr>
          <p:cNvPr id="3" name="Motors run every industry circle"/>
          <p:cNvSpPr/>
          <p:nvPr/>
        </p:nvSpPr>
        <p:spPr>
          <a:xfrm>
            <a:off x="548640" y="1417320"/>
            <a:ext cx="731520" cy="731520"/>
          </a:xfrm>
          <a:prstGeom prst="ellipse">
            <a:avLst/>
          </a:prstGeom>
          <a:solidFill>
            <a:schemeClr val="tx1"/>
          </a:solidFill>
          <a:ln/>
        </p:spPr>
      </p:sp>
      <p:pic>
        <p:nvPicPr>
          <p:cNvPr id="4" name="Motors run every industry icon" descr="Motors run every industry">    </p:cNvPr>
          <p:cNvPicPr>
            <a:picLocks noChangeAspect="1"/>
          </p:cNvPicPr>
          <p:nvPr/>
        </p:nvPicPr>
        <p:blipFill>
          <a:blip r:embed="rId1"/>
          <a:stretch>
            <a:fillRect/>
          </a:stretch>
        </p:blipFill>
        <p:spPr>
          <a:xfrm>
            <a:off x="738835" y="1607515"/>
            <a:ext cx="351130" cy="351130"/>
          </a:xfrm>
          <a:prstGeom prst="rect">
            <a:avLst/>
          </a:prstGeom>
        </p:spPr>
      </p:pic>
      <p:sp>
        <p:nvSpPr>
          <p:cNvPr id="5" name="Text 2"/>
          <p:cNvSpPr txBox="1"/>
          <p:nvPr/>
        </p:nvSpPr>
        <p:spPr>
          <a:xfrm>
            <a:off x="1508760" y="1399032"/>
            <a:ext cx="4754880" cy="365760"/>
          </a:xfrm>
          <a:prstGeom prst="rect">
            <a:avLst/>
          </a:prstGeom>
          <a:noFill/>
          <a:ln/>
        </p:spPr>
        <p:txBody>
          <a:bodyPr wrap="square" lIns="0" tIns="0" rIns="0" bIns="0" rtlCol="0" anchor="ctr"/>
          <a:lstStyle/>
          <a:p>
            <a:pPr indent="0" marL="0">
              <a:buNone/>
            </a:pPr>
            <a:r>
              <a:rPr lang="en-US" sz="1800" b="1" dirty="0">
                <a:solidFill>
                  <a:schemeClr val="tx1"/>
                </a:solidFill>
                <a:latin typeface="Calibri" pitchFamily="34" charset="0"/>
                <a:ea typeface="Calibri" pitchFamily="34" charset="-122"/>
                <a:cs typeface="Calibri" pitchFamily="34" charset="-120"/>
              </a:rPr>
              <a:t>Motors run every industry</a:t>
            </a:r>
            <a:endParaRPr lang="en-US" sz="1800" dirty="0"/>
          </a:p>
        </p:txBody>
      </p:sp>
      <p:sp>
        <p:nvSpPr>
          <p:cNvPr id="6" name="Text 3"/>
          <p:cNvSpPr txBox="1"/>
          <p:nvPr/>
        </p:nvSpPr>
        <p:spPr>
          <a:xfrm>
            <a:off x="1508760" y="1783080"/>
            <a:ext cx="4754880" cy="77724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Pumps, fans, compressors and conveyors all depend on electric motors running without interruption.</a:t>
            </a:r>
            <a:endParaRPr lang="en-US" sz="1400" dirty="0"/>
          </a:p>
        </p:txBody>
      </p:sp>
      <p:sp>
        <p:nvSpPr>
          <p:cNvPr id="7" name="Bearings carry the load circle"/>
          <p:cNvSpPr/>
          <p:nvPr/>
        </p:nvSpPr>
        <p:spPr>
          <a:xfrm>
            <a:off x="548640" y="2926080"/>
            <a:ext cx="731520" cy="731520"/>
          </a:xfrm>
          <a:prstGeom prst="ellipse">
            <a:avLst/>
          </a:prstGeom>
          <a:solidFill>
            <a:schemeClr val="tx1"/>
          </a:solidFill>
          <a:ln/>
        </p:spPr>
      </p:sp>
      <p:pic>
        <p:nvPicPr>
          <p:cNvPr id="8" name="Bearings carry the load icon" descr="Bearings carry the load">    </p:cNvPr>
          <p:cNvPicPr>
            <a:picLocks noChangeAspect="1"/>
          </p:cNvPicPr>
          <p:nvPr/>
        </p:nvPicPr>
        <p:blipFill>
          <a:blip r:embed="rId2"/>
          <a:stretch>
            <a:fillRect/>
          </a:stretch>
        </p:blipFill>
        <p:spPr>
          <a:xfrm>
            <a:off x="738835" y="3116275"/>
            <a:ext cx="351130" cy="351130"/>
          </a:xfrm>
          <a:prstGeom prst="rect">
            <a:avLst/>
          </a:prstGeom>
        </p:spPr>
      </p:pic>
      <p:sp>
        <p:nvSpPr>
          <p:cNvPr id="9" name="Text 5"/>
          <p:cNvSpPr txBox="1"/>
          <p:nvPr/>
        </p:nvSpPr>
        <p:spPr>
          <a:xfrm>
            <a:off x="1508760" y="2907792"/>
            <a:ext cx="4754880" cy="365760"/>
          </a:xfrm>
          <a:prstGeom prst="rect">
            <a:avLst/>
          </a:prstGeom>
          <a:noFill/>
          <a:ln/>
        </p:spPr>
        <p:txBody>
          <a:bodyPr wrap="square" lIns="0" tIns="0" rIns="0" bIns="0" rtlCol="0" anchor="ctr"/>
          <a:lstStyle/>
          <a:p>
            <a:pPr indent="0" marL="0">
              <a:buNone/>
            </a:pPr>
            <a:r>
              <a:rPr lang="en-US" sz="1800" b="1" dirty="0">
                <a:solidFill>
                  <a:schemeClr val="tx1"/>
                </a:solidFill>
                <a:latin typeface="Calibri" pitchFamily="34" charset="0"/>
                <a:ea typeface="Calibri" pitchFamily="34" charset="-122"/>
                <a:cs typeface="Calibri" pitchFamily="34" charset="-120"/>
              </a:rPr>
              <a:t>Bearings carry the load</a:t>
            </a:r>
            <a:endParaRPr lang="en-US" sz="1800" dirty="0"/>
          </a:p>
        </p:txBody>
      </p:sp>
      <p:sp>
        <p:nvSpPr>
          <p:cNvPr id="10" name="Text 6"/>
          <p:cNvSpPr txBox="1"/>
          <p:nvPr/>
        </p:nvSpPr>
        <p:spPr>
          <a:xfrm>
            <a:off x="1508760" y="3291840"/>
            <a:ext cx="4754880" cy="77724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Every motor shaft spins on ball bearings. Cracks in the races or balls develop with wear and grow over time.</a:t>
            </a:r>
            <a:endParaRPr lang="en-US" sz="1400" dirty="0"/>
          </a:p>
        </p:txBody>
      </p:sp>
      <p:sp>
        <p:nvSpPr>
          <p:cNvPr id="11" name="Damage changes the vibration circle"/>
          <p:cNvSpPr/>
          <p:nvPr/>
        </p:nvSpPr>
        <p:spPr>
          <a:xfrm>
            <a:off x="548640" y="4434840"/>
            <a:ext cx="731520" cy="731520"/>
          </a:xfrm>
          <a:prstGeom prst="ellipse">
            <a:avLst/>
          </a:prstGeom>
          <a:solidFill>
            <a:schemeClr val="tx1"/>
          </a:solidFill>
          <a:ln/>
        </p:spPr>
      </p:sp>
      <p:pic>
        <p:nvPicPr>
          <p:cNvPr id="12" name="Damage changes the vibration icon" descr="Damage changes the vibration">    </p:cNvPr>
          <p:cNvPicPr>
            <a:picLocks noChangeAspect="1"/>
          </p:cNvPicPr>
          <p:nvPr/>
        </p:nvPicPr>
        <p:blipFill>
          <a:blip r:embed="rId3"/>
          <a:stretch>
            <a:fillRect/>
          </a:stretch>
        </p:blipFill>
        <p:spPr>
          <a:xfrm>
            <a:off x="738835" y="4625035"/>
            <a:ext cx="351130" cy="351130"/>
          </a:xfrm>
          <a:prstGeom prst="rect">
            <a:avLst/>
          </a:prstGeom>
        </p:spPr>
      </p:pic>
      <p:sp>
        <p:nvSpPr>
          <p:cNvPr id="13" name="Text 8"/>
          <p:cNvSpPr txBox="1"/>
          <p:nvPr/>
        </p:nvSpPr>
        <p:spPr>
          <a:xfrm>
            <a:off x="1508760" y="4416552"/>
            <a:ext cx="4754880" cy="365760"/>
          </a:xfrm>
          <a:prstGeom prst="rect">
            <a:avLst/>
          </a:prstGeom>
          <a:noFill/>
          <a:ln/>
        </p:spPr>
        <p:txBody>
          <a:bodyPr wrap="square" lIns="0" tIns="0" rIns="0" bIns="0" rtlCol="0" anchor="ctr"/>
          <a:lstStyle/>
          <a:p>
            <a:pPr indent="0" marL="0">
              <a:buNone/>
            </a:pPr>
            <a:r>
              <a:rPr lang="en-US" sz="1800" b="1" dirty="0">
                <a:solidFill>
                  <a:schemeClr val="tx1"/>
                </a:solidFill>
                <a:latin typeface="Calibri" pitchFamily="34" charset="0"/>
                <a:ea typeface="Calibri" pitchFamily="34" charset="-122"/>
                <a:cs typeface="Calibri" pitchFamily="34" charset="-120"/>
              </a:rPr>
              <a:t>Damage changes the vibration</a:t>
            </a:r>
            <a:endParaRPr lang="en-US" sz="1800" dirty="0"/>
          </a:p>
        </p:txBody>
      </p:sp>
      <p:sp>
        <p:nvSpPr>
          <p:cNvPr id="14" name="Text 9"/>
          <p:cNvSpPr txBox="1"/>
          <p:nvPr/>
        </p:nvSpPr>
        <p:spPr>
          <a:xfrm>
            <a:off x="1508760" y="4800600"/>
            <a:ext cx="4754880" cy="77724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Each time a ball passes a crack it creates an impact. The vibration signal carries a signature of the fault.</a:t>
            </a:r>
            <a:endParaRPr lang="en-US" sz="1400" dirty="0"/>
          </a:p>
        </p:txBody>
      </p:sp>
      <p:sp>
        <p:nvSpPr>
          <p:cNvPr id="15" name="Waveform panel"/>
          <p:cNvSpPr/>
          <p:nvPr/>
        </p:nvSpPr>
        <p:spPr>
          <a:xfrm>
            <a:off x="6263640" y="1325880"/>
            <a:ext cx="5513832" cy="4846320"/>
          </a:xfrm>
          <a:prstGeom prst="roundRect">
            <a:avLst>
              <a:gd name="adj" fmla="val 1509"/>
            </a:avLst>
          </a:prstGeom>
          <a:solidFill>
            <a:srgbClr val="EEF2F5"/>
          </a:solidFill>
          <a:ln/>
          <a:effectLst>
            <a:outerShdw sx="100000" sy="100000" kx="0" ky="0" algn="bl" rotWithShape="0" blurRad="76200" dist="25400" dir="5400000">
              <a:srgbClr val="1C2530">
                <a:alpha val="12000"/>
              </a:srgbClr>
            </a:outerShdw>
          </a:effectLst>
        </p:spPr>
      </p:sp>
      <p:sp>
        <p:nvSpPr>
          <p:cNvPr id="16" name="Text 11"/>
          <p:cNvSpPr txBox="1"/>
          <p:nvPr/>
        </p:nvSpPr>
        <p:spPr>
          <a:xfrm>
            <a:off x="6400800" y="1463040"/>
            <a:ext cx="2743200" cy="320040"/>
          </a:xfrm>
          <a:prstGeom prst="rect">
            <a:avLst/>
          </a:prstGeom>
          <a:noFill/>
          <a:ln/>
        </p:spPr>
        <p:txBody>
          <a:bodyPr wrap="square" lIns="0" tIns="0" rIns="0" bIns="0" rtlCol="0" anchor="ctr"/>
          <a:lstStyle/>
          <a:p>
            <a:pPr indent="0" marL="0">
              <a:buNone/>
            </a:pPr>
            <a:r>
              <a:rPr lang="en-US" sz="1400" b="1" dirty="0">
                <a:solidFill>
                  <a:schemeClr val="accent3"/>
                </a:solidFill>
                <a:latin typeface="Calibri" pitchFamily="34" charset="0"/>
                <a:ea typeface="Calibri" pitchFamily="34" charset="-122"/>
                <a:cs typeface="Calibri" pitchFamily="34" charset="-120"/>
              </a:rPr>
              <a:t>Healthy bearing</a:t>
            </a:r>
            <a:endParaRPr lang="en-US" sz="1400" dirty="0"/>
          </a:p>
        </p:txBody>
      </p:sp>
      <p:pic>
        <p:nvPicPr>
          <p:cNvPr id="17" name="Image 3" descr="Healthy bearing vibration waveform">    </p:cNvPr>
          <p:cNvPicPr>
            <a:picLocks noChangeAspect="1"/>
          </p:cNvPicPr>
          <p:nvPr/>
        </p:nvPicPr>
        <p:blipFill>
          <a:blip r:embed="rId4"/>
          <a:stretch>
            <a:fillRect/>
          </a:stretch>
        </p:blipFill>
        <p:spPr>
          <a:xfrm>
            <a:off x="6400800" y="1783080"/>
            <a:ext cx="5239512" cy="2037588"/>
          </a:xfrm>
          <a:prstGeom prst="rect">
            <a:avLst/>
          </a:prstGeom>
        </p:spPr>
      </p:pic>
      <p:sp>
        <p:nvSpPr>
          <p:cNvPr id="18" name="Text 12"/>
          <p:cNvSpPr txBox="1"/>
          <p:nvPr/>
        </p:nvSpPr>
        <p:spPr>
          <a:xfrm>
            <a:off x="6400800" y="3840480"/>
            <a:ext cx="2743200" cy="320040"/>
          </a:xfrm>
          <a:prstGeom prst="rect">
            <a:avLst/>
          </a:prstGeom>
          <a:noFill/>
          <a:ln/>
        </p:spPr>
        <p:txBody>
          <a:bodyPr wrap="square" lIns="0" tIns="0" rIns="0" bIns="0" rtlCol="0" anchor="ctr"/>
          <a:lstStyle/>
          <a:p>
            <a:pPr indent="0" marL="0">
              <a:buNone/>
            </a:pPr>
            <a:r>
              <a:rPr lang="en-US" sz="1400" b="1" dirty="0">
                <a:solidFill>
                  <a:schemeClr val="accent4"/>
                </a:solidFill>
                <a:latin typeface="Calibri" pitchFamily="34" charset="0"/>
                <a:ea typeface="Calibri" pitchFamily="34" charset="-122"/>
                <a:cs typeface="Calibri" pitchFamily="34" charset="-120"/>
              </a:rPr>
              <a:t>Inner race fault</a:t>
            </a:r>
            <a:endParaRPr lang="en-US" sz="1400" dirty="0"/>
          </a:p>
        </p:txBody>
      </p:sp>
      <p:pic>
        <p:nvPicPr>
          <p:cNvPr id="19" name="Image 4" descr="Inner race fault vibration waveform">    </p:cNvPr>
          <p:cNvPicPr>
            <a:picLocks noChangeAspect="1"/>
          </p:cNvPicPr>
          <p:nvPr/>
        </p:nvPicPr>
        <p:blipFill>
          <a:blip r:embed="rId5"/>
          <a:stretch>
            <a:fillRect/>
          </a:stretch>
        </p:blipFill>
        <p:spPr>
          <a:xfrm>
            <a:off x="6400800" y="4160520"/>
            <a:ext cx="5239512" cy="2037588"/>
          </a:xfrm>
          <a:prstGeom prst="rect">
            <a:avLst/>
          </a:prstGeom>
        </p:spPr>
      </p:pic>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B8C"/>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chemeClr val="tx1"/>
                </a:solidFill>
                <a:latin typeface="Arial" pitchFamily="34" charset="0"/>
                <a:ea typeface="Arial" pitchFamily="34" charset="-122"/>
                <a:cs typeface="Arial" pitchFamily="34" charset="-120"/>
              </a:rPr>
              <a:t>Problem statement</a:t>
            </a:r>
            <a:endParaRPr lang="en-US" sz="3200" dirty="0"/>
          </a:p>
        </p:txBody>
      </p:sp>
      <p:sp>
        <p:nvSpPr>
          <p:cNvPr id="3" name="Needs an expert"/>
          <p:cNvSpPr/>
          <p:nvPr/>
        </p:nvSpPr>
        <p:spPr>
          <a:xfrm>
            <a:off x="548640" y="1371600"/>
            <a:ext cx="3520440" cy="2651760"/>
          </a:xfrm>
          <a:prstGeom prst="roundRect">
            <a:avLst>
              <a:gd name="adj" fmla="val 2759"/>
            </a:avLst>
          </a:prstGeom>
          <a:solidFill>
            <a:srgbClr val="EEF2F5"/>
          </a:solidFill>
          <a:ln/>
          <a:effectLst>
            <a:outerShdw sx="100000" sy="100000" kx="0" ky="0" algn="bl" rotWithShape="0" blurRad="76200" dist="25400" dir="5400000">
              <a:srgbClr val="1C2530">
                <a:alpha val="12000"/>
              </a:srgbClr>
            </a:outerShdw>
          </a:effectLst>
        </p:spPr>
      </p:sp>
      <p:sp>
        <p:nvSpPr>
          <p:cNvPr id="4" name="Needs an expert circle"/>
          <p:cNvSpPr/>
          <p:nvPr/>
        </p:nvSpPr>
        <p:spPr>
          <a:xfrm>
            <a:off x="868680" y="1691640"/>
            <a:ext cx="685800" cy="685800"/>
          </a:xfrm>
          <a:prstGeom prst="ellipse">
            <a:avLst/>
          </a:prstGeom>
          <a:solidFill>
            <a:schemeClr val="tx1"/>
          </a:solidFill>
          <a:ln/>
        </p:spPr>
      </p:sp>
      <p:pic>
        <p:nvPicPr>
          <p:cNvPr id="5" name="Needs an expert icon" descr="Needs an expert">    </p:cNvPr>
          <p:cNvPicPr>
            <a:picLocks noChangeAspect="1"/>
          </p:cNvPicPr>
          <p:nvPr/>
        </p:nvPicPr>
        <p:blipFill>
          <a:blip r:embed="rId1"/>
          <a:stretch>
            <a:fillRect/>
          </a:stretch>
        </p:blipFill>
        <p:spPr>
          <a:xfrm>
            <a:off x="1046988" y="1869948"/>
            <a:ext cx="329184" cy="329184"/>
          </a:xfrm>
          <a:prstGeom prst="rect">
            <a:avLst/>
          </a:prstGeom>
        </p:spPr>
      </p:pic>
      <p:sp>
        <p:nvSpPr>
          <p:cNvPr id="6" name="Text 3"/>
          <p:cNvSpPr txBox="1"/>
          <p:nvPr/>
        </p:nvSpPr>
        <p:spPr>
          <a:xfrm>
            <a:off x="868680" y="2560320"/>
            <a:ext cx="2880360" cy="365760"/>
          </a:xfrm>
          <a:prstGeom prst="rect">
            <a:avLst/>
          </a:prstGeom>
          <a:noFill/>
          <a:ln/>
        </p:spPr>
        <p:txBody>
          <a:bodyPr wrap="square" lIns="0" tIns="0" rIns="0" bIns="0" rtlCol="0" anchor="ctr"/>
          <a:lstStyle/>
          <a:p>
            <a:pPr indent="0" marL="0">
              <a:buNone/>
            </a:pPr>
            <a:r>
              <a:rPr lang="en-US" sz="1800" b="1" dirty="0">
                <a:solidFill>
                  <a:schemeClr val="tx1"/>
                </a:solidFill>
                <a:latin typeface="Calibri" pitchFamily="34" charset="0"/>
                <a:ea typeface="Calibri" pitchFamily="34" charset="-122"/>
                <a:cs typeface="Calibri" pitchFamily="34" charset="-120"/>
              </a:rPr>
              <a:t>Needs an expert</a:t>
            </a:r>
            <a:endParaRPr lang="en-US" sz="1800" dirty="0"/>
          </a:p>
        </p:txBody>
      </p:sp>
      <p:sp>
        <p:nvSpPr>
          <p:cNvPr id="7" name="Text 4"/>
          <p:cNvSpPr txBox="1"/>
          <p:nvPr/>
        </p:nvSpPr>
        <p:spPr>
          <a:xfrm>
            <a:off x="868680" y="2971800"/>
            <a:ext cx="2880360" cy="91440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Reading vibration spectra by hand requires a trained analyst and takes time for every machine.</a:t>
            </a:r>
            <a:endParaRPr lang="en-US" sz="1400" dirty="0"/>
          </a:p>
        </p:txBody>
      </p:sp>
      <p:sp>
        <p:nvSpPr>
          <p:cNvPr id="8" name="Faults found too late"/>
          <p:cNvSpPr/>
          <p:nvPr/>
        </p:nvSpPr>
        <p:spPr>
          <a:xfrm>
            <a:off x="4343400" y="1371600"/>
            <a:ext cx="3520440" cy="2651760"/>
          </a:xfrm>
          <a:prstGeom prst="roundRect">
            <a:avLst>
              <a:gd name="adj" fmla="val 2759"/>
            </a:avLst>
          </a:prstGeom>
          <a:solidFill>
            <a:srgbClr val="EEF2F5"/>
          </a:solidFill>
          <a:ln/>
          <a:effectLst>
            <a:outerShdw sx="100000" sy="100000" kx="0" ky="0" algn="bl" rotWithShape="0" blurRad="76200" dist="25400" dir="5400000">
              <a:srgbClr val="1C2530">
                <a:alpha val="12000"/>
              </a:srgbClr>
            </a:outerShdw>
          </a:effectLst>
        </p:spPr>
      </p:sp>
      <p:sp>
        <p:nvSpPr>
          <p:cNvPr id="9" name="Faults found too late circle"/>
          <p:cNvSpPr/>
          <p:nvPr/>
        </p:nvSpPr>
        <p:spPr>
          <a:xfrm>
            <a:off x="4663440" y="1691640"/>
            <a:ext cx="685800" cy="685800"/>
          </a:xfrm>
          <a:prstGeom prst="ellipse">
            <a:avLst/>
          </a:prstGeom>
          <a:solidFill>
            <a:schemeClr val="tx1"/>
          </a:solidFill>
          <a:ln/>
        </p:spPr>
      </p:sp>
      <p:pic>
        <p:nvPicPr>
          <p:cNvPr id="10" name="Faults found too late icon" descr="Faults found too late">    </p:cNvPr>
          <p:cNvPicPr>
            <a:picLocks noChangeAspect="1"/>
          </p:cNvPicPr>
          <p:nvPr/>
        </p:nvPicPr>
        <p:blipFill>
          <a:blip r:embed="rId2"/>
          <a:stretch>
            <a:fillRect/>
          </a:stretch>
        </p:blipFill>
        <p:spPr>
          <a:xfrm>
            <a:off x="4841748" y="1869948"/>
            <a:ext cx="329184" cy="329184"/>
          </a:xfrm>
          <a:prstGeom prst="rect">
            <a:avLst/>
          </a:prstGeom>
        </p:spPr>
      </p:pic>
      <p:sp>
        <p:nvSpPr>
          <p:cNvPr id="11" name="Text 7"/>
          <p:cNvSpPr txBox="1"/>
          <p:nvPr/>
        </p:nvSpPr>
        <p:spPr>
          <a:xfrm>
            <a:off x="4663440" y="2560320"/>
            <a:ext cx="2880360" cy="365760"/>
          </a:xfrm>
          <a:prstGeom prst="rect">
            <a:avLst/>
          </a:prstGeom>
          <a:noFill/>
          <a:ln/>
        </p:spPr>
        <p:txBody>
          <a:bodyPr wrap="square" lIns="0" tIns="0" rIns="0" bIns="0" rtlCol="0" anchor="ctr"/>
          <a:lstStyle/>
          <a:p>
            <a:pPr indent="0" marL="0">
              <a:buNone/>
            </a:pPr>
            <a:r>
              <a:rPr lang="en-US" sz="1800" b="1" dirty="0">
                <a:solidFill>
                  <a:schemeClr val="tx1"/>
                </a:solidFill>
                <a:latin typeface="Calibri" pitchFamily="34" charset="0"/>
                <a:ea typeface="Calibri" pitchFamily="34" charset="-122"/>
                <a:cs typeface="Calibri" pitchFamily="34" charset="-120"/>
              </a:rPr>
              <a:t>Faults found too late</a:t>
            </a:r>
            <a:endParaRPr lang="en-US" sz="1800" dirty="0"/>
          </a:p>
        </p:txBody>
      </p:sp>
      <p:sp>
        <p:nvSpPr>
          <p:cNvPr id="12" name="Text 8"/>
          <p:cNvSpPr txBox="1"/>
          <p:nvPr/>
        </p:nvSpPr>
        <p:spPr>
          <a:xfrm>
            <a:off x="4663440" y="2971800"/>
            <a:ext cx="2880360" cy="91440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Without regular analysis, a small crack can grow until the motor fails unexpectedly.</a:t>
            </a:r>
            <a:endParaRPr lang="en-US" sz="1400" dirty="0"/>
          </a:p>
        </p:txBody>
      </p:sp>
      <p:sp>
        <p:nvSpPr>
          <p:cNvPr id="13" name="&quot;Faulty&quot; isn't enough"/>
          <p:cNvSpPr/>
          <p:nvPr/>
        </p:nvSpPr>
        <p:spPr>
          <a:xfrm>
            <a:off x="8138160" y="1371600"/>
            <a:ext cx="3520440" cy="2651760"/>
          </a:xfrm>
          <a:prstGeom prst="roundRect">
            <a:avLst>
              <a:gd name="adj" fmla="val 2759"/>
            </a:avLst>
          </a:prstGeom>
          <a:solidFill>
            <a:srgbClr val="EEF2F5"/>
          </a:solidFill>
          <a:ln/>
          <a:effectLst>
            <a:outerShdw sx="100000" sy="100000" kx="0" ky="0" algn="bl" rotWithShape="0" blurRad="76200" dist="25400" dir="5400000">
              <a:srgbClr val="1C2530">
                <a:alpha val="12000"/>
              </a:srgbClr>
            </a:outerShdw>
          </a:effectLst>
        </p:spPr>
      </p:sp>
      <p:sp>
        <p:nvSpPr>
          <p:cNvPr id="14" name="&quot;Faulty&quot; isn't enough circle"/>
          <p:cNvSpPr/>
          <p:nvPr/>
        </p:nvSpPr>
        <p:spPr>
          <a:xfrm>
            <a:off x="8458200" y="1691640"/>
            <a:ext cx="685800" cy="685800"/>
          </a:xfrm>
          <a:prstGeom prst="ellipse">
            <a:avLst/>
          </a:prstGeom>
          <a:solidFill>
            <a:schemeClr val="tx1"/>
          </a:solidFill>
          <a:ln/>
        </p:spPr>
      </p:sp>
      <p:pic>
        <p:nvPicPr>
          <p:cNvPr id="15" name="&quot;Faulty&quot; isn't enough icon" descr="&quot;Faulty&quot; isn't enough">    </p:cNvPr>
          <p:cNvPicPr>
            <a:picLocks noChangeAspect="1"/>
          </p:cNvPicPr>
          <p:nvPr/>
        </p:nvPicPr>
        <p:blipFill>
          <a:blip r:embed="rId3"/>
          <a:stretch>
            <a:fillRect/>
          </a:stretch>
        </p:blipFill>
        <p:spPr>
          <a:xfrm>
            <a:off x="8636508" y="1869948"/>
            <a:ext cx="329184" cy="329184"/>
          </a:xfrm>
          <a:prstGeom prst="rect">
            <a:avLst/>
          </a:prstGeom>
        </p:spPr>
      </p:pic>
      <p:sp>
        <p:nvSpPr>
          <p:cNvPr id="16" name="Text 11"/>
          <p:cNvSpPr txBox="1"/>
          <p:nvPr/>
        </p:nvSpPr>
        <p:spPr>
          <a:xfrm>
            <a:off x="8458200" y="2560320"/>
            <a:ext cx="2880360" cy="365760"/>
          </a:xfrm>
          <a:prstGeom prst="rect">
            <a:avLst/>
          </a:prstGeom>
          <a:noFill/>
          <a:ln/>
        </p:spPr>
        <p:txBody>
          <a:bodyPr wrap="square" lIns="0" tIns="0" rIns="0" bIns="0" rtlCol="0" anchor="ctr"/>
          <a:lstStyle/>
          <a:p>
            <a:pPr indent="0" marL="0">
              <a:buNone/>
            </a:pPr>
            <a:r>
              <a:rPr lang="en-US" sz="1800" b="1" dirty="0">
                <a:solidFill>
                  <a:schemeClr val="tx1"/>
                </a:solidFill>
                <a:latin typeface="Calibri" pitchFamily="34" charset="0"/>
                <a:ea typeface="Calibri" pitchFamily="34" charset="-122"/>
                <a:cs typeface="Calibri" pitchFamily="34" charset="-120"/>
              </a:rPr>
              <a:t>"Faulty" isn't enough</a:t>
            </a:r>
            <a:endParaRPr lang="en-US" sz="1800" dirty="0"/>
          </a:p>
        </p:txBody>
      </p:sp>
      <p:sp>
        <p:nvSpPr>
          <p:cNvPr id="17" name="Text 12"/>
          <p:cNvSpPr txBox="1"/>
          <p:nvPr/>
        </p:nvSpPr>
        <p:spPr>
          <a:xfrm>
            <a:off x="8458200" y="2971800"/>
            <a:ext cx="2880360" cy="91440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Maintenance teams need to know which part is damaged and how badly, to plan the repair.</a:t>
            </a:r>
            <a:endParaRPr lang="en-US" sz="1400" dirty="0"/>
          </a:p>
        </p:txBody>
      </p:sp>
      <p:sp>
        <p:nvSpPr>
          <p:cNvPr id="18" name="Goal box"/>
          <p:cNvSpPr/>
          <p:nvPr/>
        </p:nvSpPr>
        <p:spPr>
          <a:xfrm>
            <a:off x="548640" y="4343400"/>
            <a:ext cx="11094415" cy="1417320"/>
          </a:xfrm>
          <a:prstGeom prst="roundRect">
            <a:avLst>
              <a:gd name="adj" fmla="val 5161"/>
            </a:avLst>
          </a:prstGeom>
          <a:solidFill>
            <a:srgbClr val="1C2530"/>
          </a:solidFill>
          <a:ln/>
          <a:effectLst>
            <a:outerShdw sx="100000" sy="100000" kx="0" ky="0" algn="bl" rotWithShape="0" blurRad="76200" dist="25400" dir="5400000">
              <a:srgbClr val="1C2530">
                <a:alpha val="12000"/>
              </a:srgbClr>
            </a:outerShdw>
          </a:effectLst>
        </p:spPr>
      </p:sp>
      <p:sp>
        <p:nvSpPr>
          <p:cNvPr id="19" name="Text 14"/>
          <p:cNvSpPr txBox="1"/>
          <p:nvPr/>
        </p:nvSpPr>
        <p:spPr>
          <a:xfrm>
            <a:off x="914400" y="4526280"/>
            <a:ext cx="1828800" cy="320040"/>
          </a:xfrm>
          <a:prstGeom prst="rect">
            <a:avLst/>
          </a:prstGeom>
          <a:noFill/>
          <a:ln/>
        </p:spPr>
        <p:txBody>
          <a:bodyPr wrap="square" lIns="0" tIns="0" rIns="0" bIns="0" rtlCol="0" anchor="ctr"/>
          <a:lstStyle/>
          <a:p>
            <a:pPr indent="0" marL="0">
              <a:buNone/>
            </a:pPr>
            <a:r>
              <a:rPr lang="en-US" sz="1400" b="1" spc="200" kern="0" dirty="0">
                <a:solidFill>
                  <a:schemeClr val="accent1"/>
                </a:solidFill>
                <a:latin typeface="Calibri" pitchFamily="34" charset="0"/>
                <a:ea typeface="Calibri" pitchFamily="34" charset="-122"/>
                <a:cs typeface="Calibri" pitchFamily="34" charset="-120"/>
              </a:rPr>
              <a:t>GOAL</a:t>
            </a:r>
            <a:endParaRPr lang="en-US" sz="1400" dirty="0"/>
          </a:p>
        </p:txBody>
      </p:sp>
      <p:sp>
        <p:nvSpPr>
          <p:cNvPr id="20" name="Text 15"/>
          <p:cNvSpPr txBox="1"/>
          <p:nvPr/>
        </p:nvSpPr>
        <p:spPr>
          <a:xfrm>
            <a:off x="914400" y="4846320"/>
            <a:ext cx="10362895" cy="1005840"/>
          </a:xfrm>
          <a:prstGeom prst="rect">
            <a:avLst/>
          </a:prstGeom>
          <a:noFill/>
          <a:ln/>
        </p:spPr>
        <p:txBody>
          <a:bodyPr wrap="square" lIns="0" tIns="0" rIns="0" bIns="0" rtlCol="0" anchor="t"/>
          <a:lstStyle/>
          <a:p>
            <a:pPr indent="0" marL="0">
              <a:buNone/>
            </a:pPr>
            <a:r>
              <a:rPr lang="en-US" sz="1800" dirty="0">
                <a:solidFill>
                  <a:schemeClr val="bg1"/>
                </a:solidFill>
                <a:latin typeface="Calibri" pitchFamily="34" charset="0"/>
                <a:ea typeface="Calibri" pitchFamily="34" charset="-122"/>
                <a:cs typeface="Calibri" pitchFamily="34" charset="-120"/>
              </a:rPr>
              <a:t>Take a vibration signal and automatically report the bearing condition </a:t>
            </a:r>
            <a:pPr indent="0" marL="0">
              <a:buNone/>
            </a:pPr>
            <a:r>
              <a:rPr lang="en-US" sz="1800" b="1" dirty="0">
                <a:solidFill>
                  <a:srgbClr val="F2A900"/>
                </a:solidFill>
                <a:latin typeface="Calibri" pitchFamily="34" charset="0"/>
                <a:ea typeface="Calibri" pitchFamily="34" charset="-122"/>
                <a:cs typeface="Calibri" pitchFamily="34" charset="-120"/>
              </a:rPr>
              <a:t>(Normal, Inner Race, Ball or Outer Race fault)</a:t>
            </a:r>
            <a:pPr indent="0" marL="0">
              <a:buNone/>
            </a:pPr>
            <a:r>
              <a:rPr lang="en-US" sz="1800" dirty="0">
                <a:solidFill>
                  <a:schemeClr val="bg1"/>
                </a:solidFill>
                <a:latin typeface="Calibri" pitchFamily="34" charset="0"/>
                <a:ea typeface="Calibri" pitchFamily="34" charset="-122"/>
                <a:cs typeface="Calibri" pitchFamily="34" charset="-120"/>
              </a:rPr>
              <a:t>, the fault size, and a confidence score, with a clear warning when the result is uncertain.</a:t>
            </a:r>
            <a:endParaRPr lang="en-US" sz="18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B8C"/>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chemeClr val="tx1"/>
                </a:solidFill>
                <a:latin typeface="Arial" pitchFamily="34" charset="0"/>
                <a:ea typeface="Arial" pitchFamily="34" charset="-122"/>
                <a:cs typeface="Arial" pitchFamily="34" charset="-120"/>
              </a:rPr>
              <a:t>Dataset: CWRU Bearing Data Center</a:t>
            </a:r>
            <a:endParaRPr lang="en-US" sz="3200" dirty="0"/>
          </a:p>
        </p:txBody>
      </p:sp>
      <p:sp>
        <p:nvSpPr>
          <p:cNvPr id="3" name="Text 1"/>
          <p:cNvSpPr txBox="1"/>
          <p:nvPr/>
        </p:nvSpPr>
        <p:spPr>
          <a:xfrm>
            <a:off x="548640" y="1371600"/>
            <a:ext cx="1005840" cy="685800"/>
          </a:xfrm>
          <a:prstGeom prst="rect">
            <a:avLst/>
          </a:prstGeom>
          <a:noFill/>
          <a:ln/>
        </p:spPr>
        <p:txBody>
          <a:bodyPr wrap="square" lIns="0" tIns="0" rIns="0" bIns="0" rtlCol="0" anchor="ctr"/>
          <a:lstStyle/>
          <a:p>
            <a:pPr indent="0" marL="0">
              <a:buNone/>
            </a:pPr>
            <a:r>
              <a:rPr lang="en-US" sz="2800" b="1" dirty="0">
                <a:solidFill>
                  <a:schemeClr val="accent2"/>
                </a:solidFill>
                <a:latin typeface="Arial" pitchFamily="34" charset="0"/>
                <a:ea typeface="Arial" pitchFamily="34" charset="-122"/>
                <a:cs typeface="Arial" pitchFamily="34" charset="-120"/>
              </a:rPr>
              <a:t>40</a:t>
            </a:r>
            <a:endParaRPr lang="en-US" sz="2800" dirty="0"/>
          </a:p>
        </p:txBody>
      </p:sp>
      <p:sp>
        <p:nvSpPr>
          <p:cNvPr id="4" name="Text 2"/>
          <p:cNvSpPr txBox="1"/>
          <p:nvPr/>
        </p:nvSpPr>
        <p:spPr>
          <a:xfrm>
            <a:off x="548640" y="2029968"/>
            <a:ext cx="1005840" cy="320040"/>
          </a:xfrm>
          <a:prstGeom prst="rect">
            <a:avLst/>
          </a:prstGeom>
          <a:noFill/>
          <a:ln/>
        </p:spPr>
        <p:txBody>
          <a:bodyPr wrap="square" lIns="0" tIns="0" rIns="0" bIns="0" rtlCol="0" anchor="ctr"/>
          <a:lstStyle/>
          <a:p>
            <a:pPr indent="0" marL="0">
              <a:buNone/>
            </a:pPr>
            <a:r>
              <a:rPr lang="en-US" sz="1300" dirty="0">
                <a:solidFill>
                  <a:schemeClr val="accent5"/>
                </a:solidFill>
                <a:latin typeface="Calibri" pitchFamily="34" charset="0"/>
                <a:ea typeface="Calibri" pitchFamily="34" charset="-122"/>
                <a:cs typeface="Calibri" pitchFamily="34" charset="-120"/>
              </a:rPr>
              <a:t>recordings</a:t>
            </a:r>
            <a:endParaRPr lang="en-US" sz="1300" dirty="0"/>
          </a:p>
        </p:txBody>
      </p:sp>
      <p:sp>
        <p:nvSpPr>
          <p:cNvPr id="5" name="Text 3"/>
          <p:cNvSpPr txBox="1"/>
          <p:nvPr/>
        </p:nvSpPr>
        <p:spPr>
          <a:xfrm>
            <a:off x="1645920" y="1371600"/>
            <a:ext cx="1325880" cy="685800"/>
          </a:xfrm>
          <a:prstGeom prst="rect">
            <a:avLst/>
          </a:prstGeom>
          <a:noFill/>
          <a:ln/>
        </p:spPr>
        <p:txBody>
          <a:bodyPr wrap="square" lIns="0" tIns="0" rIns="0" bIns="0" rtlCol="0" anchor="ctr"/>
          <a:lstStyle/>
          <a:p>
            <a:pPr indent="0" marL="0">
              <a:buNone/>
            </a:pPr>
            <a:r>
              <a:rPr lang="en-US" sz="2800" b="1" dirty="0">
                <a:solidFill>
                  <a:schemeClr val="accent2"/>
                </a:solidFill>
                <a:latin typeface="Arial" pitchFamily="34" charset="0"/>
                <a:ea typeface="Arial" pitchFamily="34" charset="-122"/>
                <a:cs typeface="Arial" pitchFamily="34" charset="-120"/>
              </a:rPr>
              <a:t>2331</a:t>
            </a:r>
            <a:endParaRPr lang="en-US" sz="2800" dirty="0"/>
          </a:p>
        </p:txBody>
      </p:sp>
      <p:sp>
        <p:nvSpPr>
          <p:cNvPr id="6" name="Text 4"/>
          <p:cNvSpPr txBox="1"/>
          <p:nvPr/>
        </p:nvSpPr>
        <p:spPr>
          <a:xfrm>
            <a:off x="1645920" y="2029968"/>
            <a:ext cx="1325880" cy="320040"/>
          </a:xfrm>
          <a:prstGeom prst="rect">
            <a:avLst/>
          </a:prstGeom>
          <a:noFill/>
          <a:ln/>
        </p:spPr>
        <p:txBody>
          <a:bodyPr wrap="square" lIns="0" tIns="0" rIns="0" bIns="0" rtlCol="0" anchor="ctr"/>
          <a:lstStyle/>
          <a:p>
            <a:pPr indent="0" marL="0">
              <a:buNone/>
            </a:pPr>
            <a:r>
              <a:rPr lang="en-US" sz="1300" dirty="0">
                <a:solidFill>
                  <a:schemeClr val="accent5"/>
                </a:solidFill>
                <a:latin typeface="Calibri" pitchFamily="34" charset="0"/>
                <a:ea typeface="Calibri" pitchFamily="34" charset="-122"/>
                <a:cs typeface="Calibri" pitchFamily="34" charset="-120"/>
              </a:rPr>
              <a:t>signal windows</a:t>
            </a:r>
            <a:endParaRPr lang="en-US" sz="1300" dirty="0"/>
          </a:p>
        </p:txBody>
      </p:sp>
      <p:sp>
        <p:nvSpPr>
          <p:cNvPr id="7" name="Text 5"/>
          <p:cNvSpPr txBox="1"/>
          <p:nvPr/>
        </p:nvSpPr>
        <p:spPr>
          <a:xfrm>
            <a:off x="3063240" y="1371600"/>
            <a:ext cx="1417320" cy="685800"/>
          </a:xfrm>
          <a:prstGeom prst="rect">
            <a:avLst/>
          </a:prstGeom>
          <a:noFill/>
          <a:ln/>
        </p:spPr>
        <p:txBody>
          <a:bodyPr wrap="square" lIns="0" tIns="0" rIns="0" bIns="0" rtlCol="0" anchor="ctr"/>
          <a:lstStyle/>
          <a:p>
            <a:pPr indent="0" marL="0">
              <a:buNone/>
            </a:pPr>
            <a:r>
              <a:rPr lang="en-US" sz="2800" b="1" dirty="0">
                <a:solidFill>
                  <a:schemeClr val="accent2"/>
                </a:solidFill>
                <a:latin typeface="Arial" pitchFamily="34" charset="0"/>
                <a:ea typeface="Arial" pitchFamily="34" charset="-122"/>
                <a:cs typeface="Arial" pitchFamily="34" charset="-120"/>
              </a:rPr>
              <a:t>12 kHz</a:t>
            </a:r>
            <a:endParaRPr lang="en-US" sz="2800" dirty="0"/>
          </a:p>
        </p:txBody>
      </p:sp>
      <p:sp>
        <p:nvSpPr>
          <p:cNvPr id="8" name="Text 6"/>
          <p:cNvSpPr txBox="1"/>
          <p:nvPr/>
        </p:nvSpPr>
        <p:spPr>
          <a:xfrm>
            <a:off x="3063240" y="2029968"/>
            <a:ext cx="1417320" cy="320040"/>
          </a:xfrm>
          <a:prstGeom prst="rect">
            <a:avLst/>
          </a:prstGeom>
          <a:noFill/>
          <a:ln/>
        </p:spPr>
        <p:txBody>
          <a:bodyPr wrap="square" lIns="0" tIns="0" rIns="0" bIns="0" rtlCol="0" anchor="ctr"/>
          <a:lstStyle/>
          <a:p>
            <a:pPr indent="0" marL="0">
              <a:buNone/>
            </a:pPr>
            <a:r>
              <a:rPr lang="en-US" sz="1300" dirty="0">
                <a:solidFill>
                  <a:schemeClr val="accent5"/>
                </a:solidFill>
                <a:latin typeface="Calibri" pitchFamily="34" charset="0"/>
                <a:ea typeface="Calibri" pitchFamily="34" charset="-122"/>
                <a:cs typeface="Calibri" pitchFamily="34" charset="-120"/>
              </a:rPr>
              <a:t>sampling rate</a:t>
            </a:r>
            <a:endParaRPr lang="en-US" sz="1300" dirty="0"/>
          </a:p>
        </p:txBody>
      </p:sp>
      <p:sp>
        <p:nvSpPr>
          <p:cNvPr id="9" name="Text 7"/>
          <p:cNvSpPr txBox="1"/>
          <p:nvPr/>
        </p:nvSpPr>
        <p:spPr>
          <a:xfrm>
            <a:off x="4572000" y="1371600"/>
            <a:ext cx="1371600" cy="685800"/>
          </a:xfrm>
          <a:prstGeom prst="rect">
            <a:avLst/>
          </a:prstGeom>
          <a:noFill/>
          <a:ln/>
        </p:spPr>
        <p:txBody>
          <a:bodyPr wrap="square" lIns="0" tIns="0" rIns="0" bIns="0" rtlCol="0" anchor="ctr"/>
          <a:lstStyle/>
          <a:p>
            <a:pPr indent="0" marL="0">
              <a:buNone/>
            </a:pPr>
            <a:r>
              <a:rPr lang="en-US" sz="2800" b="1" dirty="0">
                <a:solidFill>
                  <a:schemeClr val="accent2"/>
                </a:solidFill>
                <a:latin typeface="Arial" pitchFamily="34" charset="0"/>
                <a:ea typeface="Arial" pitchFamily="34" charset="-122"/>
                <a:cs typeface="Arial" pitchFamily="34" charset="-120"/>
              </a:rPr>
              <a:t>0–3 HP</a:t>
            </a:r>
            <a:endParaRPr lang="en-US" sz="2800" dirty="0"/>
          </a:p>
        </p:txBody>
      </p:sp>
      <p:sp>
        <p:nvSpPr>
          <p:cNvPr id="10" name="Text 8"/>
          <p:cNvSpPr txBox="1"/>
          <p:nvPr/>
        </p:nvSpPr>
        <p:spPr>
          <a:xfrm>
            <a:off x="4572000" y="2029968"/>
            <a:ext cx="1371600" cy="320040"/>
          </a:xfrm>
          <a:prstGeom prst="rect">
            <a:avLst/>
          </a:prstGeom>
          <a:noFill/>
          <a:ln/>
        </p:spPr>
        <p:txBody>
          <a:bodyPr wrap="square" lIns="0" tIns="0" rIns="0" bIns="0" rtlCol="0" anchor="ctr"/>
          <a:lstStyle/>
          <a:p>
            <a:pPr indent="0" marL="0">
              <a:buNone/>
            </a:pPr>
            <a:r>
              <a:rPr lang="en-US" sz="1300" dirty="0">
                <a:solidFill>
                  <a:schemeClr val="accent5"/>
                </a:solidFill>
                <a:latin typeface="Calibri" pitchFamily="34" charset="0"/>
                <a:ea typeface="Calibri" pitchFamily="34" charset="-122"/>
                <a:cs typeface="Calibri" pitchFamily="34" charset="-120"/>
              </a:rPr>
              <a:t>motor loads</a:t>
            </a:r>
            <a:endParaRPr lang="en-US" sz="1300" dirty="0"/>
          </a:p>
        </p:txBody>
      </p:sp>
      <p:sp>
        <p:nvSpPr>
          <p:cNvPr id="11" name="Text 9"/>
          <p:cNvSpPr txBox="1"/>
          <p:nvPr/>
        </p:nvSpPr>
        <p:spPr>
          <a:xfrm>
            <a:off x="548640" y="2651760"/>
            <a:ext cx="5394960" cy="128016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Case Western Reserve University test rig: a 2 HP motor with an accelerometer on the drive-end bearing. Cracks of three sizes were made in the bearing on purpose and the vibration was recorded at four motor loads.</a:t>
            </a:r>
            <a:endParaRPr lang="en-US" sz="1400" dirty="0"/>
          </a:p>
        </p:txBody>
      </p:sp>
      <p:sp>
        <p:nvSpPr>
          <p:cNvPr id="12" name="Data check box"/>
          <p:cNvSpPr/>
          <p:nvPr/>
        </p:nvSpPr>
        <p:spPr>
          <a:xfrm>
            <a:off x="548640" y="4069080"/>
            <a:ext cx="5394960" cy="1783080"/>
          </a:xfrm>
          <a:prstGeom prst="roundRect">
            <a:avLst>
              <a:gd name="adj" fmla="val 4103"/>
            </a:avLst>
          </a:prstGeom>
          <a:solidFill>
            <a:srgbClr val="EEF2F5"/>
          </a:solidFill>
          <a:ln/>
          <a:effectLst>
            <a:outerShdw sx="100000" sy="100000" kx="0" ky="0" algn="bl" rotWithShape="0" blurRad="76200" dist="25400" dir="5400000">
              <a:srgbClr val="1C2530">
                <a:alpha val="12000"/>
              </a:srgbClr>
            </a:outerShdw>
          </a:effectLst>
        </p:spPr>
      </p:sp>
      <p:sp>
        <p:nvSpPr>
          <p:cNvPr id="13" name="Data check circle"/>
          <p:cNvSpPr/>
          <p:nvPr/>
        </p:nvSpPr>
        <p:spPr>
          <a:xfrm>
            <a:off x="822960" y="4297680"/>
            <a:ext cx="548640" cy="548640"/>
          </a:xfrm>
          <a:prstGeom prst="ellipse">
            <a:avLst/>
          </a:prstGeom>
          <a:solidFill>
            <a:schemeClr val="accent1"/>
          </a:solidFill>
          <a:ln/>
        </p:spPr>
      </p:sp>
      <p:pic>
        <p:nvPicPr>
          <p:cNvPr id="14" name="Data check icon" descr="Data check">    </p:cNvPr>
          <p:cNvPicPr>
            <a:picLocks noChangeAspect="1"/>
          </p:cNvPicPr>
          <p:nvPr/>
        </p:nvPicPr>
        <p:blipFill>
          <a:blip r:embed="rId1"/>
          <a:stretch>
            <a:fillRect/>
          </a:stretch>
        </p:blipFill>
        <p:spPr>
          <a:xfrm>
            <a:off x="965606" y="4440326"/>
            <a:ext cx="263347" cy="263347"/>
          </a:xfrm>
          <a:prstGeom prst="rect">
            <a:avLst/>
          </a:prstGeom>
        </p:spPr>
      </p:pic>
      <p:sp>
        <p:nvSpPr>
          <p:cNvPr id="15" name="Text 12"/>
          <p:cNvSpPr txBox="1"/>
          <p:nvPr/>
        </p:nvSpPr>
        <p:spPr>
          <a:xfrm>
            <a:off x="1554480" y="4315968"/>
            <a:ext cx="4114800" cy="365760"/>
          </a:xfrm>
          <a:prstGeom prst="rect">
            <a:avLst/>
          </a:prstGeom>
          <a:noFill/>
          <a:ln/>
        </p:spPr>
        <p:txBody>
          <a:bodyPr wrap="square" lIns="0" tIns="0" rIns="0" bIns="0" rtlCol="0" anchor="ctr"/>
          <a:lstStyle/>
          <a:p>
            <a:pPr indent="0" marL="0">
              <a:buNone/>
            </a:pPr>
            <a:r>
              <a:rPr lang="en-US" sz="1600" b="1" dirty="0">
                <a:solidFill>
                  <a:schemeClr val="tx1"/>
                </a:solidFill>
                <a:latin typeface="Calibri" pitchFamily="34" charset="0"/>
                <a:ea typeface="Calibri" pitchFamily="34" charset="-122"/>
                <a:cs typeface="Calibri" pitchFamily="34" charset="-120"/>
              </a:rPr>
              <a:t>Data check we made</a:t>
            </a:r>
            <a:endParaRPr lang="en-US" sz="1600" dirty="0"/>
          </a:p>
        </p:txBody>
      </p:sp>
      <p:sp>
        <p:nvSpPr>
          <p:cNvPr id="16" name="Text 13"/>
          <p:cNvSpPr txBox="1"/>
          <p:nvPr/>
        </p:nvSpPr>
        <p:spPr>
          <a:xfrm>
            <a:off x="1554480" y="4709160"/>
            <a:ext cx="4206240" cy="1234440"/>
          </a:xfrm>
          <a:prstGeom prst="rect">
            <a:avLst/>
          </a:prstGeom>
          <a:noFill/>
          <a:ln/>
        </p:spPr>
        <p:txBody>
          <a:bodyPr wrap="square" lIns="0" tIns="0" rIns="0" bIns="0" rtlCol="0" anchor="t"/>
          <a:lstStyle/>
          <a:p>
            <a:pPr indent="0" marL="0">
              <a:buNone/>
            </a:pPr>
            <a:r>
              <a:rPr lang="en-US" sz="1300" dirty="0">
                <a:solidFill>
                  <a:schemeClr val="tx2"/>
                </a:solidFill>
                <a:latin typeface="Calibri" pitchFamily="34" charset="0"/>
                <a:ea typeface="Calibri" pitchFamily="34" charset="-122"/>
                <a:cs typeface="Calibri" pitchFamily="34" charset="-120"/>
              </a:rPr>
              <a:t>The Normal files were recorded at 48 kHz, not 12 kHz (shaft-speed peaks appeared at ¼ of the true frequency). We downsampled them to 12 kHz so the model learns the bearing condition, not a sampling-rate artefact.</a:t>
            </a:r>
            <a:endParaRPr lang="en-US" sz="13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6263640" y="1371600"/>
          <a:ext cx="5376672" cy="914400"/>
        </p:xfrm>
        <a:graphic>
          <a:graphicData uri="http://schemas.openxmlformats.org/drawingml/2006/table">
            <a:tbl>
              <a:tblPr/>
              <a:tblGrid>
                <a:gridCol w="1719072"/>
                <a:gridCol w="914400"/>
                <a:gridCol w="914400"/>
                <a:gridCol w="914400"/>
                <a:gridCol w="914400"/>
              </a:tblGrid>
              <a:tr h="502920">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Condition</a:t>
                      </a:r>
                      <a:endParaRPr lang="en-US" sz="1300" dirty="0">
                        <a:latin typeface="Calibri" charset="0"/>
                        <a:ea typeface="Calibri" charset="0"/>
                        <a:cs typeface="Calibri" charset="0"/>
                      </a:endParaRPr>
                    </a:p>
                  </a:txBody>
                  <a:tcPr marL="54864" marR="54864"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1C2530"/>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0.007"</a:t>
                      </a:r>
                      <a:endParaRPr lang="en-US" sz="1300" dirty="0">
                        <a:latin typeface="Calibri" charset="0"/>
                        <a:ea typeface="Calibri" charset="0"/>
                        <a:cs typeface="Calibri" charset="0"/>
                      </a:endParaRPr>
                    </a:p>
                  </a:txBody>
                  <a:tcPr marL="54864" marR="54864"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1C2530"/>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0.014"</a:t>
                      </a:r>
                      <a:endParaRPr lang="en-US" sz="1300" dirty="0">
                        <a:latin typeface="Calibri" charset="0"/>
                        <a:ea typeface="Calibri" charset="0"/>
                        <a:cs typeface="Calibri" charset="0"/>
                      </a:endParaRPr>
                    </a:p>
                  </a:txBody>
                  <a:tcPr marL="54864" marR="54864"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1C2530"/>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0.021"</a:t>
                      </a:r>
                      <a:endParaRPr lang="en-US" sz="1300" dirty="0">
                        <a:latin typeface="Calibri" charset="0"/>
                        <a:ea typeface="Calibri" charset="0"/>
                        <a:cs typeface="Calibri" charset="0"/>
                      </a:endParaRPr>
                    </a:p>
                  </a:txBody>
                  <a:tcPr marL="54864" marR="54864"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1C2530"/>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Windows</a:t>
                      </a:r>
                      <a:endParaRPr lang="en-US" sz="1300" dirty="0">
                        <a:latin typeface="Calibri" charset="0"/>
                        <a:ea typeface="Calibri" charset="0"/>
                        <a:cs typeface="Calibri" charset="0"/>
                      </a:endParaRPr>
                    </a:p>
                  </a:txBody>
                  <a:tcPr marL="54864" marR="54864"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1C2530"/>
                    </a:solidFill>
                  </a:tcPr>
                </a:tc>
              </a:tr>
              <a:tr h="502920">
                <a:tc>
                  <a:txBody>
                    <a:bodyPr/>
                    <a:lstStyle/>
                    <a:p>
                      <a:pPr algn="l" indent="0" marL="0">
                        <a:buNone/>
                      </a:pPr>
                      <a:r>
                        <a:rPr lang="en-US" sz="1300" b="1" dirty="0">
                          <a:solidFill>
                            <a:srgbClr val="2E9E6B"/>
                          </a:solidFill>
                          <a:latin typeface="Calibri" pitchFamily="34" charset="0"/>
                          <a:ea typeface="Calibri" pitchFamily="34" charset="-122"/>
                          <a:cs typeface="Calibri" pitchFamily="34" charset="-120"/>
                        </a:rPr>
                        <a:t>Normal</a:t>
                      </a:r>
                      <a:endParaRPr lang="en-US" sz="1300" dirty="0">
                        <a:latin typeface="Calibri" charset="0"/>
                        <a:ea typeface="Calibri" charset="0"/>
                        <a:cs typeface="Calibri" charset="0"/>
                      </a:endParaRPr>
                    </a:p>
                  </a:txBody>
                  <a:tcPr marL="54864" marR="54864"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gridSpan="3">
                  <a:txBody>
                    <a:bodyPr/>
                    <a:lstStyle/>
                    <a:p>
                      <a:pPr algn="ctr" indent="0" marL="0">
                        <a:buNone/>
                      </a:pPr>
                      <a:r>
                        <a:rPr lang="en-US" sz="1300" dirty="0">
                          <a:solidFill>
                            <a:srgbClr val="2B3A4A"/>
                          </a:solidFill>
                          <a:latin typeface="Calibri" pitchFamily="34" charset="0"/>
                          <a:ea typeface="Calibri" pitchFamily="34" charset="-122"/>
                          <a:cs typeface="Calibri" pitchFamily="34" charset="-120"/>
                        </a:rPr>
                        <a:t>97–100</a:t>
                      </a:r>
                      <a:endParaRPr lang="en-US" sz="1300" dirty="0">
                        <a:latin typeface="Calibri" charset="0"/>
                        <a:ea typeface="Calibri" charset="0"/>
                        <a:cs typeface="Calibri" charset="0"/>
                      </a:endParaRPr>
                    </a:p>
                  </a:txBody>
                  <a:tcPr marL="54864" marR="54864"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hMerge="1">
                  <a:tcPr/>
                </a:tc>
                <a:tc hMerge="1">
                  <a:tcPr/>
                </a:tc>
                <a:tc>
                  <a:txBody>
                    <a:bodyPr/>
                    <a:lstStyle/>
                    <a:p>
                      <a:pPr algn="ctr" indent="0" marL="0">
                        <a:buNone/>
                      </a:pPr>
                      <a:r>
                        <a:rPr lang="en-US" sz="1300" b="1" dirty="0">
                          <a:solidFill>
                            <a:srgbClr val="2B3A4A"/>
                          </a:solidFill>
                          <a:latin typeface="Calibri" pitchFamily="34" charset="0"/>
                          <a:ea typeface="Calibri" pitchFamily="34" charset="-122"/>
                          <a:cs typeface="Calibri" pitchFamily="34" charset="-120"/>
                        </a:rPr>
                        <a:t>206</a:t>
                      </a:r>
                      <a:endParaRPr lang="en-US" sz="1300" dirty="0">
                        <a:latin typeface="Calibri" charset="0"/>
                        <a:ea typeface="Calibri" charset="0"/>
                        <a:cs typeface="Calibri" charset="0"/>
                      </a:endParaRPr>
                    </a:p>
                  </a:txBody>
                  <a:tcPr marL="54864" marR="54864"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r>
              <a:tr h="502920">
                <a:tc>
                  <a:txBody>
                    <a:bodyPr/>
                    <a:lstStyle/>
                    <a:p>
                      <a:pPr algn="l" indent="0" marL="0">
                        <a:buNone/>
                      </a:pPr>
                      <a:r>
                        <a:rPr lang="en-US" sz="1300" b="1" dirty="0">
                          <a:solidFill>
                            <a:srgbClr val="D64545"/>
                          </a:solidFill>
                          <a:latin typeface="Calibri" pitchFamily="34" charset="0"/>
                          <a:ea typeface="Calibri" pitchFamily="34" charset="-122"/>
                          <a:cs typeface="Calibri" pitchFamily="34" charset="-120"/>
                        </a:rPr>
                        <a:t>Inner Race Fault</a:t>
                      </a:r>
                      <a:endParaRPr lang="en-US" sz="1300" dirty="0">
                        <a:latin typeface="Calibri" charset="0"/>
                        <a:ea typeface="Calibri" charset="0"/>
                        <a:cs typeface="Calibri" charset="0"/>
                      </a:endParaRPr>
                    </a:p>
                  </a:txBody>
                  <a:tcPr marL="54864" marR="54864"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2B3A4A"/>
                          </a:solidFill>
                          <a:latin typeface="Calibri" pitchFamily="34" charset="0"/>
                          <a:ea typeface="Calibri" pitchFamily="34" charset="-122"/>
                          <a:cs typeface="Calibri" pitchFamily="34" charset="-120"/>
                        </a:rPr>
                        <a:t>105–108</a:t>
                      </a:r>
                      <a:endParaRPr lang="en-US" sz="1300" dirty="0">
                        <a:latin typeface="Calibri" charset="0"/>
                        <a:ea typeface="Calibri" charset="0"/>
                        <a:cs typeface="Calibri" charset="0"/>
                      </a:endParaRPr>
                    </a:p>
                  </a:txBody>
                  <a:tcPr marL="54864" marR="54864"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2B3A4A"/>
                          </a:solidFill>
                          <a:latin typeface="Calibri" pitchFamily="34" charset="0"/>
                          <a:ea typeface="Calibri" pitchFamily="34" charset="-122"/>
                          <a:cs typeface="Calibri" pitchFamily="34" charset="-120"/>
                        </a:rPr>
                        <a:t>169–172</a:t>
                      </a:r>
                      <a:endParaRPr lang="en-US" sz="1300" dirty="0">
                        <a:latin typeface="Calibri" charset="0"/>
                        <a:ea typeface="Calibri" charset="0"/>
                        <a:cs typeface="Calibri" charset="0"/>
                      </a:endParaRPr>
                    </a:p>
                  </a:txBody>
                  <a:tcPr marL="54864" marR="54864"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2B3A4A"/>
                          </a:solidFill>
                          <a:latin typeface="Calibri" pitchFamily="34" charset="0"/>
                          <a:ea typeface="Calibri" pitchFamily="34" charset="-122"/>
                          <a:cs typeface="Calibri" pitchFamily="34" charset="-120"/>
                        </a:rPr>
                        <a:t>209–212</a:t>
                      </a:r>
                      <a:endParaRPr lang="en-US" sz="1300" dirty="0">
                        <a:latin typeface="Calibri" charset="0"/>
                        <a:ea typeface="Calibri" charset="0"/>
                        <a:cs typeface="Calibri" charset="0"/>
                      </a:endParaRPr>
                    </a:p>
                  </a:txBody>
                  <a:tcPr marL="54864" marR="54864"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2B3A4A"/>
                          </a:solidFill>
                          <a:latin typeface="Calibri" pitchFamily="34" charset="0"/>
                          <a:ea typeface="Calibri" pitchFamily="34" charset="-122"/>
                          <a:cs typeface="Calibri" pitchFamily="34" charset="-120"/>
                        </a:rPr>
                        <a:t>709</a:t>
                      </a:r>
                      <a:endParaRPr lang="en-US" sz="1300" dirty="0">
                        <a:latin typeface="Calibri" charset="0"/>
                        <a:ea typeface="Calibri" charset="0"/>
                        <a:cs typeface="Calibri" charset="0"/>
                      </a:endParaRPr>
                    </a:p>
                  </a:txBody>
                  <a:tcPr marL="54864" marR="54864"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r>
              <a:tr h="502920">
                <a:tc>
                  <a:txBody>
                    <a:bodyPr/>
                    <a:lstStyle/>
                    <a:p>
                      <a:pPr algn="l" indent="0" marL="0">
                        <a:buNone/>
                      </a:pPr>
                      <a:r>
                        <a:rPr lang="en-US" sz="1300" b="1" dirty="0">
                          <a:solidFill>
                            <a:srgbClr val="D64545"/>
                          </a:solidFill>
                          <a:latin typeface="Calibri" pitchFamily="34" charset="0"/>
                          <a:ea typeface="Calibri" pitchFamily="34" charset="-122"/>
                          <a:cs typeface="Calibri" pitchFamily="34" charset="-120"/>
                        </a:rPr>
                        <a:t>Ball Fault</a:t>
                      </a:r>
                      <a:endParaRPr lang="en-US" sz="1300" dirty="0">
                        <a:latin typeface="Calibri" charset="0"/>
                        <a:ea typeface="Calibri" charset="0"/>
                        <a:cs typeface="Calibri" charset="0"/>
                      </a:endParaRPr>
                    </a:p>
                  </a:txBody>
                  <a:tcPr marL="54864" marR="54864"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2B3A4A"/>
                          </a:solidFill>
                          <a:latin typeface="Calibri" pitchFamily="34" charset="0"/>
                          <a:ea typeface="Calibri" pitchFamily="34" charset="-122"/>
                          <a:cs typeface="Calibri" pitchFamily="34" charset="-120"/>
                        </a:rPr>
                        <a:t>118–121</a:t>
                      </a:r>
                      <a:endParaRPr lang="en-US" sz="1300" dirty="0">
                        <a:latin typeface="Calibri" charset="0"/>
                        <a:ea typeface="Calibri" charset="0"/>
                        <a:cs typeface="Calibri" charset="0"/>
                      </a:endParaRPr>
                    </a:p>
                  </a:txBody>
                  <a:tcPr marL="54864" marR="54864"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2B3A4A"/>
                          </a:solidFill>
                          <a:latin typeface="Calibri" pitchFamily="34" charset="0"/>
                          <a:ea typeface="Calibri" pitchFamily="34" charset="-122"/>
                          <a:cs typeface="Calibri" pitchFamily="34" charset="-120"/>
                        </a:rPr>
                        <a:t>185–188</a:t>
                      </a:r>
                      <a:endParaRPr lang="en-US" sz="1300" dirty="0">
                        <a:latin typeface="Calibri" charset="0"/>
                        <a:ea typeface="Calibri" charset="0"/>
                        <a:cs typeface="Calibri" charset="0"/>
                      </a:endParaRPr>
                    </a:p>
                  </a:txBody>
                  <a:tcPr marL="54864" marR="54864"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2B3A4A"/>
                          </a:solidFill>
                          <a:latin typeface="Calibri" pitchFamily="34" charset="0"/>
                          <a:ea typeface="Calibri" pitchFamily="34" charset="-122"/>
                          <a:cs typeface="Calibri" pitchFamily="34" charset="-120"/>
                        </a:rPr>
                        <a:t>222–225</a:t>
                      </a:r>
                      <a:endParaRPr lang="en-US" sz="1300" dirty="0">
                        <a:latin typeface="Calibri" charset="0"/>
                        <a:ea typeface="Calibri" charset="0"/>
                        <a:cs typeface="Calibri" charset="0"/>
                      </a:endParaRPr>
                    </a:p>
                  </a:txBody>
                  <a:tcPr marL="54864" marR="54864"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2B3A4A"/>
                          </a:solidFill>
                          <a:latin typeface="Calibri" pitchFamily="34" charset="0"/>
                          <a:ea typeface="Calibri" pitchFamily="34" charset="-122"/>
                          <a:cs typeface="Calibri" pitchFamily="34" charset="-120"/>
                        </a:rPr>
                        <a:t>708</a:t>
                      </a:r>
                      <a:endParaRPr lang="en-US" sz="1300" dirty="0">
                        <a:latin typeface="Calibri" charset="0"/>
                        <a:ea typeface="Calibri" charset="0"/>
                        <a:cs typeface="Calibri" charset="0"/>
                      </a:endParaRPr>
                    </a:p>
                  </a:txBody>
                  <a:tcPr marL="54864" marR="54864"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r>
              <a:tr h="502920">
                <a:tc>
                  <a:txBody>
                    <a:bodyPr/>
                    <a:lstStyle/>
                    <a:p>
                      <a:pPr algn="l" indent="0" marL="0">
                        <a:buNone/>
                      </a:pPr>
                      <a:r>
                        <a:rPr lang="en-US" sz="1300" b="1" dirty="0">
                          <a:solidFill>
                            <a:srgbClr val="D64545"/>
                          </a:solidFill>
                          <a:latin typeface="Calibri" pitchFamily="34" charset="0"/>
                          <a:ea typeface="Calibri" pitchFamily="34" charset="-122"/>
                          <a:cs typeface="Calibri" pitchFamily="34" charset="-120"/>
                        </a:rPr>
                        <a:t>Outer Race Fault</a:t>
                      </a:r>
                      <a:endParaRPr lang="en-US" sz="1300" dirty="0">
                        <a:latin typeface="Calibri" charset="0"/>
                        <a:ea typeface="Calibri" charset="0"/>
                        <a:cs typeface="Calibri" charset="0"/>
                      </a:endParaRPr>
                    </a:p>
                  </a:txBody>
                  <a:tcPr marL="54864" marR="54864"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2B3A4A"/>
                          </a:solidFill>
                          <a:latin typeface="Calibri" pitchFamily="34" charset="0"/>
                          <a:ea typeface="Calibri" pitchFamily="34" charset="-122"/>
                          <a:cs typeface="Calibri" pitchFamily="34" charset="-120"/>
                        </a:rPr>
                        <a:t>130–133</a:t>
                      </a:r>
                      <a:endParaRPr lang="en-US" sz="1300" dirty="0">
                        <a:latin typeface="Calibri" charset="0"/>
                        <a:ea typeface="Calibri" charset="0"/>
                        <a:cs typeface="Calibri" charset="0"/>
                      </a:endParaRPr>
                    </a:p>
                  </a:txBody>
                  <a:tcPr marL="54864" marR="54864"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2B3A4A"/>
                          </a:solidFill>
                          <a:latin typeface="Calibri" pitchFamily="34" charset="0"/>
                          <a:ea typeface="Calibri" pitchFamily="34" charset="-122"/>
                          <a:cs typeface="Calibri" pitchFamily="34" charset="-120"/>
                        </a:rPr>
                        <a:t>197–200</a:t>
                      </a:r>
                      <a:endParaRPr lang="en-US" sz="1300" dirty="0">
                        <a:latin typeface="Calibri" charset="0"/>
                        <a:ea typeface="Calibri" charset="0"/>
                        <a:cs typeface="Calibri" charset="0"/>
                      </a:endParaRPr>
                    </a:p>
                  </a:txBody>
                  <a:tcPr marL="54864" marR="54864"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2B3A4A"/>
                          </a:solidFill>
                          <a:latin typeface="Calibri" pitchFamily="34" charset="0"/>
                          <a:ea typeface="Calibri" pitchFamily="34" charset="-122"/>
                          <a:cs typeface="Calibri" pitchFamily="34" charset="-120"/>
                        </a:rPr>
                        <a:t>234–237</a:t>
                      </a:r>
                      <a:endParaRPr lang="en-US" sz="1300" dirty="0">
                        <a:latin typeface="Calibri" charset="0"/>
                        <a:ea typeface="Calibri" charset="0"/>
                        <a:cs typeface="Calibri" charset="0"/>
                      </a:endParaRPr>
                    </a:p>
                  </a:txBody>
                  <a:tcPr marL="54864" marR="54864"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2B3A4A"/>
                          </a:solidFill>
                          <a:latin typeface="Calibri" pitchFamily="34" charset="0"/>
                          <a:ea typeface="Calibri" pitchFamily="34" charset="-122"/>
                          <a:cs typeface="Calibri" pitchFamily="34" charset="-120"/>
                        </a:rPr>
                        <a:t>708</a:t>
                      </a:r>
                      <a:endParaRPr lang="en-US" sz="1300" dirty="0">
                        <a:latin typeface="Calibri" charset="0"/>
                        <a:ea typeface="Calibri" charset="0"/>
                        <a:cs typeface="Calibri" charset="0"/>
                      </a:endParaRPr>
                    </a:p>
                  </a:txBody>
                  <a:tcPr marL="54864" marR="54864"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r>
            </a:tbl>
          </a:graphicData>
        </a:graphic>
      </p:graphicFrame>
      <p:sp>
        <p:nvSpPr>
          <p:cNvPr id="18" name="Text 14"/>
          <p:cNvSpPr txBox="1"/>
          <p:nvPr/>
        </p:nvSpPr>
        <p:spPr>
          <a:xfrm>
            <a:off x="6263640" y="4069080"/>
            <a:ext cx="5376672" cy="548640"/>
          </a:xfrm>
          <a:prstGeom prst="rect">
            <a:avLst/>
          </a:prstGeom>
          <a:noFill/>
          <a:ln/>
        </p:spPr>
        <p:txBody>
          <a:bodyPr wrap="square" lIns="0" tIns="0" rIns="0" bIns="0" rtlCol="0" anchor="t"/>
          <a:lstStyle/>
          <a:p>
            <a:pPr indent="0" marL="0">
              <a:buNone/>
            </a:pPr>
            <a:r>
              <a:rPr lang="en-US" sz="1100" i="1" dirty="0">
                <a:solidFill>
                  <a:schemeClr val="accent5"/>
                </a:solidFill>
                <a:latin typeface="Calibri" pitchFamily="34" charset="0"/>
                <a:ea typeface="Calibri" pitchFamily="34" charset="-122"/>
                <a:cs typeface="Calibri" pitchFamily="34" charset="-120"/>
              </a:rPr>
              <a:t>CWRU file numbers; each group of 4 files = loads 0, 1, 2, 3 HP. Windows = 2048-sample segments (≈0.17 s).</a:t>
            </a:r>
            <a:endParaRPr lang="en-US" sz="11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B8C"/>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chemeClr val="tx1"/>
                </a:solidFill>
                <a:latin typeface="Arial" pitchFamily="34" charset="0"/>
                <a:ea typeface="Arial" pitchFamily="34" charset="-122"/>
                <a:cs typeface="Arial" pitchFamily="34" charset="-120"/>
              </a:rPr>
              <a:t>Proposed solution</a:t>
            </a:r>
            <a:endParaRPr lang="en-US" sz="3200" dirty="0"/>
          </a:p>
        </p:txBody>
      </p:sp>
      <p:sp>
        <p:nvSpPr>
          <p:cNvPr id="3" name="Signal processing"/>
          <p:cNvSpPr/>
          <p:nvPr/>
        </p:nvSpPr>
        <p:spPr>
          <a:xfrm>
            <a:off x="548640" y="1417320"/>
            <a:ext cx="2606040" cy="2971800"/>
          </a:xfrm>
          <a:prstGeom prst="roundRect">
            <a:avLst>
              <a:gd name="adj" fmla="val 2807"/>
            </a:avLst>
          </a:prstGeom>
          <a:solidFill>
            <a:srgbClr val="EEF2F5"/>
          </a:solidFill>
          <a:ln/>
          <a:effectLst>
            <a:outerShdw sx="100000" sy="100000" kx="0" ky="0" algn="bl" rotWithShape="0" blurRad="76200" dist="25400" dir="5400000">
              <a:srgbClr val="1C2530">
                <a:alpha val="12000"/>
              </a:srgbClr>
            </a:outerShdw>
          </a:effectLst>
        </p:spPr>
      </p:sp>
      <p:sp>
        <p:nvSpPr>
          <p:cNvPr id="4" name="Text 2"/>
          <p:cNvSpPr txBox="1"/>
          <p:nvPr/>
        </p:nvSpPr>
        <p:spPr>
          <a:xfrm>
            <a:off x="822960" y="1691640"/>
            <a:ext cx="914400" cy="365760"/>
          </a:xfrm>
          <a:prstGeom prst="rect">
            <a:avLst/>
          </a:prstGeom>
          <a:noFill/>
          <a:ln/>
        </p:spPr>
        <p:txBody>
          <a:bodyPr wrap="square" lIns="0" tIns="0" rIns="0" bIns="0" rtlCol="0" anchor="ctr"/>
          <a:lstStyle/>
          <a:p>
            <a:pPr indent="0" marL="0">
              <a:buNone/>
            </a:pPr>
            <a:r>
              <a:rPr lang="en-US" sz="1400" b="1" dirty="0">
                <a:solidFill>
                  <a:schemeClr val="accent5"/>
                </a:solidFill>
                <a:latin typeface="Calibri" pitchFamily="34" charset="0"/>
                <a:ea typeface="Calibri" pitchFamily="34" charset="-122"/>
                <a:cs typeface="Calibri" pitchFamily="34" charset="-120"/>
              </a:rPr>
              <a:t>01</a:t>
            </a:r>
            <a:endParaRPr lang="en-US" sz="1400" dirty="0"/>
          </a:p>
        </p:txBody>
      </p:sp>
      <p:sp>
        <p:nvSpPr>
          <p:cNvPr id="5" name="Signal processing circle"/>
          <p:cNvSpPr/>
          <p:nvPr/>
        </p:nvSpPr>
        <p:spPr>
          <a:xfrm>
            <a:off x="2194560" y="1691640"/>
            <a:ext cx="685800" cy="685800"/>
          </a:xfrm>
          <a:prstGeom prst="ellipse">
            <a:avLst/>
          </a:prstGeom>
          <a:solidFill>
            <a:schemeClr val="tx1"/>
          </a:solidFill>
          <a:ln/>
        </p:spPr>
      </p:sp>
      <p:pic>
        <p:nvPicPr>
          <p:cNvPr id="6" name="Signal processing icon" descr="Signal processing">    </p:cNvPr>
          <p:cNvPicPr>
            <a:picLocks noChangeAspect="1"/>
          </p:cNvPicPr>
          <p:nvPr/>
        </p:nvPicPr>
        <p:blipFill>
          <a:blip r:embed="rId1"/>
          <a:stretch>
            <a:fillRect/>
          </a:stretch>
        </p:blipFill>
        <p:spPr>
          <a:xfrm>
            <a:off x="2372868" y="1869948"/>
            <a:ext cx="329184" cy="329184"/>
          </a:xfrm>
          <a:prstGeom prst="rect">
            <a:avLst/>
          </a:prstGeom>
        </p:spPr>
      </p:pic>
      <p:sp>
        <p:nvSpPr>
          <p:cNvPr id="7" name="Text 4"/>
          <p:cNvSpPr txBox="1"/>
          <p:nvPr/>
        </p:nvSpPr>
        <p:spPr>
          <a:xfrm>
            <a:off x="822960" y="2651760"/>
            <a:ext cx="2057400" cy="411480"/>
          </a:xfrm>
          <a:prstGeom prst="rect">
            <a:avLst/>
          </a:prstGeom>
          <a:noFill/>
          <a:ln/>
        </p:spPr>
        <p:txBody>
          <a:bodyPr wrap="square" lIns="0" tIns="0" rIns="0" bIns="0" rtlCol="0" anchor="ctr"/>
          <a:lstStyle/>
          <a:p>
            <a:pPr indent="0" marL="0">
              <a:buNone/>
            </a:pPr>
            <a:r>
              <a:rPr lang="en-US" sz="1800" b="1" dirty="0">
                <a:solidFill>
                  <a:schemeClr val="tx1"/>
                </a:solidFill>
                <a:latin typeface="Calibri" pitchFamily="34" charset="0"/>
                <a:ea typeface="Calibri" pitchFamily="34" charset="-122"/>
                <a:cs typeface="Calibri" pitchFamily="34" charset="-120"/>
              </a:rPr>
              <a:t>Signal processing</a:t>
            </a:r>
            <a:endParaRPr lang="en-US" sz="1800" dirty="0"/>
          </a:p>
        </p:txBody>
      </p:sp>
      <p:sp>
        <p:nvSpPr>
          <p:cNvPr id="8" name="Text 5"/>
          <p:cNvSpPr txBox="1"/>
          <p:nvPr/>
        </p:nvSpPr>
        <p:spPr>
          <a:xfrm>
            <a:off x="822960" y="3108960"/>
            <a:ext cx="2057400" cy="146304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Convert to 12 kHz and cut each recording into 2048-sample windows.</a:t>
            </a:r>
            <a:endParaRPr lang="en-US" sz="1400" dirty="0"/>
          </a:p>
        </p:txBody>
      </p:sp>
      <p:sp>
        <p:nvSpPr>
          <p:cNvPr id="9" name="Feature extraction"/>
          <p:cNvSpPr/>
          <p:nvPr/>
        </p:nvSpPr>
        <p:spPr>
          <a:xfrm>
            <a:off x="3367735" y="1417320"/>
            <a:ext cx="2606040" cy="2971800"/>
          </a:xfrm>
          <a:prstGeom prst="roundRect">
            <a:avLst>
              <a:gd name="adj" fmla="val 2807"/>
            </a:avLst>
          </a:prstGeom>
          <a:solidFill>
            <a:srgbClr val="EEF2F5"/>
          </a:solidFill>
          <a:ln/>
          <a:effectLst>
            <a:outerShdw sx="100000" sy="100000" kx="0" ky="0" algn="bl" rotWithShape="0" blurRad="76200" dist="25400" dir="5400000">
              <a:srgbClr val="1C2530">
                <a:alpha val="12000"/>
              </a:srgbClr>
            </a:outerShdw>
          </a:effectLst>
        </p:spPr>
      </p:sp>
      <p:sp>
        <p:nvSpPr>
          <p:cNvPr id="10" name="Text 7"/>
          <p:cNvSpPr txBox="1"/>
          <p:nvPr/>
        </p:nvSpPr>
        <p:spPr>
          <a:xfrm>
            <a:off x="3642055" y="1691640"/>
            <a:ext cx="914400" cy="365760"/>
          </a:xfrm>
          <a:prstGeom prst="rect">
            <a:avLst/>
          </a:prstGeom>
          <a:noFill/>
          <a:ln/>
        </p:spPr>
        <p:txBody>
          <a:bodyPr wrap="square" lIns="0" tIns="0" rIns="0" bIns="0" rtlCol="0" anchor="ctr"/>
          <a:lstStyle/>
          <a:p>
            <a:pPr indent="0" marL="0">
              <a:buNone/>
            </a:pPr>
            <a:r>
              <a:rPr lang="en-US" sz="1400" b="1" dirty="0">
                <a:solidFill>
                  <a:schemeClr val="accent5"/>
                </a:solidFill>
                <a:latin typeface="Calibri" pitchFamily="34" charset="0"/>
                <a:ea typeface="Calibri" pitchFamily="34" charset="-122"/>
                <a:cs typeface="Calibri" pitchFamily="34" charset="-120"/>
              </a:rPr>
              <a:t>02</a:t>
            </a:r>
            <a:endParaRPr lang="en-US" sz="1400" dirty="0"/>
          </a:p>
        </p:txBody>
      </p:sp>
      <p:sp>
        <p:nvSpPr>
          <p:cNvPr id="11" name="Feature extraction circle"/>
          <p:cNvSpPr/>
          <p:nvPr/>
        </p:nvSpPr>
        <p:spPr>
          <a:xfrm>
            <a:off x="5013655" y="1691640"/>
            <a:ext cx="685800" cy="685800"/>
          </a:xfrm>
          <a:prstGeom prst="ellipse">
            <a:avLst/>
          </a:prstGeom>
          <a:solidFill>
            <a:schemeClr val="tx1"/>
          </a:solidFill>
          <a:ln/>
        </p:spPr>
      </p:sp>
      <p:pic>
        <p:nvPicPr>
          <p:cNvPr id="12" name="Feature extraction icon" descr="Feature extraction">    </p:cNvPr>
          <p:cNvPicPr>
            <a:picLocks noChangeAspect="1"/>
          </p:cNvPicPr>
          <p:nvPr/>
        </p:nvPicPr>
        <p:blipFill>
          <a:blip r:embed="rId2"/>
          <a:stretch>
            <a:fillRect/>
          </a:stretch>
        </p:blipFill>
        <p:spPr>
          <a:xfrm>
            <a:off x="5191963" y="1869948"/>
            <a:ext cx="329184" cy="329184"/>
          </a:xfrm>
          <a:prstGeom prst="rect">
            <a:avLst/>
          </a:prstGeom>
        </p:spPr>
      </p:pic>
      <p:sp>
        <p:nvSpPr>
          <p:cNvPr id="13" name="Text 9"/>
          <p:cNvSpPr txBox="1"/>
          <p:nvPr/>
        </p:nvSpPr>
        <p:spPr>
          <a:xfrm>
            <a:off x="3642055" y="2651760"/>
            <a:ext cx="2057400" cy="411480"/>
          </a:xfrm>
          <a:prstGeom prst="rect">
            <a:avLst/>
          </a:prstGeom>
          <a:noFill/>
          <a:ln/>
        </p:spPr>
        <p:txBody>
          <a:bodyPr wrap="square" lIns="0" tIns="0" rIns="0" bIns="0" rtlCol="0" anchor="ctr"/>
          <a:lstStyle/>
          <a:p>
            <a:pPr indent="0" marL="0">
              <a:buNone/>
            </a:pPr>
            <a:r>
              <a:rPr lang="en-US" sz="1800" b="1" dirty="0">
                <a:solidFill>
                  <a:schemeClr val="tx1"/>
                </a:solidFill>
                <a:latin typeface="Calibri" pitchFamily="34" charset="0"/>
                <a:ea typeface="Calibri" pitchFamily="34" charset="-122"/>
                <a:cs typeface="Calibri" pitchFamily="34" charset="-120"/>
              </a:rPr>
              <a:t>Feature extraction</a:t>
            </a:r>
            <a:endParaRPr lang="en-US" sz="1800" dirty="0"/>
          </a:p>
        </p:txBody>
      </p:sp>
      <p:sp>
        <p:nvSpPr>
          <p:cNvPr id="14" name="Text 10"/>
          <p:cNvSpPr txBox="1"/>
          <p:nvPr/>
        </p:nvSpPr>
        <p:spPr>
          <a:xfrm>
            <a:off x="3642055" y="3108960"/>
            <a:ext cx="2057400" cy="146304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14 numbers per window: 9 time-domain and 5 frequency-domain (FFT) features.</a:t>
            </a:r>
            <a:endParaRPr lang="en-US" sz="1400" dirty="0"/>
          </a:p>
        </p:txBody>
      </p:sp>
      <p:sp>
        <p:nvSpPr>
          <p:cNvPr id="15" name="Two ML models"/>
          <p:cNvSpPr/>
          <p:nvPr/>
        </p:nvSpPr>
        <p:spPr>
          <a:xfrm>
            <a:off x="6186830" y="1417320"/>
            <a:ext cx="2606040" cy="2971800"/>
          </a:xfrm>
          <a:prstGeom prst="roundRect">
            <a:avLst>
              <a:gd name="adj" fmla="val 2807"/>
            </a:avLst>
          </a:prstGeom>
          <a:solidFill>
            <a:srgbClr val="EEF2F5"/>
          </a:solidFill>
          <a:ln/>
          <a:effectLst>
            <a:outerShdw sx="100000" sy="100000" kx="0" ky="0" algn="bl" rotWithShape="0" blurRad="76200" dist="25400" dir="5400000">
              <a:srgbClr val="1C2530">
                <a:alpha val="12000"/>
              </a:srgbClr>
            </a:outerShdw>
          </a:effectLst>
        </p:spPr>
      </p:sp>
      <p:sp>
        <p:nvSpPr>
          <p:cNvPr id="16" name="Text 12"/>
          <p:cNvSpPr txBox="1"/>
          <p:nvPr/>
        </p:nvSpPr>
        <p:spPr>
          <a:xfrm>
            <a:off x="6461150" y="1691640"/>
            <a:ext cx="914400" cy="365760"/>
          </a:xfrm>
          <a:prstGeom prst="rect">
            <a:avLst/>
          </a:prstGeom>
          <a:noFill/>
          <a:ln/>
        </p:spPr>
        <p:txBody>
          <a:bodyPr wrap="square" lIns="0" tIns="0" rIns="0" bIns="0" rtlCol="0" anchor="ctr"/>
          <a:lstStyle/>
          <a:p>
            <a:pPr indent="0" marL="0">
              <a:buNone/>
            </a:pPr>
            <a:r>
              <a:rPr lang="en-US" sz="1400" b="1" dirty="0">
                <a:solidFill>
                  <a:schemeClr val="accent5"/>
                </a:solidFill>
                <a:latin typeface="Calibri" pitchFamily="34" charset="0"/>
                <a:ea typeface="Calibri" pitchFamily="34" charset="-122"/>
                <a:cs typeface="Calibri" pitchFamily="34" charset="-120"/>
              </a:rPr>
              <a:t>03</a:t>
            </a:r>
            <a:endParaRPr lang="en-US" sz="1400" dirty="0"/>
          </a:p>
        </p:txBody>
      </p:sp>
      <p:sp>
        <p:nvSpPr>
          <p:cNvPr id="17" name="Two ML models circle"/>
          <p:cNvSpPr/>
          <p:nvPr/>
        </p:nvSpPr>
        <p:spPr>
          <a:xfrm>
            <a:off x="7832750" y="1691640"/>
            <a:ext cx="685800" cy="685800"/>
          </a:xfrm>
          <a:prstGeom prst="ellipse">
            <a:avLst/>
          </a:prstGeom>
          <a:solidFill>
            <a:schemeClr val="tx1"/>
          </a:solidFill>
          <a:ln/>
        </p:spPr>
      </p:sp>
      <p:pic>
        <p:nvPicPr>
          <p:cNvPr id="18" name="Two ML models icon" descr="Two ML models">    </p:cNvPr>
          <p:cNvPicPr>
            <a:picLocks noChangeAspect="1"/>
          </p:cNvPicPr>
          <p:nvPr/>
        </p:nvPicPr>
        <p:blipFill>
          <a:blip r:embed="rId3"/>
          <a:stretch>
            <a:fillRect/>
          </a:stretch>
        </p:blipFill>
        <p:spPr>
          <a:xfrm>
            <a:off x="8011058" y="1869948"/>
            <a:ext cx="329184" cy="329184"/>
          </a:xfrm>
          <a:prstGeom prst="rect">
            <a:avLst/>
          </a:prstGeom>
        </p:spPr>
      </p:pic>
      <p:sp>
        <p:nvSpPr>
          <p:cNvPr id="19" name="Text 14"/>
          <p:cNvSpPr txBox="1"/>
          <p:nvPr/>
        </p:nvSpPr>
        <p:spPr>
          <a:xfrm>
            <a:off x="6461150" y="2651760"/>
            <a:ext cx="2057400" cy="411480"/>
          </a:xfrm>
          <a:prstGeom prst="rect">
            <a:avLst/>
          </a:prstGeom>
          <a:noFill/>
          <a:ln/>
        </p:spPr>
        <p:txBody>
          <a:bodyPr wrap="square" lIns="0" tIns="0" rIns="0" bIns="0" rtlCol="0" anchor="ctr"/>
          <a:lstStyle/>
          <a:p>
            <a:pPr indent="0" marL="0">
              <a:buNone/>
            </a:pPr>
            <a:r>
              <a:rPr lang="en-US" sz="1800" b="1" dirty="0">
                <a:solidFill>
                  <a:schemeClr val="tx1"/>
                </a:solidFill>
                <a:latin typeface="Calibri" pitchFamily="34" charset="0"/>
                <a:ea typeface="Calibri" pitchFamily="34" charset="-122"/>
                <a:cs typeface="Calibri" pitchFamily="34" charset="-120"/>
              </a:rPr>
              <a:t>Two ML models</a:t>
            </a:r>
            <a:endParaRPr lang="en-US" sz="1800" dirty="0"/>
          </a:p>
        </p:txBody>
      </p:sp>
      <p:sp>
        <p:nvSpPr>
          <p:cNvPr id="20" name="Text 15"/>
          <p:cNvSpPr txBox="1"/>
          <p:nvPr/>
        </p:nvSpPr>
        <p:spPr>
          <a:xfrm>
            <a:off x="6461150" y="3108960"/>
            <a:ext cx="2057400" cy="146304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Random Forest #1 finds the fault type. Random Forest #2 estimates the crack size.</a:t>
            </a:r>
            <a:endParaRPr lang="en-US" sz="1400" dirty="0"/>
          </a:p>
        </p:txBody>
      </p:sp>
      <p:sp>
        <p:nvSpPr>
          <p:cNvPr id="21" name="Web application"/>
          <p:cNvSpPr/>
          <p:nvPr/>
        </p:nvSpPr>
        <p:spPr>
          <a:xfrm>
            <a:off x="9005926" y="1417320"/>
            <a:ext cx="2606040" cy="2971800"/>
          </a:xfrm>
          <a:prstGeom prst="roundRect">
            <a:avLst>
              <a:gd name="adj" fmla="val 2807"/>
            </a:avLst>
          </a:prstGeom>
          <a:solidFill>
            <a:srgbClr val="EEF2F5"/>
          </a:solidFill>
          <a:ln/>
          <a:effectLst>
            <a:outerShdw sx="100000" sy="100000" kx="0" ky="0" algn="bl" rotWithShape="0" blurRad="76200" dist="25400" dir="5400000">
              <a:srgbClr val="1C2530">
                <a:alpha val="12000"/>
              </a:srgbClr>
            </a:outerShdw>
          </a:effectLst>
        </p:spPr>
      </p:sp>
      <p:sp>
        <p:nvSpPr>
          <p:cNvPr id="22" name="Text 17"/>
          <p:cNvSpPr txBox="1"/>
          <p:nvPr/>
        </p:nvSpPr>
        <p:spPr>
          <a:xfrm>
            <a:off x="9280246" y="1691640"/>
            <a:ext cx="914400" cy="365760"/>
          </a:xfrm>
          <a:prstGeom prst="rect">
            <a:avLst/>
          </a:prstGeom>
          <a:noFill/>
          <a:ln/>
        </p:spPr>
        <p:txBody>
          <a:bodyPr wrap="square" lIns="0" tIns="0" rIns="0" bIns="0" rtlCol="0" anchor="ctr"/>
          <a:lstStyle/>
          <a:p>
            <a:pPr indent="0" marL="0">
              <a:buNone/>
            </a:pPr>
            <a:r>
              <a:rPr lang="en-US" sz="1400" b="1" dirty="0">
                <a:solidFill>
                  <a:schemeClr val="accent5"/>
                </a:solidFill>
                <a:latin typeface="Calibri" pitchFamily="34" charset="0"/>
                <a:ea typeface="Calibri" pitchFamily="34" charset="-122"/>
                <a:cs typeface="Calibri" pitchFamily="34" charset="-120"/>
              </a:rPr>
              <a:t>04</a:t>
            </a:r>
            <a:endParaRPr lang="en-US" sz="1400" dirty="0"/>
          </a:p>
        </p:txBody>
      </p:sp>
      <p:sp>
        <p:nvSpPr>
          <p:cNvPr id="23" name="Web application circle"/>
          <p:cNvSpPr/>
          <p:nvPr/>
        </p:nvSpPr>
        <p:spPr>
          <a:xfrm>
            <a:off x="10651846" y="1691640"/>
            <a:ext cx="685800" cy="685800"/>
          </a:xfrm>
          <a:prstGeom prst="ellipse">
            <a:avLst/>
          </a:prstGeom>
          <a:solidFill>
            <a:schemeClr val="tx1"/>
          </a:solidFill>
          <a:ln/>
        </p:spPr>
      </p:sp>
      <p:pic>
        <p:nvPicPr>
          <p:cNvPr id="24" name="Web application icon" descr="Web application">    </p:cNvPr>
          <p:cNvPicPr>
            <a:picLocks noChangeAspect="1"/>
          </p:cNvPicPr>
          <p:nvPr/>
        </p:nvPicPr>
        <p:blipFill>
          <a:blip r:embed="rId4"/>
          <a:stretch>
            <a:fillRect/>
          </a:stretch>
        </p:blipFill>
        <p:spPr>
          <a:xfrm>
            <a:off x="10830154" y="1869948"/>
            <a:ext cx="329184" cy="329184"/>
          </a:xfrm>
          <a:prstGeom prst="rect">
            <a:avLst/>
          </a:prstGeom>
        </p:spPr>
      </p:pic>
      <p:sp>
        <p:nvSpPr>
          <p:cNvPr id="25" name="Text 19"/>
          <p:cNvSpPr txBox="1"/>
          <p:nvPr/>
        </p:nvSpPr>
        <p:spPr>
          <a:xfrm>
            <a:off x="9280246" y="2651760"/>
            <a:ext cx="2057400" cy="411480"/>
          </a:xfrm>
          <a:prstGeom prst="rect">
            <a:avLst/>
          </a:prstGeom>
          <a:noFill/>
          <a:ln/>
        </p:spPr>
        <p:txBody>
          <a:bodyPr wrap="square" lIns="0" tIns="0" rIns="0" bIns="0" rtlCol="0" anchor="ctr"/>
          <a:lstStyle/>
          <a:p>
            <a:pPr indent="0" marL="0">
              <a:buNone/>
            </a:pPr>
            <a:r>
              <a:rPr lang="en-US" sz="1800" b="1" dirty="0">
                <a:solidFill>
                  <a:schemeClr val="tx1"/>
                </a:solidFill>
                <a:latin typeface="Calibri" pitchFamily="34" charset="0"/>
                <a:ea typeface="Calibri" pitchFamily="34" charset="-122"/>
                <a:cs typeface="Calibri" pitchFamily="34" charset="-120"/>
              </a:rPr>
              <a:t>Web application</a:t>
            </a:r>
            <a:endParaRPr lang="en-US" sz="1800" dirty="0"/>
          </a:p>
        </p:txBody>
      </p:sp>
      <p:sp>
        <p:nvSpPr>
          <p:cNvPr id="26" name="Text 20"/>
          <p:cNvSpPr txBox="1"/>
          <p:nvPr/>
        </p:nvSpPr>
        <p:spPr>
          <a:xfrm>
            <a:off x="9280246" y="3108960"/>
            <a:ext cx="2057400" cy="146304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Upload a CSV and see the waveform, spectrum, prediction, confidence and status.</a:t>
            </a:r>
            <a:endParaRPr lang="en-US" sz="1400" dirty="0"/>
          </a:p>
        </p:txBody>
      </p:sp>
      <p:sp>
        <p:nvSpPr>
          <p:cNvPr id="27" name="Robustness box"/>
          <p:cNvSpPr/>
          <p:nvPr/>
        </p:nvSpPr>
        <p:spPr>
          <a:xfrm>
            <a:off x="548640" y="4709160"/>
            <a:ext cx="11094415" cy="1051560"/>
          </a:xfrm>
          <a:prstGeom prst="roundRect">
            <a:avLst>
              <a:gd name="adj" fmla="val 6957"/>
            </a:avLst>
          </a:prstGeom>
          <a:solidFill>
            <a:srgbClr val="1C2530"/>
          </a:solidFill>
          <a:ln/>
          <a:effectLst>
            <a:outerShdw sx="100000" sy="100000" kx="0" ky="0" algn="bl" rotWithShape="0" blurRad="76200" dist="25400" dir="5400000">
              <a:srgbClr val="1C2530">
                <a:alpha val="12000"/>
              </a:srgbClr>
            </a:outerShdw>
          </a:effectLst>
        </p:spPr>
      </p:sp>
      <p:sp>
        <p:nvSpPr>
          <p:cNvPr id="28" name="Robustness circle"/>
          <p:cNvSpPr/>
          <p:nvPr/>
        </p:nvSpPr>
        <p:spPr>
          <a:xfrm>
            <a:off x="822960" y="4864608"/>
            <a:ext cx="731520" cy="731520"/>
          </a:xfrm>
          <a:prstGeom prst="ellipse">
            <a:avLst/>
          </a:prstGeom>
          <a:solidFill>
            <a:schemeClr val="accent1"/>
          </a:solidFill>
          <a:ln/>
        </p:spPr>
      </p:sp>
      <p:pic>
        <p:nvPicPr>
          <p:cNvPr id="29" name="Robustness icon" descr="Robustness">    </p:cNvPr>
          <p:cNvPicPr>
            <a:picLocks noChangeAspect="1"/>
          </p:cNvPicPr>
          <p:nvPr/>
        </p:nvPicPr>
        <p:blipFill>
          <a:blip r:embed="rId5"/>
          <a:stretch>
            <a:fillRect/>
          </a:stretch>
        </p:blipFill>
        <p:spPr>
          <a:xfrm>
            <a:off x="1013155" y="5054803"/>
            <a:ext cx="351130" cy="351130"/>
          </a:xfrm>
          <a:prstGeom prst="rect">
            <a:avLst/>
          </a:prstGeom>
        </p:spPr>
      </p:pic>
      <p:sp>
        <p:nvSpPr>
          <p:cNvPr id="30" name="Text 23"/>
          <p:cNvSpPr txBox="1"/>
          <p:nvPr/>
        </p:nvSpPr>
        <p:spPr>
          <a:xfrm>
            <a:off x="1783080" y="4846320"/>
            <a:ext cx="9539935" cy="777240"/>
          </a:xfrm>
          <a:prstGeom prst="rect">
            <a:avLst/>
          </a:prstGeom>
          <a:noFill/>
          <a:ln/>
        </p:spPr>
        <p:txBody>
          <a:bodyPr wrap="square" lIns="0" tIns="0" rIns="0" bIns="0" rtlCol="0" anchor="ctr"/>
          <a:lstStyle/>
          <a:p>
            <a:pPr indent="0" marL="0">
              <a:buNone/>
            </a:pPr>
            <a:r>
              <a:rPr lang="en-US" sz="1600" b="1" dirty="0">
                <a:solidFill>
                  <a:srgbClr val="F2A900"/>
                </a:solidFill>
                <a:latin typeface="Calibri" pitchFamily="34" charset="0"/>
                <a:ea typeface="Calibri" pitchFamily="34" charset="-122"/>
                <a:cs typeface="Calibri" pitchFamily="34" charset="-120"/>
              </a:rPr>
              <a:t>Built to be robust: </a:t>
            </a:r>
            <a:pPr indent="0" marL="0">
              <a:buNone/>
            </a:pPr>
            <a:r>
              <a:rPr lang="en-US" sz="1600" dirty="0">
                <a:solidFill>
                  <a:srgbClr val="FFFFFF"/>
                </a:solidFill>
                <a:latin typeface="Calibri" pitchFamily="34" charset="0"/>
                <a:ea typeface="Calibri" pitchFamily="34" charset="-122"/>
                <a:cs typeface="Calibri" pitchFamily="34" charset="-120"/>
              </a:rPr>
              <a:t>trained with extra noisy copies of every signal, accepts any sampling rate, and flags unfamiliar signals as "uncertain" instead of guessing.</a:t>
            </a:r>
            <a:endParaRPr lang="en-US" sz="16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B8C"/>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chemeClr val="tx1"/>
                </a:solidFill>
                <a:latin typeface="Arial" pitchFamily="34" charset="0"/>
                <a:ea typeface="Arial" pitchFamily="34" charset="-122"/>
                <a:cs typeface="Arial" pitchFamily="34" charset="-120"/>
              </a:rPr>
              <a:t>System architecture</a:t>
            </a:r>
            <a:endParaRPr lang="en-US" sz="3200" dirty="0"/>
          </a:p>
        </p:txBody>
      </p:sp>
      <p:sp>
        <p:nvSpPr>
          <p:cNvPr id="3" name="Input"/>
          <p:cNvSpPr/>
          <p:nvPr/>
        </p:nvSpPr>
        <p:spPr>
          <a:xfrm>
            <a:off x="548640" y="1508760"/>
            <a:ext cx="1874520" cy="1783080"/>
          </a:xfrm>
          <a:prstGeom prst="roundRect">
            <a:avLst>
              <a:gd name="adj" fmla="val 4103"/>
            </a:avLst>
          </a:prstGeom>
          <a:solidFill>
            <a:srgbClr val="EEF2F5"/>
          </a:solidFill>
          <a:ln/>
          <a:effectLst>
            <a:outerShdw sx="100000" sy="100000" kx="0" ky="0" algn="bl" rotWithShape="0" blurRad="76200" dist="25400" dir="5400000">
              <a:srgbClr val="1C2530">
                <a:alpha val="12000"/>
              </a:srgbClr>
            </a:outerShdw>
          </a:effectLst>
        </p:spPr>
      </p:sp>
      <p:sp>
        <p:nvSpPr>
          <p:cNvPr id="4" name="Input circle"/>
          <p:cNvSpPr/>
          <p:nvPr/>
        </p:nvSpPr>
        <p:spPr>
          <a:xfrm>
            <a:off x="1188720" y="1691640"/>
            <a:ext cx="594360" cy="594360"/>
          </a:xfrm>
          <a:prstGeom prst="ellipse">
            <a:avLst/>
          </a:prstGeom>
          <a:solidFill>
            <a:schemeClr val="tx1"/>
          </a:solidFill>
          <a:ln/>
        </p:spPr>
      </p:sp>
      <p:pic>
        <p:nvPicPr>
          <p:cNvPr id="5" name="Input icon" descr="Input">    </p:cNvPr>
          <p:cNvPicPr>
            <a:picLocks noChangeAspect="1"/>
          </p:cNvPicPr>
          <p:nvPr/>
        </p:nvPicPr>
        <p:blipFill>
          <a:blip r:embed="rId1"/>
          <a:stretch>
            <a:fillRect/>
          </a:stretch>
        </p:blipFill>
        <p:spPr>
          <a:xfrm>
            <a:off x="1343254" y="1846174"/>
            <a:ext cx="285293" cy="285293"/>
          </a:xfrm>
          <a:prstGeom prst="rect">
            <a:avLst/>
          </a:prstGeom>
        </p:spPr>
      </p:pic>
      <p:sp>
        <p:nvSpPr>
          <p:cNvPr id="6" name="Text 3"/>
          <p:cNvSpPr txBox="1"/>
          <p:nvPr/>
        </p:nvSpPr>
        <p:spPr>
          <a:xfrm>
            <a:off x="548640" y="2377440"/>
            <a:ext cx="1874520" cy="320040"/>
          </a:xfrm>
          <a:prstGeom prst="rect">
            <a:avLst/>
          </a:prstGeom>
          <a:noFill/>
          <a:ln/>
        </p:spPr>
        <p:txBody>
          <a:bodyPr wrap="square" lIns="0" tIns="0" rIns="0" bIns="0" rtlCol="0" anchor="ctr"/>
          <a:lstStyle/>
          <a:p>
            <a:pPr algn="ctr" indent="0" marL="0">
              <a:buNone/>
            </a:pPr>
            <a:r>
              <a:rPr lang="en-US" sz="1500" b="1" dirty="0">
                <a:solidFill>
                  <a:schemeClr val="tx1"/>
                </a:solidFill>
                <a:latin typeface="Calibri" pitchFamily="34" charset="0"/>
                <a:ea typeface="Calibri" pitchFamily="34" charset="-122"/>
                <a:cs typeface="Calibri" pitchFamily="34" charset="-120"/>
              </a:rPr>
              <a:t>Input</a:t>
            </a:r>
            <a:endParaRPr lang="en-US" sz="1500" dirty="0"/>
          </a:p>
        </p:txBody>
      </p:sp>
      <p:sp>
        <p:nvSpPr>
          <p:cNvPr id="7" name="Text 4"/>
          <p:cNvSpPr txBox="1"/>
          <p:nvPr/>
        </p:nvSpPr>
        <p:spPr>
          <a:xfrm>
            <a:off x="548640" y="2697480"/>
            <a:ext cx="1874520" cy="548640"/>
          </a:xfrm>
          <a:prstGeom prst="rect">
            <a:avLst/>
          </a:prstGeom>
          <a:noFill/>
          <a:ln/>
        </p:spPr>
        <p:txBody>
          <a:bodyPr wrap="square" lIns="0" tIns="0" rIns="0" bIns="0" rtlCol="0" anchor="t"/>
          <a:lstStyle/>
          <a:p>
            <a:pPr algn="ctr" indent="0" marL="0">
              <a:buNone/>
            </a:pPr>
            <a:r>
              <a:rPr lang="en-US" sz="1200" dirty="0">
                <a:solidFill>
                  <a:schemeClr val="tx2"/>
                </a:solidFill>
                <a:latin typeface="Calibri" pitchFamily="34" charset="0"/>
                <a:ea typeface="Calibri" pitchFamily="34" charset="-122"/>
                <a:cs typeface="Calibri" pitchFamily="34" charset="-120"/>
              </a:rPr>
              <a:t>Vibration CSV</a:t>
            </a:r>
            <a:endParaRPr lang="en-US" sz="1200" dirty="0"/>
          </a:p>
          <a:p>
            <a:pPr algn="ctr" indent="0" marL="0">
              <a:buNone/>
            </a:pPr>
            <a:r>
              <a:rPr lang="en-US" sz="1200" dirty="0">
                <a:solidFill>
                  <a:schemeClr val="tx2"/>
                </a:solidFill>
                <a:latin typeface="Calibri" pitchFamily="34" charset="0"/>
                <a:ea typeface="Calibri" pitchFamily="34" charset="-122"/>
                <a:cs typeface="Calibri" pitchFamily="34" charset="-120"/>
              </a:rPr>
              <a:t>(any sampling rate)</a:t>
            </a:r>
            <a:endParaRPr lang="en-US" sz="1200" dirty="0"/>
          </a:p>
        </p:txBody>
      </p:sp>
      <p:sp>
        <p:nvSpPr>
          <p:cNvPr id="8" name="Arrow 0"/>
          <p:cNvSpPr/>
          <p:nvPr/>
        </p:nvSpPr>
        <p:spPr>
          <a:xfrm>
            <a:off x="2496312" y="2263140"/>
            <a:ext cx="274320" cy="274320"/>
          </a:xfrm>
          <a:prstGeom prst="rightArrow">
            <a:avLst/>
          </a:prstGeom>
          <a:solidFill>
            <a:srgbClr val="6B7B8C"/>
          </a:solidFill>
          <a:ln/>
        </p:spPr>
      </p:sp>
      <p:sp>
        <p:nvSpPr>
          <p:cNvPr id="9" name="Resample"/>
          <p:cNvSpPr/>
          <p:nvPr/>
        </p:nvSpPr>
        <p:spPr>
          <a:xfrm>
            <a:off x="2843784" y="1508760"/>
            <a:ext cx="1874520" cy="1783080"/>
          </a:xfrm>
          <a:prstGeom prst="roundRect">
            <a:avLst>
              <a:gd name="adj" fmla="val 4103"/>
            </a:avLst>
          </a:prstGeom>
          <a:solidFill>
            <a:srgbClr val="EEF2F5"/>
          </a:solidFill>
          <a:ln/>
          <a:effectLst>
            <a:outerShdw sx="100000" sy="100000" kx="0" ky="0" algn="bl" rotWithShape="0" blurRad="76200" dist="25400" dir="5400000">
              <a:srgbClr val="1C2530">
                <a:alpha val="12000"/>
              </a:srgbClr>
            </a:outerShdw>
          </a:effectLst>
        </p:spPr>
      </p:sp>
      <p:sp>
        <p:nvSpPr>
          <p:cNvPr id="10" name="Resample circle"/>
          <p:cNvSpPr/>
          <p:nvPr/>
        </p:nvSpPr>
        <p:spPr>
          <a:xfrm>
            <a:off x="3483864" y="1691640"/>
            <a:ext cx="594360" cy="594360"/>
          </a:xfrm>
          <a:prstGeom prst="ellipse">
            <a:avLst/>
          </a:prstGeom>
          <a:solidFill>
            <a:schemeClr val="tx1"/>
          </a:solidFill>
          <a:ln/>
        </p:spPr>
      </p:sp>
      <p:pic>
        <p:nvPicPr>
          <p:cNvPr id="11" name="Resample icon" descr="Resample">    </p:cNvPr>
          <p:cNvPicPr>
            <a:picLocks noChangeAspect="1"/>
          </p:cNvPicPr>
          <p:nvPr/>
        </p:nvPicPr>
        <p:blipFill>
          <a:blip r:embed="rId2"/>
          <a:stretch>
            <a:fillRect/>
          </a:stretch>
        </p:blipFill>
        <p:spPr>
          <a:xfrm>
            <a:off x="3638398" y="1846174"/>
            <a:ext cx="285293" cy="285293"/>
          </a:xfrm>
          <a:prstGeom prst="rect">
            <a:avLst/>
          </a:prstGeom>
        </p:spPr>
      </p:pic>
      <p:sp>
        <p:nvSpPr>
          <p:cNvPr id="12" name="Text 8"/>
          <p:cNvSpPr txBox="1"/>
          <p:nvPr/>
        </p:nvSpPr>
        <p:spPr>
          <a:xfrm>
            <a:off x="2843784" y="2377440"/>
            <a:ext cx="1874520" cy="320040"/>
          </a:xfrm>
          <a:prstGeom prst="rect">
            <a:avLst/>
          </a:prstGeom>
          <a:noFill/>
          <a:ln/>
        </p:spPr>
        <p:txBody>
          <a:bodyPr wrap="square" lIns="0" tIns="0" rIns="0" bIns="0" rtlCol="0" anchor="ctr"/>
          <a:lstStyle/>
          <a:p>
            <a:pPr algn="ctr" indent="0" marL="0">
              <a:buNone/>
            </a:pPr>
            <a:r>
              <a:rPr lang="en-US" sz="1500" b="1" dirty="0">
                <a:solidFill>
                  <a:schemeClr val="tx1"/>
                </a:solidFill>
                <a:latin typeface="Calibri" pitchFamily="34" charset="0"/>
                <a:ea typeface="Calibri" pitchFamily="34" charset="-122"/>
                <a:cs typeface="Calibri" pitchFamily="34" charset="-120"/>
              </a:rPr>
              <a:t>Resample</a:t>
            </a:r>
            <a:endParaRPr lang="en-US" sz="1500" dirty="0"/>
          </a:p>
        </p:txBody>
      </p:sp>
      <p:sp>
        <p:nvSpPr>
          <p:cNvPr id="13" name="Text 9"/>
          <p:cNvSpPr txBox="1"/>
          <p:nvPr/>
        </p:nvSpPr>
        <p:spPr>
          <a:xfrm>
            <a:off x="2843784" y="2697480"/>
            <a:ext cx="1874520" cy="548640"/>
          </a:xfrm>
          <a:prstGeom prst="rect">
            <a:avLst/>
          </a:prstGeom>
          <a:noFill/>
          <a:ln/>
        </p:spPr>
        <p:txBody>
          <a:bodyPr wrap="square" lIns="0" tIns="0" rIns="0" bIns="0" rtlCol="0" anchor="t"/>
          <a:lstStyle/>
          <a:p>
            <a:pPr algn="ctr" indent="0" marL="0">
              <a:buNone/>
            </a:pPr>
            <a:r>
              <a:rPr lang="en-US" sz="1200" dirty="0">
                <a:solidFill>
                  <a:schemeClr val="tx2"/>
                </a:solidFill>
                <a:latin typeface="Calibri" pitchFamily="34" charset="0"/>
                <a:ea typeface="Calibri" pitchFamily="34" charset="-122"/>
                <a:cs typeface="Calibri" pitchFamily="34" charset="-120"/>
              </a:rPr>
              <a:t>Convert to</a:t>
            </a:r>
            <a:endParaRPr lang="en-US" sz="1200" dirty="0"/>
          </a:p>
          <a:p>
            <a:pPr algn="ctr" indent="0" marL="0">
              <a:buNone/>
            </a:pPr>
            <a:r>
              <a:rPr lang="en-US" sz="1200" dirty="0">
                <a:solidFill>
                  <a:schemeClr val="tx2"/>
                </a:solidFill>
                <a:latin typeface="Calibri" pitchFamily="34" charset="0"/>
                <a:ea typeface="Calibri" pitchFamily="34" charset="-122"/>
                <a:cs typeface="Calibri" pitchFamily="34" charset="-120"/>
              </a:rPr>
              <a:t>12 kHz</a:t>
            </a:r>
            <a:endParaRPr lang="en-US" sz="1200" dirty="0"/>
          </a:p>
        </p:txBody>
      </p:sp>
      <p:sp>
        <p:nvSpPr>
          <p:cNvPr id="14" name="Arrow 1"/>
          <p:cNvSpPr/>
          <p:nvPr/>
        </p:nvSpPr>
        <p:spPr>
          <a:xfrm>
            <a:off x="4791456" y="2263140"/>
            <a:ext cx="274320" cy="274320"/>
          </a:xfrm>
          <a:prstGeom prst="rightArrow">
            <a:avLst/>
          </a:prstGeom>
          <a:solidFill>
            <a:srgbClr val="6B7B8C"/>
          </a:solidFill>
          <a:ln/>
        </p:spPr>
      </p:sp>
      <p:sp>
        <p:nvSpPr>
          <p:cNvPr id="15" name="Windowing"/>
          <p:cNvSpPr/>
          <p:nvPr/>
        </p:nvSpPr>
        <p:spPr>
          <a:xfrm>
            <a:off x="5138928" y="1508760"/>
            <a:ext cx="1874520" cy="1783080"/>
          </a:xfrm>
          <a:prstGeom prst="roundRect">
            <a:avLst>
              <a:gd name="adj" fmla="val 4103"/>
            </a:avLst>
          </a:prstGeom>
          <a:solidFill>
            <a:srgbClr val="EEF2F5"/>
          </a:solidFill>
          <a:ln/>
          <a:effectLst>
            <a:outerShdw sx="100000" sy="100000" kx="0" ky="0" algn="bl" rotWithShape="0" blurRad="76200" dist="25400" dir="5400000">
              <a:srgbClr val="1C2530">
                <a:alpha val="12000"/>
              </a:srgbClr>
            </a:outerShdw>
          </a:effectLst>
        </p:spPr>
      </p:sp>
      <p:sp>
        <p:nvSpPr>
          <p:cNvPr id="16" name="Windowing circle"/>
          <p:cNvSpPr/>
          <p:nvPr/>
        </p:nvSpPr>
        <p:spPr>
          <a:xfrm>
            <a:off x="5779008" y="1691640"/>
            <a:ext cx="594360" cy="594360"/>
          </a:xfrm>
          <a:prstGeom prst="ellipse">
            <a:avLst/>
          </a:prstGeom>
          <a:solidFill>
            <a:schemeClr val="tx1"/>
          </a:solidFill>
          <a:ln/>
        </p:spPr>
      </p:sp>
      <p:pic>
        <p:nvPicPr>
          <p:cNvPr id="17" name="Windowing icon" descr="Windowing">    </p:cNvPr>
          <p:cNvPicPr>
            <a:picLocks noChangeAspect="1"/>
          </p:cNvPicPr>
          <p:nvPr/>
        </p:nvPicPr>
        <p:blipFill>
          <a:blip r:embed="rId3"/>
          <a:stretch>
            <a:fillRect/>
          </a:stretch>
        </p:blipFill>
        <p:spPr>
          <a:xfrm>
            <a:off x="5933542" y="1846174"/>
            <a:ext cx="285293" cy="285293"/>
          </a:xfrm>
          <a:prstGeom prst="rect">
            <a:avLst/>
          </a:prstGeom>
        </p:spPr>
      </p:pic>
      <p:sp>
        <p:nvSpPr>
          <p:cNvPr id="18" name="Text 13"/>
          <p:cNvSpPr txBox="1"/>
          <p:nvPr/>
        </p:nvSpPr>
        <p:spPr>
          <a:xfrm>
            <a:off x="5138928" y="2377440"/>
            <a:ext cx="1874520" cy="320040"/>
          </a:xfrm>
          <a:prstGeom prst="rect">
            <a:avLst/>
          </a:prstGeom>
          <a:noFill/>
          <a:ln/>
        </p:spPr>
        <p:txBody>
          <a:bodyPr wrap="square" lIns="0" tIns="0" rIns="0" bIns="0" rtlCol="0" anchor="ctr"/>
          <a:lstStyle/>
          <a:p>
            <a:pPr algn="ctr" indent="0" marL="0">
              <a:buNone/>
            </a:pPr>
            <a:r>
              <a:rPr lang="en-US" sz="1500" b="1" dirty="0">
                <a:solidFill>
                  <a:schemeClr val="tx1"/>
                </a:solidFill>
                <a:latin typeface="Calibri" pitchFamily="34" charset="0"/>
                <a:ea typeface="Calibri" pitchFamily="34" charset="-122"/>
                <a:cs typeface="Calibri" pitchFamily="34" charset="-120"/>
              </a:rPr>
              <a:t>Windowing</a:t>
            </a:r>
            <a:endParaRPr lang="en-US" sz="1500" dirty="0"/>
          </a:p>
        </p:txBody>
      </p:sp>
      <p:sp>
        <p:nvSpPr>
          <p:cNvPr id="19" name="Text 14"/>
          <p:cNvSpPr txBox="1"/>
          <p:nvPr/>
        </p:nvSpPr>
        <p:spPr>
          <a:xfrm>
            <a:off x="5138928" y="2697480"/>
            <a:ext cx="1874520" cy="548640"/>
          </a:xfrm>
          <a:prstGeom prst="rect">
            <a:avLst/>
          </a:prstGeom>
          <a:noFill/>
          <a:ln/>
        </p:spPr>
        <p:txBody>
          <a:bodyPr wrap="square" lIns="0" tIns="0" rIns="0" bIns="0" rtlCol="0" anchor="t"/>
          <a:lstStyle/>
          <a:p>
            <a:pPr algn="ctr" indent="0" marL="0">
              <a:buNone/>
            </a:pPr>
            <a:r>
              <a:rPr lang="en-US" sz="1200" dirty="0">
                <a:solidFill>
                  <a:schemeClr val="tx2"/>
                </a:solidFill>
                <a:latin typeface="Calibri" pitchFamily="34" charset="0"/>
                <a:ea typeface="Calibri" pitchFamily="34" charset="-122"/>
                <a:cs typeface="Calibri" pitchFamily="34" charset="-120"/>
              </a:rPr>
              <a:t>2048-sample</a:t>
            </a:r>
            <a:endParaRPr lang="en-US" sz="1200" dirty="0"/>
          </a:p>
          <a:p>
            <a:pPr algn="ctr" indent="0" marL="0">
              <a:buNone/>
            </a:pPr>
            <a:r>
              <a:rPr lang="en-US" sz="1200" dirty="0">
                <a:solidFill>
                  <a:schemeClr val="tx2"/>
                </a:solidFill>
                <a:latin typeface="Calibri" pitchFamily="34" charset="0"/>
                <a:ea typeface="Calibri" pitchFamily="34" charset="-122"/>
                <a:cs typeface="Calibri" pitchFamily="34" charset="-120"/>
              </a:rPr>
              <a:t>windows</a:t>
            </a:r>
            <a:endParaRPr lang="en-US" sz="1200" dirty="0"/>
          </a:p>
        </p:txBody>
      </p:sp>
      <p:sp>
        <p:nvSpPr>
          <p:cNvPr id="20" name="Arrow 2"/>
          <p:cNvSpPr/>
          <p:nvPr/>
        </p:nvSpPr>
        <p:spPr>
          <a:xfrm>
            <a:off x="7086600" y="2263140"/>
            <a:ext cx="274320" cy="274320"/>
          </a:xfrm>
          <a:prstGeom prst="rightArrow">
            <a:avLst/>
          </a:prstGeom>
          <a:solidFill>
            <a:srgbClr val="6B7B8C"/>
          </a:solidFill>
          <a:ln/>
        </p:spPr>
      </p:sp>
      <p:sp>
        <p:nvSpPr>
          <p:cNvPr id="21" name="Features"/>
          <p:cNvSpPr/>
          <p:nvPr/>
        </p:nvSpPr>
        <p:spPr>
          <a:xfrm>
            <a:off x="7434072" y="1508760"/>
            <a:ext cx="1874520" cy="1783080"/>
          </a:xfrm>
          <a:prstGeom prst="roundRect">
            <a:avLst>
              <a:gd name="adj" fmla="val 4103"/>
            </a:avLst>
          </a:prstGeom>
          <a:solidFill>
            <a:srgbClr val="EEF2F5"/>
          </a:solidFill>
          <a:ln/>
          <a:effectLst>
            <a:outerShdw sx="100000" sy="100000" kx="0" ky="0" algn="bl" rotWithShape="0" blurRad="76200" dist="25400" dir="5400000">
              <a:srgbClr val="1C2530">
                <a:alpha val="12000"/>
              </a:srgbClr>
            </a:outerShdw>
          </a:effectLst>
        </p:spPr>
      </p:sp>
      <p:sp>
        <p:nvSpPr>
          <p:cNvPr id="22" name="Features circle"/>
          <p:cNvSpPr/>
          <p:nvPr/>
        </p:nvSpPr>
        <p:spPr>
          <a:xfrm>
            <a:off x="8074152" y="1691640"/>
            <a:ext cx="594360" cy="594360"/>
          </a:xfrm>
          <a:prstGeom prst="ellipse">
            <a:avLst/>
          </a:prstGeom>
          <a:solidFill>
            <a:schemeClr val="tx1"/>
          </a:solidFill>
          <a:ln/>
        </p:spPr>
      </p:sp>
      <p:pic>
        <p:nvPicPr>
          <p:cNvPr id="23" name="Features icon" descr="Features">    </p:cNvPr>
          <p:cNvPicPr>
            <a:picLocks noChangeAspect="1"/>
          </p:cNvPicPr>
          <p:nvPr/>
        </p:nvPicPr>
        <p:blipFill>
          <a:blip r:embed="rId4"/>
          <a:stretch>
            <a:fillRect/>
          </a:stretch>
        </p:blipFill>
        <p:spPr>
          <a:xfrm>
            <a:off x="8228686" y="1846174"/>
            <a:ext cx="285293" cy="285293"/>
          </a:xfrm>
          <a:prstGeom prst="rect">
            <a:avLst/>
          </a:prstGeom>
        </p:spPr>
      </p:pic>
      <p:sp>
        <p:nvSpPr>
          <p:cNvPr id="24" name="Text 18"/>
          <p:cNvSpPr txBox="1"/>
          <p:nvPr/>
        </p:nvSpPr>
        <p:spPr>
          <a:xfrm>
            <a:off x="7434072" y="2377440"/>
            <a:ext cx="1874520" cy="320040"/>
          </a:xfrm>
          <a:prstGeom prst="rect">
            <a:avLst/>
          </a:prstGeom>
          <a:noFill/>
          <a:ln/>
        </p:spPr>
        <p:txBody>
          <a:bodyPr wrap="square" lIns="0" tIns="0" rIns="0" bIns="0" rtlCol="0" anchor="ctr"/>
          <a:lstStyle/>
          <a:p>
            <a:pPr algn="ctr" indent="0" marL="0">
              <a:buNone/>
            </a:pPr>
            <a:r>
              <a:rPr lang="en-US" sz="1500" b="1" dirty="0">
                <a:solidFill>
                  <a:schemeClr val="tx1"/>
                </a:solidFill>
                <a:latin typeface="Calibri" pitchFamily="34" charset="0"/>
                <a:ea typeface="Calibri" pitchFamily="34" charset="-122"/>
                <a:cs typeface="Calibri" pitchFamily="34" charset="-120"/>
              </a:rPr>
              <a:t>Features</a:t>
            </a:r>
            <a:endParaRPr lang="en-US" sz="1500" dirty="0"/>
          </a:p>
        </p:txBody>
      </p:sp>
      <p:sp>
        <p:nvSpPr>
          <p:cNvPr id="25" name="Text 19"/>
          <p:cNvSpPr txBox="1"/>
          <p:nvPr/>
        </p:nvSpPr>
        <p:spPr>
          <a:xfrm>
            <a:off x="7434072" y="2697480"/>
            <a:ext cx="1874520" cy="548640"/>
          </a:xfrm>
          <a:prstGeom prst="rect">
            <a:avLst/>
          </a:prstGeom>
          <a:noFill/>
          <a:ln/>
        </p:spPr>
        <p:txBody>
          <a:bodyPr wrap="square" lIns="0" tIns="0" rIns="0" bIns="0" rtlCol="0" anchor="t"/>
          <a:lstStyle/>
          <a:p>
            <a:pPr algn="ctr" indent="0" marL="0">
              <a:buNone/>
            </a:pPr>
            <a:r>
              <a:rPr lang="en-US" sz="1200" dirty="0">
                <a:solidFill>
                  <a:schemeClr val="tx2"/>
                </a:solidFill>
                <a:latin typeface="Calibri" pitchFamily="34" charset="0"/>
                <a:ea typeface="Calibri" pitchFamily="34" charset="-122"/>
                <a:cs typeface="Calibri" pitchFamily="34" charset="-120"/>
              </a:rPr>
              <a:t>14 features</a:t>
            </a:r>
            <a:endParaRPr lang="en-US" sz="1200" dirty="0"/>
          </a:p>
          <a:p>
            <a:pPr algn="ctr" indent="0" marL="0">
              <a:buNone/>
            </a:pPr>
            <a:r>
              <a:rPr lang="en-US" sz="1200" dirty="0">
                <a:solidFill>
                  <a:schemeClr val="tx2"/>
                </a:solidFill>
                <a:latin typeface="Calibri" pitchFamily="34" charset="0"/>
                <a:ea typeface="Calibri" pitchFamily="34" charset="-122"/>
                <a:cs typeface="Calibri" pitchFamily="34" charset="-120"/>
              </a:rPr>
              <a:t>per window</a:t>
            </a:r>
            <a:endParaRPr lang="en-US" sz="1200" dirty="0"/>
          </a:p>
        </p:txBody>
      </p:sp>
      <p:sp>
        <p:nvSpPr>
          <p:cNvPr id="26" name="Arrow 3"/>
          <p:cNvSpPr/>
          <p:nvPr/>
        </p:nvSpPr>
        <p:spPr>
          <a:xfrm>
            <a:off x="9381744" y="2263140"/>
            <a:ext cx="274320" cy="274320"/>
          </a:xfrm>
          <a:prstGeom prst="rightArrow">
            <a:avLst/>
          </a:prstGeom>
          <a:solidFill>
            <a:srgbClr val="6B7B8C"/>
          </a:solidFill>
          <a:ln/>
        </p:spPr>
      </p:sp>
      <p:sp>
        <p:nvSpPr>
          <p:cNvPr id="27" name="Scaling"/>
          <p:cNvSpPr/>
          <p:nvPr/>
        </p:nvSpPr>
        <p:spPr>
          <a:xfrm>
            <a:off x="9729216" y="1508760"/>
            <a:ext cx="1874520" cy="1783080"/>
          </a:xfrm>
          <a:prstGeom prst="roundRect">
            <a:avLst>
              <a:gd name="adj" fmla="val 4103"/>
            </a:avLst>
          </a:prstGeom>
          <a:solidFill>
            <a:srgbClr val="EEF2F5"/>
          </a:solidFill>
          <a:ln/>
          <a:effectLst>
            <a:outerShdw sx="100000" sy="100000" kx="0" ky="0" algn="bl" rotWithShape="0" blurRad="76200" dist="25400" dir="5400000">
              <a:srgbClr val="1C2530">
                <a:alpha val="12000"/>
              </a:srgbClr>
            </a:outerShdw>
          </a:effectLst>
        </p:spPr>
      </p:sp>
      <p:sp>
        <p:nvSpPr>
          <p:cNvPr id="28" name="Scaling circle"/>
          <p:cNvSpPr/>
          <p:nvPr/>
        </p:nvSpPr>
        <p:spPr>
          <a:xfrm>
            <a:off x="10369296" y="1691640"/>
            <a:ext cx="594360" cy="594360"/>
          </a:xfrm>
          <a:prstGeom prst="ellipse">
            <a:avLst/>
          </a:prstGeom>
          <a:solidFill>
            <a:schemeClr val="tx1"/>
          </a:solidFill>
          <a:ln/>
        </p:spPr>
      </p:sp>
      <p:pic>
        <p:nvPicPr>
          <p:cNvPr id="29" name="Scaling icon" descr="Scaling">    </p:cNvPr>
          <p:cNvPicPr>
            <a:picLocks noChangeAspect="1"/>
          </p:cNvPicPr>
          <p:nvPr/>
        </p:nvPicPr>
        <p:blipFill>
          <a:blip r:embed="rId5"/>
          <a:stretch>
            <a:fillRect/>
          </a:stretch>
        </p:blipFill>
        <p:spPr>
          <a:xfrm>
            <a:off x="10523830" y="1846174"/>
            <a:ext cx="285293" cy="285293"/>
          </a:xfrm>
          <a:prstGeom prst="rect">
            <a:avLst/>
          </a:prstGeom>
        </p:spPr>
      </p:pic>
      <p:sp>
        <p:nvSpPr>
          <p:cNvPr id="30" name="Text 23"/>
          <p:cNvSpPr txBox="1"/>
          <p:nvPr/>
        </p:nvSpPr>
        <p:spPr>
          <a:xfrm>
            <a:off x="9729216" y="2377440"/>
            <a:ext cx="1874520" cy="320040"/>
          </a:xfrm>
          <a:prstGeom prst="rect">
            <a:avLst/>
          </a:prstGeom>
          <a:noFill/>
          <a:ln/>
        </p:spPr>
        <p:txBody>
          <a:bodyPr wrap="square" lIns="0" tIns="0" rIns="0" bIns="0" rtlCol="0" anchor="ctr"/>
          <a:lstStyle/>
          <a:p>
            <a:pPr algn="ctr" indent="0" marL="0">
              <a:buNone/>
            </a:pPr>
            <a:r>
              <a:rPr lang="en-US" sz="1500" b="1" dirty="0">
                <a:solidFill>
                  <a:schemeClr val="tx1"/>
                </a:solidFill>
                <a:latin typeface="Calibri" pitchFamily="34" charset="0"/>
                <a:ea typeface="Calibri" pitchFamily="34" charset="-122"/>
                <a:cs typeface="Calibri" pitchFamily="34" charset="-120"/>
              </a:rPr>
              <a:t>Scaling</a:t>
            </a:r>
            <a:endParaRPr lang="en-US" sz="1500" dirty="0"/>
          </a:p>
        </p:txBody>
      </p:sp>
      <p:sp>
        <p:nvSpPr>
          <p:cNvPr id="31" name="Text 24"/>
          <p:cNvSpPr txBox="1"/>
          <p:nvPr/>
        </p:nvSpPr>
        <p:spPr>
          <a:xfrm>
            <a:off x="9729216" y="2697480"/>
            <a:ext cx="1874520" cy="548640"/>
          </a:xfrm>
          <a:prstGeom prst="rect">
            <a:avLst/>
          </a:prstGeom>
          <a:noFill/>
          <a:ln/>
        </p:spPr>
        <p:txBody>
          <a:bodyPr wrap="square" lIns="0" tIns="0" rIns="0" bIns="0" rtlCol="0" anchor="t"/>
          <a:lstStyle/>
          <a:p>
            <a:pPr algn="ctr" indent="0" marL="0">
              <a:buNone/>
            </a:pPr>
            <a:r>
              <a:rPr lang="en-US" sz="1200" dirty="0">
                <a:solidFill>
                  <a:schemeClr val="tx2"/>
                </a:solidFill>
                <a:latin typeface="Calibri" pitchFamily="34" charset="0"/>
                <a:ea typeface="Calibri" pitchFamily="34" charset="-122"/>
                <a:cs typeface="Calibri" pitchFamily="34" charset="-120"/>
              </a:rPr>
              <a:t>StandardScaler</a:t>
            </a:r>
            <a:endParaRPr lang="en-US" sz="1200" dirty="0"/>
          </a:p>
          <a:p>
            <a:pPr algn="ctr" indent="0" marL="0">
              <a:buNone/>
            </a:pPr>
            <a:r>
              <a:rPr lang="en-US" sz="1200" dirty="0">
                <a:solidFill>
                  <a:schemeClr val="tx2"/>
                </a:solidFill>
                <a:latin typeface="Calibri" pitchFamily="34" charset="0"/>
                <a:ea typeface="Calibri" pitchFamily="34" charset="-122"/>
                <a:cs typeface="Calibri" pitchFamily="34" charset="-120"/>
              </a:rPr>
              <a:t>(mean 0, std 1)</a:t>
            </a:r>
            <a:endParaRPr lang="en-US" sz="1200" dirty="0"/>
          </a:p>
        </p:txBody>
      </p:sp>
      <p:sp>
        <p:nvSpPr>
          <p:cNvPr id="32" name="Arrow down"/>
          <p:cNvSpPr/>
          <p:nvPr/>
        </p:nvSpPr>
        <p:spPr>
          <a:xfrm>
            <a:off x="10529316" y="3364992"/>
            <a:ext cx="274320" cy="320040"/>
          </a:xfrm>
          <a:prstGeom prst="downArrow">
            <a:avLst/>
          </a:prstGeom>
          <a:solidFill>
            <a:srgbClr val="6B7B8C"/>
          </a:solidFill>
          <a:ln/>
        </p:spPr>
      </p:sp>
      <p:sp>
        <p:nvSpPr>
          <p:cNvPr id="33" name="Two Random Forests"/>
          <p:cNvSpPr/>
          <p:nvPr/>
        </p:nvSpPr>
        <p:spPr>
          <a:xfrm>
            <a:off x="7488936" y="3794760"/>
            <a:ext cx="4114800" cy="1371600"/>
          </a:xfrm>
          <a:prstGeom prst="roundRect">
            <a:avLst>
              <a:gd name="adj" fmla="val 5333"/>
            </a:avLst>
          </a:prstGeom>
          <a:solidFill>
            <a:srgbClr val="1C2530"/>
          </a:solidFill>
          <a:ln/>
          <a:effectLst>
            <a:outerShdw sx="100000" sy="100000" kx="0" ky="0" algn="bl" rotWithShape="0" blurRad="76200" dist="25400" dir="5400000">
              <a:srgbClr val="1C2530">
                <a:alpha val="12000"/>
              </a:srgbClr>
            </a:outerShdw>
          </a:effectLst>
        </p:spPr>
      </p:sp>
      <p:sp>
        <p:nvSpPr>
          <p:cNvPr id="34" name="Two Random Forests circle"/>
          <p:cNvSpPr/>
          <p:nvPr/>
        </p:nvSpPr>
        <p:spPr>
          <a:xfrm>
            <a:off x="7717536" y="4023360"/>
            <a:ext cx="594360" cy="594360"/>
          </a:xfrm>
          <a:prstGeom prst="ellipse">
            <a:avLst/>
          </a:prstGeom>
          <a:solidFill>
            <a:schemeClr val="accent1"/>
          </a:solidFill>
          <a:ln/>
        </p:spPr>
      </p:sp>
      <p:pic>
        <p:nvPicPr>
          <p:cNvPr id="35" name="Two Random Forests icon" descr="Two Random Forests">    </p:cNvPr>
          <p:cNvPicPr>
            <a:picLocks noChangeAspect="1"/>
          </p:cNvPicPr>
          <p:nvPr/>
        </p:nvPicPr>
        <p:blipFill>
          <a:blip r:embed="rId6"/>
          <a:stretch>
            <a:fillRect/>
          </a:stretch>
        </p:blipFill>
        <p:spPr>
          <a:xfrm>
            <a:off x="7872070" y="4177894"/>
            <a:ext cx="285293" cy="285293"/>
          </a:xfrm>
          <a:prstGeom prst="rect">
            <a:avLst/>
          </a:prstGeom>
        </p:spPr>
      </p:pic>
      <p:sp>
        <p:nvSpPr>
          <p:cNvPr id="36" name="Text 28"/>
          <p:cNvSpPr txBox="1"/>
          <p:nvPr/>
        </p:nvSpPr>
        <p:spPr>
          <a:xfrm>
            <a:off x="8449056" y="4023360"/>
            <a:ext cx="2971800" cy="365760"/>
          </a:xfrm>
          <a:prstGeom prst="rect">
            <a:avLst/>
          </a:prstGeom>
          <a:noFill/>
          <a:ln/>
        </p:spPr>
        <p:txBody>
          <a:bodyPr wrap="square" lIns="0" tIns="0" rIns="0" bIns="0" rtlCol="0" anchor="ctr"/>
          <a:lstStyle/>
          <a:p>
            <a:pPr indent="0" marL="0">
              <a:buNone/>
            </a:pPr>
            <a:r>
              <a:rPr lang="en-US" sz="1600" b="1" dirty="0">
                <a:solidFill>
                  <a:schemeClr val="bg1"/>
                </a:solidFill>
                <a:latin typeface="Calibri" pitchFamily="34" charset="0"/>
                <a:ea typeface="Calibri" pitchFamily="34" charset="-122"/>
                <a:cs typeface="Calibri" pitchFamily="34" charset="-120"/>
              </a:rPr>
              <a:t>Two Random Forests</a:t>
            </a:r>
            <a:endParaRPr lang="en-US" sz="1600" dirty="0"/>
          </a:p>
        </p:txBody>
      </p:sp>
      <p:sp>
        <p:nvSpPr>
          <p:cNvPr id="37" name="Text 29"/>
          <p:cNvSpPr txBox="1"/>
          <p:nvPr/>
        </p:nvSpPr>
        <p:spPr>
          <a:xfrm>
            <a:off x="8449056" y="4434840"/>
            <a:ext cx="2971800" cy="822960"/>
          </a:xfrm>
          <a:prstGeom prst="rect">
            <a:avLst/>
          </a:prstGeom>
          <a:noFill/>
          <a:ln/>
        </p:spPr>
        <p:txBody>
          <a:bodyPr wrap="square" lIns="0" tIns="0" rIns="0" bIns="0" rtlCol="0" anchor="t"/>
          <a:lstStyle/>
          <a:p>
            <a:pPr indent="0" marL="0">
              <a:buNone/>
            </a:pPr>
            <a:r>
              <a:rPr lang="en-US" sz="1200" dirty="0">
                <a:solidFill>
                  <a:schemeClr val="accent6"/>
                </a:solidFill>
                <a:latin typeface="Calibri" pitchFamily="34" charset="0"/>
                <a:ea typeface="Calibri" pitchFamily="34" charset="-122"/>
                <a:cs typeface="Calibri" pitchFamily="34" charset="-120"/>
              </a:rPr>
              <a:t>#1 Fault type (4 classes)</a:t>
            </a:r>
            <a:endParaRPr lang="en-US" sz="1200" dirty="0"/>
          </a:p>
          <a:p>
            <a:pPr indent="0" marL="0">
              <a:buNone/>
            </a:pPr>
            <a:r>
              <a:rPr lang="en-US" sz="1200" dirty="0">
                <a:solidFill>
                  <a:schemeClr val="accent6"/>
                </a:solidFill>
                <a:latin typeface="Calibri" pitchFamily="34" charset="0"/>
                <a:ea typeface="Calibri" pitchFamily="34" charset="-122"/>
                <a:cs typeface="Calibri" pitchFamily="34" charset="-120"/>
              </a:rPr>
              <a:t>#2 Fault size (0.007" / 0.014" / 0.021")</a:t>
            </a:r>
            <a:endParaRPr lang="en-US" sz="1200" dirty="0"/>
          </a:p>
        </p:txBody>
      </p:sp>
      <p:sp>
        <p:nvSpPr>
          <p:cNvPr id="38" name="Arrow left 0"/>
          <p:cNvSpPr/>
          <p:nvPr/>
        </p:nvSpPr>
        <p:spPr>
          <a:xfrm>
            <a:off x="7036308" y="4343400"/>
            <a:ext cx="274320" cy="274320"/>
          </a:xfrm>
          <a:prstGeom prst="leftArrow">
            <a:avLst/>
          </a:prstGeom>
          <a:solidFill>
            <a:srgbClr val="6B7B8C"/>
          </a:solidFill>
          <a:ln/>
        </p:spPr>
      </p:sp>
      <p:sp>
        <p:nvSpPr>
          <p:cNvPr id="39" name="Safety check"/>
          <p:cNvSpPr/>
          <p:nvPr/>
        </p:nvSpPr>
        <p:spPr>
          <a:xfrm>
            <a:off x="3886200" y="3794760"/>
            <a:ext cx="2971800" cy="1371600"/>
          </a:xfrm>
          <a:prstGeom prst="roundRect">
            <a:avLst>
              <a:gd name="adj" fmla="val 5333"/>
            </a:avLst>
          </a:prstGeom>
          <a:solidFill>
            <a:srgbClr val="EEF2F5"/>
          </a:solidFill>
          <a:ln/>
          <a:effectLst>
            <a:outerShdw sx="100000" sy="100000" kx="0" ky="0" algn="bl" rotWithShape="0" blurRad="76200" dist="25400" dir="5400000">
              <a:srgbClr val="1C2530">
                <a:alpha val="12000"/>
              </a:srgbClr>
            </a:outerShdw>
          </a:effectLst>
        </p:spPr>
      </p:sp>
      <p:sp>
        <p:nvSpPr>
          <p:cNvPr id="40" name="Safety check circle"/>
          <p:cNvSpPr/>
          <p:nvPr/>
        </p:nvSpPr>
        <p:spPr>
          <a:xfrm>
            <a:off x="4114800" y="4023360"/>
            <a:ext cx="594360" cy="594360"/>
          </a:xfrm>
          <a:prstGeom prst="ellipse">
            <a:avLst/>
          </a:prstGeom>
          <a:solidFill>
            <a:schemeClr val="tx1"/>
          </a:solidFill>
          <a:ln/>
        </p:spPr>
      </p:sp>
      <p:pic>
        <p:nvPicPr>
          <p:cNvPr id="41" name="Safety check icon" descr="Safety check">    </p:cNvPr>
          <p:cNvPicPr>
            <a:picLocks noChangeAspect="1"/>
          </p:cNvPicPr>
          <p:nvPr/>
        </p:nvPicPr>
        <p:blipFill>
          <a:blip r:embed="rId7"/>
          <a:stretch>
            <a:fillRect/>
          </a:stretch>
        </p:blipFill>
        <p:spPr>
          <a:xfrm>
            <a:off x="4269334" y="4177894"/>
            <a:ext cx="285293" cy="285293"/>
          </a:xfrm>
          <a:prstGeom prst="rect">
            <a:avLst/>
          </a:prstGeom>
        </p:spPr>
      </p:pic>
      <p:sp>
        <p:nvSpPr>
          <p:cNvPr id="42" name="Text 33"/>
          <p:cNvSpPr txBox="1"/>
          <p:nvPr/>
        </p:nvSpPr>
        <p:spPr>
          <a:xfrm>
            <a:off x="4846320" y="4023360"/>
            <a:ext cx="1828800" cy="365760"/>
          </a:xfrm>
          <a:prstGeom prst="rect">
            <a:avLst/>
          </a:prstGeom>
          <a:noFill/>
          <a:ln/>
        </p:spPr>
        <p:txBody>
          <a:bodyPr wrap="square" lIns="0" tIns="0" rIns="0" bIns="0" rtlCol="0" anchor="ctr"/>
          <a:lstStyle/>
          <a:p>
            <a:pPr indent="0" marL="0">
              <a:buNone/>
            </a:pPr>
            <a:r>
              <a:rPr lang="en-US" sz="1600" b="1" dirty="0">
                <a:solidFill>
                  <a:schemeClr val="tx1"/>
                </a:solidFill>
                <a:latin typeface="Calibri" pitchFamily="34" charset="0"/>
                <a:ea typeface="Calibri" pitchFamily="34" charset="-122"/>
                <a:cs typeface="Calibri" pitchFamily="34" charset="-120"/>
              </a:rPr>
              <a:t>Safety check</a:t>
            </a:r>
            <a:endParaRPr lang="en-US" sz="1600" dirty="0"/>
          </a:p>
        </p:txBody>
      </p:sp>
      <p:sp>
        <p:nvSpPr>
          <p:cNvPr id="43" name="Text 34"/>
          <p:cNvSpPr txBox="1"/>
          <p:nvPr/>
        </p:nvSpPr>
        <p:spPr>
          <a:xfrm>
            <a:off x="4846320" y="4434840"/>
            <a:ext cx="1828800" cy="822960"/>
          </a:xfrm>
          <a:prstGeom prst="rect">
            <a:avLst/>
          </a:prstGeom>
          <a:noFill/>
          <a:ln/>
        </p:spPr>
        <p:txBody>
          <a:bodyPr wrap="square" lIns="0" tIns="0" rIns="0" bIns="0" rtlCol="0" anchor="t"/>
          <a:lstStyle/>
          <a:p>
            <a:pPr indent="0" marL="0">
              <a:buNone/>
            </a:pPr>
            <a:r>
              <a:rPr lang="en-US" sz="1200" dirty="0">
                <a:solidFill>
                  <a:schemeClr val="tx2"/>
                </a:solidFill>
                <a:latin typeface="Calibri" pitchFamily="34" charset="0"/>
                <a:ea typeface="Calibri" pitchFamily="34" charset="-122"/>
                <a:cs typeface="Calibri" pitchFamily="34" charset="-120"/>
              </a:rPr>
              <a:t>Unfamiliar signal or</a:t>
            </a:r>
            <a:endParaRPr lang="en-US" sz="1200" dirty="0"/>
          </a:p>
          <a:p>
            <a:pPr indent="0" marL="0">
              <a:buNone/>
            </a:pPr>
            <a:r>
              <a:rPr lang="en-US" sz="1200" dirty="0">
                <a:solidFill>
                  <a:schemeClr val="tx2"/>
                </a:solidFill>
                <a:latin typeface="Calibri" pitchFamily="34" charset="0"/>
                <a:ea typeface="Calibri" pitchFamily="34" charset="-122"/>
                <a:cs typeface="Calibri" pitchFamily="34" charset="-120"/>
              </a:rPr>
              <a:t>confidence &lt; 60% → "uncertain"</a:t>
            </a:r>
            <a:endParaRPr lang="en-US" sz="1200" dirty="0"/>
          </a:p>
        </p:txBody>
      </p:sp>
      <p:sp>
        <p:nvSpPr>
          <p:cNvPr id="44" name="Arrow left 1"/>
          <p:cNvSpPr/>
          <p:nvPr/>
        </p:nvSpPr>
        <p:spPr>
          <a:xfrm>
            <a:off x="3520440" y="4343400"/>
            <a:ext cx="274320" cy="274320"/>
          </a:xfrm>
          <a:prstGeom prst="leftArrow">
            <a:avLst/>
          </a:prstGeom>
          <a:solidFill>
            <a:srgbClr val="6B7B8C"/>
          </a:solidFill>
          <a:ln/>
        </p:spPr>
      </p:sp>
      <p:sp>
        <p:nvSpPr>
          <p:cNvPr id="45" name="Status"/>
          <p:cNvSpPr/>
          <p:nvPr/>
        </p:nvSpPr>
        <p:spPr>
          <a:xfrm>
            <a:off x="548640" y="3794760"/>
            <a:ext cx="2880360" cy="1371600"/>
          </a:xfrm>
          <a:prstGeom prst="roundRect">
            <a:avLst>
              <a:gd name="adj" fmla="val 5333"/>
            </a:avLst>
          </a:prstGeom>
          <a:solidFill>
            <a:srgbClr val="EEF2F5"/>
          </a:solidFill>
          <a:ln/>
          <a:effectLst>
            <a:outerShdw sx="100000" sy="100000" kx="0" ky="0" algn="bl" rotWithShape="0" blurRad="76200" dist="25400" dir="5400000">
              <a:srgbClr val="1C2530">
                <a:alpha val="12000"/>
              </a:srgbClr>
            </a:outerShdw>
          </a:effectLst>
        </p:spPr>
      </p:sp>
      <p:sp>
        <p:nvSpPr>
          <p:cNvPr id="46" name="Status circle"/>
          <p:cNvSpPr/>
          <p:nvPr/>
        </p:nvSpPr>
        <p:spPr>
          <a:xfrm>
            <a:off x="777240" y="4023360"/>
            <a:ext cx="594360" cy="594360"/>
          </a:xfrm>
          <a:prstGeom prst="ellipse">
            <a:avLst/>
          </a:prstGeom>
          <a:solidFill>
            <a:schemeClr val="tx1"/>
          </a:solidFill>
          <a:ln/>
        </p:spPr>
      </p:sp>
      <p:pic>
        <p:nvPicPr>
          <p:cNvPr id="47" name="Status icon" descr="Status">    </p:cNvPr>
          <p:cNvPicPr>
            <a:picLocks noChangeAspect="1"/>
          </p:cNvPicPr>
          <p:nvPr/>
        </p:nvPicPr>
        <p:blipFill>
          <a:blip r:embed="rId8"/>
          <a:stretch>
            <a:fillRect/>
          </a:stretch>
        </p:blipFill>
        <p:spPr>
          <a:xfrm>
            <a:off x="931774" y="4177894"/>
            <a:ext cx="285293" cy="285293"/>
          </a:xfrm>
          <a:prstGeom prst="rect">
            <a:avLst/>
          </a:prstGeom>
        </p:spPr>
      </p:pic>
      <p:sp>
        <p:nvSpPr>
          <p:cNvPr id="48" name="Text 38"/>
          <p:cNvSpPr txBox="1"/>
          <p:nvPr/>
        </p:nvSpPr>
        <p:spPr>
          <a:xfrm>
            <a:off x="1508760" y="4023360"/>
            <a:ext cx="1737360" cy="365760"/>
          </a:xfrm>
          <a:prstGeom prst="rect">
            <a:avLst/>
          </a:prstGeom>
          <a:noFill/>
          <a:ln/>
        </p:spPr>
        <p:txBody>
          <a:bodyPr wrap="square" lIns="0" tIns="0" rIns="0" bIns="0" rtlCol="0" anchor="ctr"/>
          <a:lstStyle/>
          <a:p>
            <a:pPr indent="0" marL="0">
              <a:buNone/>
            </a:pPr>
            <a:r>
              <a:rPr lang="en-US" sz="1600" b="1" dirty="0">
                <a:solidFill>
                  <a:schemeClr val="tx1"/>
                </a:solidFill>
                <a:latin typeface="Calibri" pitchFamily="34" charset="0"/>
                <a:ea typeface="Calibri" pitchFamily="34" charset="-122"/>
                <a:cs typeface="Calibri" pitchFamily="34" charset="-120"/>
              </a:rPr>
              <a:t>Status</a:t>
            </a:r>
            <a:endParaRPr lang="en-US" sz="1600" dirty="0"/>
          </a:p>
        </p:txBody>
      </p:sp>
      <p:sp>
        <p:nvSpPr>
          <p:cNvPr id="49" name="Text 39"/>
          <p:cNvSpPr txBox="1"/>
          <p:nvPr/>
        </p:nvSpPr>
        <p:spPr>
          <a:xfrm>
            <a:off x="1508760" y="4434840"/>
            <a:ext cx="1737360" cy="822960"/>
          </a:xfrm>
          <a:prstGeom prst="rect">
            <a:avLst/>
          </a:prstGeom>
          <a:noFill/>
          <a:ln/>
        </p:spPr>
        <p:txBody>
          <a:bodyPr wrap="square" lIns="0" tIns="0" rIns="0" bIns="0" rtlCol="0" anchor="t"/>
          <a:lstStyle/>
          <a:p>
            <a:pPr indent="0" marL="0">
              <a:buNone/>
            </a:pPr>
            <a:r>
              <a:rPr lang="en-US" sz="1200" dirty="0">
                <a:solidFill>
                  <a:schemeClr val="tx2"/>
                </a:solidFill>
                <a:latin typeface="Calibri" pitchFamily="34" charset="0"/>
                <a:ea typeface="Calibri" pitchFamily="34" charset="-122"/>
                <a:cs typeface="Calibri" pitchFamily="34" charset="-120"/>
              </a:rPr>
              <a:t>Motor healthy /</a:t>
            </a:r>
            <a:endParaRPr lang="en-US" sz="1200" dirty="0"/>
          </a:p>
          <a:p>
            <a:pPr indent="0" marL="0">
              <a:buNone/>
            </a:pPr>
            <a:r>
              <a:rPr lang="en-US" sz="1200" dirty="0">
                <a:solidFill>
                  <a:schemeClr val="tx2"/>
                </a:solidFill>
                <a:latin typeface="Calibri" pitchFamily="34" charset="0"/>
                <a:ea typeface="Calibri" pitchFamily="34" charset="-122"/>
                <a:cs typeface="Calibri" pitchFamily="34" charset="-120"/>
              </a:rPr>
              <a:t>Motor needs inspection</a:t>
            </a:r>
            <a:endParaRPr lang="en-US" sz="1200" dirty="0"/>
          </a:p>
        </p:txBody>
      </p:sp>
      <p:sp>
        <p:nvSpPr>
          <p:cNvPr id="50" name="Text 40"/>
          <p:cNvSpPr txBox="1"/>
          <p:nvPr/>
        </p:nvSpPr>
        <p:spPr>
          <a:xfrm>
            <a:off x="548640" y="5532120"/>
            <a:ext cx="11094415" cy="365760"/>
          </a:xfrm>
          <a:prstGeom prst="rect">
            <a:avLst/>
          </a:prstGeom>
          <a:noFill/>
          <a:ln/>
        </p:spPr>
        <p:txBody>
          <a:bodyPr wrap="square" lIns="0" tIns="0" rIns="0" bIns="0" rtlCol="0" anchor="ctr"/>
          <a:lstStyle/>
          <a:p>
            <a:pPr indent="0" marL="0">
              <a:buNone/>
            </a:pPr>
            <a:r>
              <a:rPr lang="en-US" sz="1300" i="1" dirty="0">
                <a:solidFill>
                  <a:schemeClr val="accent5"/>
                </a:solidFill>
                <a:latin typeface="Calibri" pitchFamily="34" charset="0"/>
                <a:ea typeface="Calibri" pitchFamily="34" charset="-122"/>
                <a:cs typeface="Calibri" pitchFamily="34" charset="-120"/>
              </a:rPr>
              <a:t>The same feature function is used for training and in the app, so the model always sees identical features.</a:t>
            </a:r>
            <a:endParaRPr lang="en-US" sz="13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B8C"/>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chemeClr val="tx1"/>
                </a:solidFill>
                <a:latin typeface="Arial" pitchFamily="34" charset="0"/>
                <a:ea typeface="Arial" pitchFamily="34" charset="-122"/>
                <a:cs typeface="Arial" pitchFamily="34" charset="-120"/>
              </a:rPr>
              <a:t>Features and algorithm</a:t>
            </a:r>
            <a:endParaRPr lang="en-US" sz="3200" dirty="0"/>
          </a:p>
        </p:txBody>
      </p:sp>
      <p:sp>
        <p:nvSpPr>
          <p:cNvPr id="3" name="Text 1"/>
          <p:cNvSpPr txBox="1"/>
          <p:nvPr/>
        </p:nvSpPr>
        <p:spPr>
          <a:xfrm>
            <a:off x="548640" y="1325880"/>
            <a:ext cx="5029200" cy="365760"/>
          </a:xfrm>
          <a:prstGeom prst="rect">
            <a:avLst/>
          </a:prstGeom>
          <a:noFill/>
          <a:ln/>
        </p:spPr>
        <p:txBody>
          <a:bodyPr wrap="square" lIns="0" tIns="0" rIns="0" bIns="0" rtlCol="0" anchor="ctr"/>
          <a:lstStyle/>
          <a:p>
            <a:pPr indent="0" marL="0">
              <a:buNone/>
            </a:pPr>
            <a:r>
              <a:rPr lang="en-US" sz="1600" b="1" dirty="0">
                <a:solidFill>
                  <a:schemeClr val="tx1"/>
                </a:solidFill>
                <a:latin typeface="Calibri" pitchFamily="34" charset="0"/>
                <a:ea typeface="Calibri" pitchFamily="34" charset="-122"/>
                <a:cs typeface="Calibri" pitchFamily="34" charset="-120"/>
              </a:rPr>
              <a:t>Time domain (9)</a:t>
            </a:r>
            <a:endParaRPr lang="en-US" sz="1600" dirty="0"/>
          </a:p>
        </p:txBody>
      </p:sp>
      <p:sp>
        <p:nvSpPr>
          <p:cNvPr id="4" name="Chip Mean"/>
          <p:cNvSpPr/>
          <p:nvPr/>
        </p:nvSpPr>
        <p:spPr>
          <a:xfrm>
            <a:off x="548640" y="1783080"/>
            <a:ext cx="1572768" cy="384048"/>
          </a:xfrm>
          <a:prstGeom prst="roundRect">
            <a:avLst>
              <a:gd name="adj" fmla="val 50000"/>
            </a:avLst>
          </a:prstGeom>
          <a:solidFill>
            <a:srgbClr val="EEF2F5"/>
          </a:solidFill>
          <a:ln/>
        </p:spPr>
      </p:sp>
      <p:sp>
        <p:nvSpPr>
          <p:cNvPr id="5" name="Text 3"/>
          <p:cNvSpPr txBox="1"/>
          <p:nvPr/>
        </p:nvSpPr>
        <p:spPr>
          <a:xfrm>
            <a:off x="548640" y="1783080"/>
            <a:ext cx="1572768" cy="384048"/>
          </a:xfrm>
          <a:prstGeom prst="rect">
            <a:avLst/>
          </a:prstGeom>
          <a:noFill/>
          <a:ln/>
        </p:spPr>
        <p:txBody>
          <a:bodyPr wrap="square" lIns="0" tIns="0" rIns="0" bIns="0" rtlCol="0" anchor="ctr"/>
          <a:lstStyle/>
          <a:p>
            <a:pPr algn="ctr" indent="0" marL="0">
              <a:buNone/>
            </a:pPr>
            <a:r>
              <a:rPr lang="en-US" sz="1300" dirty="0">
                <a:solidFill>
                  <a:srgbClr val="2B3A4A"/>
                </a:solidFill>
                <a:latin typeface="Calibri" pitchFamily="34" charset="0"/>
                <a:ea typeface="Calibri" pitchFamily="34" charset="-122"/>
                <a:cs typeface="Calibri" pitchFamily="34" charset="-120"/>
              </a:rPr>
              <a:t>Mean</a:t>
            </a:r>
            <a:endParaRPr lang="en-US" sz="1300" dirty="0"/>
          </a:p>
        </p:txBody>
      </p:sp>
      <p:sp>
        <p:nvSpPr>
          <p:cNvPr id="6" name="Chip RMS"/>
          <p:cNvSpPr/>
          <p:nvPr/>
        </p:nvSpPr>
        <p:spPr>
          <a:xfrm>
            <a:off x="2240280" y="1783080"/>
            <a:ext cx="1572768" cy="384048"/>
          </a:xfrm>
          <a:prstGeom prst="roundRect">
            <a:avLst>
              <a:gd name="adj" fmla="val 50000"/>
            </a:avLst>
          </a:prstGeom>
          <a:solidFill>
            <a:srgbClr val="EEF2F5"/>
          </a:solidFill>
          <a:ln/>
        </p:spPr>
      </p:sp>
      <p:sp>
        <p:nvSpPr>
          <p:cNvPr id="7" name="Text 5"/>
          <p:cNvSpPr txBox="1"/>
          <p:nvPr/>
        </p:nvSpPr>
        <p:spPr>
          <a:xfrm>
            <a:off x="2240280" y="1783080"/>
            <a:ext cx="1572768" cy="384048"/>
          </a:xfrm>
          <a:prstGeom prst="rect">
            <a:avLst/>
          </a:prstGeom>
          <a:noFill/>
          <a:ln/>
        </p:spPr>
        <p:txBody>
          <a:bodyPr wrap="square" lIns="0" tIns="0" rIns="0" bIns="0" rtlCol="0" anchor="ctr"/>
          <a:lstStyle/>
          <a:p>
            <a:pPr algn="ctr" indent="0" marL="0">
              <a:buNone/>
            </a:pPr>
            <a:r>
              <a:rPr lang="en-US" sz="1300" dirty="0">
                <a:solidFill>
                  <a:srgbClr val="2B3A4A"/>
                </a:solidFill>
                <a:latin typeface="Calibri" pitchFamily="34" charset="0"/>
                <a:ea typeface="Calibri" pitchFamily="34" charset="-122"/>
                <a:cs typeface="Calibri" pitchFamily="34" charset="-120"/>
              </a:rPr>
              <a:t>RMS</a:t>
            </a:r>
            <a:endParaRPr lang="en-US" sz="1300" dirty="0"/>
          </a:p>
        </p:txBody>
      </p:sp>
      <p:sp>
        <p:nvSpPr>
          <p:cNvPr id="8" name="Chip Variance"/>
          <p:cNvSpPr/>
          <p:nvPr/>
        </p:nvSpPr>
        <p:spPr>
          <a:xfrm>
            <a:off x="3931920" y="1783080"/>
            <a:ext cx="1572768" cy="384048"/>
          </a:xfrm>
          <a:prstGeom prst="roundRect">
            <a:avLst>
              <a:gd name="adj" fmla="val 50000"/>
            </a:avLst>
          </a:prstGeom>
          <a:solidFill>
            <a:srgbClr val="EEF2F5"/>
          </a:solidFill>
          <a:ln/>
        </p:spPr>
      </p:sp>
      <p:sp>
        <p:nvSpPr>
          <p:cNvPr id="9" name="Text 7"/>
          <p:cNvSpPr txBox="1"/>
          <p:nvPr/>
        </p:nvSpPr>
        <p:spPr>
          <a:xfrm>
            <a:off x="3931920" y="1783080"/>
            <a:ext cx="1572768" cy="384048"/>
          </a:xfrm>
          <a:prstGeom prst="rect">
            <a:avLst/>
          </a:prstGeom>
          <a:noFill/>
          <a:ln/>
        </p:spPr>
        <p:txBody>
          <a:bodyPr wrap="square" lIns="0" tIns="0" rIns="0" bIns="0" rtlCol="0" anchor="ctr"/>
          <a:lstStyle/>
          <a:p>
            <a:pPr algn="ctr" indent="0" marL="0">
              <a:buNone/>
            </a:pPr>
            <a:r>
              <a:rPr lang="en-US" sz="1300" dirty="0">
                <a:solidFill>
                  <a:srgbClr val="2B3A4A"/>
                </a:solidFill>
                <a:latin typeface="Calibri" pitchFamily="34" charset="0"/>
                <a:ea typeface="Calibri" pitchFamily="34" charset="-122"/>
                <a:cs typeface="Calibri" pitchFamily="34" charset="-120"/>
              </a:rPr>
              <a:t>Variance</a:t>
            </a:r>
            <a:endParaRPr lang="en-US" sz="1300" dirty="0"/>
          </a:p>
        </p:txBody>
      </p:sp>
      <p:sp>
        <p:nvSpPr>
          <p:cNvPr id="10" name="Chip Std. dev."/>
          <p:cNvSpPr/>
          <p:nvPr/>
        </p:nvSpPr>
        <p:spPr>
          <a:xfrm>
            <a:off x="548640" y="2286000"/>
            <a:ext cx="1572768" cy="384048"/>
          </a:xfrm>
          <a:prstGeom prst="roundRect">
            <a:avLst>
              <a:gd name="adj" fmla="val 50000"/>
            </a:avLst>
          </a:prstGeom>
          <a:solidFill>
            <a:srgbClr val="EEF2F5"/>
          </a:solidFill>
          <a:ln/>
        </p:spPr>
      </p:sp>
      <p:sp>
        <p:nvSpPr>
          <p:cNvPr id="11" name="Text 9"/>
          <p:cNvSpPr txBox="1"/>
          <p:nvPr/>
        </p:nvSpPr>
        <p:spPr>
          <a:xfrm>
            <a:off x="548640" y="2286000"/>
            <a:ext cx="1572768" cy="384048"/>
          </a:xfrm>
          <a:prstGeom prst="rect">
            <a:avLst/>
          </a:prstGeom>
          <a:noFill/>
          <a:ln/>
        </p:spPr>
        <p:txBody>
          <a:bodyPr wrap="square" lIns="0" tIns="0" rIns="0" bIns="0" rtlCol="0" anchor="ctr"/>
          <a:lstStyle/>
          <a:p>
            <a:pPr algn="ctr" indent="0" marL="0">
              <a:buNone/>
            </a:pPr>
            <a:r>
              <a:rPr lang="en-US" sz="1300" dirty="0">
                <a:solidFill>
                  <a:srgbClr val="2B3A4A"/>
                </a:solidFill>
                <a:latin typeface="Calibri" pitchFamily="34" charset="0"/>
                <a:ea typeface="Calibri" pitchFamily="34" charset="-122"/>
                <a:cs typeface="Calibri" pitchFamily="34" charset="-120"/>
              </a:rPr>
              <a:t>Std. dev.</a:t>
            </a:r>
            <a:endParaRPr lang="en-US" sz="1300" dirty="0"/>
          </a:p>
        </p:txBody>
      </p:sp>
      <p:sp>
        <p:nvSpPr>
          <p:cNvPr id="12" name="Chip Peak"/>
          <p:cNvSpPr/>
          <p:nvPr/>
        </p:nvSpPr>
        <p:spPr>
          <a:xfrm>
            <a:off x="2240280" y="2286000"/>
            <a:ext cx="1572768" cy="384048"/>
          </a:xfrm>
          <a:prstGeom prst="roundRect">
            <a:avLst>
              <a:gd name="adj" fmla="val 50000"/>
            </a:avLst>
          </a:prstGeom>
          <a:solidFill>
            <a:srgbClr val="EEF2F5"/>
          </a:solidFill>
          <a:ln/>
        </p:spPr>
      </p:sp>
      <p:sp>
        <p:nvSpPr>
          <p:cNvPr id="13" name="Text 11"/>
          <p:cNvSpPr txBox="1"/>
          <p:nvPr/>
        </p:nvSpPr>
        <p:spPr>
          <a:xfrm>
            <a:off x="2240280" y="2286000"/>
            <a:ext cx="1572768" cy="384048"/>
          </a:xfrm>
          <a:prstGeom prst="rect">
            <a:avLst/>
          </a:prstGeom>
          <a:noFill/>
          <a:ln/>
        </p:spPr>
        <p:txBody>
          <a:bodyPr wrap="square" lIns="0" tIns="0" rIns="0" bIns="0" rtlCol="0" anchor="ctr"/>
          <a:lstStyle/>
          <a:p>
            <a:pPr algn="ctr" indent="0" marL="0">
              <a:buNone/>
            </a:pPr>
            <a:r>
              <a:rPr lang="en-US" sz="1300" dirty="0">
                <a:solidFill>
                  <a:srgbClr val="2B3A4A"/>
                </a:solidFill>
                <a:latin typeface="Calibri" pitchFamily="34" charset="0"/>
                <a:ea typeface="Calibri" pitchFamily="34" charset="-122"/>
                <a:cs typeface="Calibri" pitchFamily="34" charset="-120"/>
              </a:rPr>
              <a:t>Peak</a:t>
            </a:r>
            <a:endParaRPr lang="en-US" sz="1300" dirty="0"/>
          </a:p>
        </p:txBody>
      </p:sp>
      <p:sp>
        <p:nvSpPr>
          <p:cNvPr id="14" name="Chip Peak-to-peak"/>
          <p:cNvSpPr/>
          <p:nvPr/>
        </p:nvSpPr>
        <p:spPr>
          <a:xfrm>
            <a:off x="3931920" y="2286000"/>
            <a:ext cx="1572768" cy="384048"/>
          </a:xfrm>
          <a:prstGeom prst="roundRect">
            <a:avLst>
              <a:gd name="adj" fmla="val 50000"/>
            </a:avLst>
          </a:prstGeom>
          <a:solidFill>
            <a:srgbClr val="EEF2F5"/>
          </a:solidFill>
          <a:ln/>
        </p:spPr>
      </p:sp>
      <p:sp>
        <p:nvSpPr>
          <p:cNvPr id="15" name="Text 13"/>
          <p:cNvSpPr txBox="1"/>
          <p:nvPr/>
        </p:nvSpPr>
        <p:spPr>
          <a:xfrm>
            <a:off x="3931920" y="2286000"/>
            <a:ext cx="1572768" cy="384048"/>
          </a:xfrm>
          <a:prstGeom prst="rect">
            <a:avLst/>
          </a:prstGeom>
          <a:noFill/>
          <a:ln/>
        </p:spPr>
        <p:txBody>
          <a:bodyPr wrap="square" lIns="0" tIns="0" rIns="0" bIns="0" rtlCol="0" anchor="ctr"/>
          <a:lstStyle/>
          <a:p>
            <a:pPr algn="ctr" indent="0" marL="0">
              <a:buNone/>
            </a:pPr>
            <a:r>
              <a:rPr lang="en-US" sz="1300" dirty="0">
                <a:solidFill>
                  <a:srgbClr val="2B3A4A"/>
                </a:solidFill>
                <a:latin typeface="Calibri" pitchFamily="34" charset="0"/>
                <a:ea typeface="Calibri" pitchFamily="34" charset="-122"/>
                <a:cs typeface="Calibri" pitchFamily="34" charset="-120"/>
              </a:rPr>
              <a:t>Peak-to-peak</a:t>
            </a:r>
            <a:endParaRPr lang="en-US" sz="1300" dirty="0"/>
          </a:p>
        </p:txBody>
      </p:sp>
      <p:sp>
        <p:nvSpPr>
          <p:cNvPr id="16" name="Chip Crest factor"/>
          <p:cNvSpPr/>
          <p:nvPr/>
        </p:nvSpPr>
        <p:spPr>
          <a:xfrm>
            <a:off x="548640" y="2788920"/>
            <a:ext cx="1572768" cy="384048"/>
          </a:xfrm>
          <a:prstGeom prst="roundRect">
            <a:avLst>
              <a:gd name="adj" fmla="val 50000"/>
            </a:avLst>
          </a:prstGeom>
          <a:solidFill>
            <a:srgbClr val="EEF2F5"/>
          </a:solidFill>
          <a:ln/>
        </p:spPr>
      </p:sp>
      <p:sp>
        <p:nvSpPr>
          <p:cNvPr id="17" name="Text 15"/>
          <p:cNvSpPr txBox="1"/>
          <p:nvPr/>
        </p:nvSpPr>
        <p:spPr>
          <a:xfrm>
            <a:off x="548640" y="2788920"/>
            <a:ext cx="1572768" cy="384048"/>
          </a:xfrm>
          <a:prstGeom prst="rect">
            <a:avLst/>
          </a:prstGeom>
          <a:noFill/>
          <a:ln/>
        </p:spPr>
        <p:txBody>
          <a:bodyPr wrap="square" lIns="0" tIns="0" rIns="0" bIns="0" rtlCol="0" anchor="ctr"/>
          <a:lstStyle/>
          <a:p>
            <a:pPr algn="ctr" indent="0" marL="0">
              <a:buNone/>
            </a:pPr>
            <a:r>
              <a:rPr lang="en-US" sz="1300" dirty="0">
                <a:solidFill>
                  <a:srgbClr val="2B3A4A"/>
                </a:solidFill>
                <a:latin typeface="Calibri" pitchFamily="34" charset="0"/>
                <a:ea typeface="Calibri" pitchFamily="34" charset="-122"/>
                <a:cs typeface="Calibri" pitchFamily="34" charset="-120"/>
              </a:rPr>
              <a:t>Crest factor</a:t>
            </a:r>
            <a:endParaRPr lang="en-US" sz="1300" dirty="0"/>
          </a:p>
        </p:txBody>
      </p:sp>
      <p:sp>
        <p:nvSpPr>
          <p:cNvPr id="18" name="Chip Kurtosis"/>
          <p:cNvSpPr/>
          <p:nvPr/>
        </p:nvSpPr>
        <p:spPr>
          <a:xfrm>
            <a:off x="2240280" y="2788920"/>
            <a:ext cx="1572768" cy="384048"/>
          </a:xfrm>
          <a:prstGeom prst="roundRect">
            <a:avLst>
              <a:gd name="adj" fmla="val 50000"/>
            </a:avLst>
          </a:prstGeom>
          <a:solidFill>
            <a:srgbClr val="EEF2F5"/>
          </a:solidFill>
          <a:ln/>
        </p:spPr>
      </p:sp>
      <p:sp>
        <p:nvSpPr>
          <p:cNvPr id="19" name="Text 17"/>
          <p:cNvSpPr txBox="1"/>
          <p:nvPr/>
        </p:nvSpPr>
        <p:spPr>
          <a:xfrm>
            <a:off x="2240280" y="2788920"/>
            <a:ext cx="1572768" cy="384048"/>
          </a:xfrm>
          <a:prstGeom prst="rect">
            <a:avLst/>
          </a:prstGeom>
          <a:noFill/>
          <a:ln/>
        </p:spPr>
        <p:txBody>
          <a:bodyPr wrap="square" lIns="0" tIns="0" rIns="0" bIns="0" rtlCol="0" anchor="ctr"/>
          <a:lstStyle/>
          <a:p>
            <a:pPr algn="ctr" indent="0" marL="0">
              <a:buNone/>
            </a:pPr>
            <a:r>
              <a:rPr lang="en-US" sz="1300" dirty="0">
                <a:solidFill>
                  <a:srgbClr val="2B3A4A"/>
                </a:solidFill>
                <a:latin typeface="Calibri" pitchFamily="34" charset="0"/>
                <a:ea typeface="Calibri" pitchFamily="34" charset="-122"/>
                <a:cs typeface="Calibri" pitchFamily="34" charset="-120"/>
              </a:rPr>
              <a:t>Kurtosis</a:t>
            </a:r>
            <a:endParaRPr lang="en-US" sz="1300" dirty="0"/>
          </a:p>
        </p:txBody>
      </p:sp>
      <p:sp>
        <p:nvSpPr>
          <p:cNvPr id="20" name="Chip Skewness"/>
          <p:cNvSpPr/>
          <p:nvPr/>
        </p:nvSpPr>
        <p:spPr>
          <a:xfrm>
            <a:off x="3931920" y="2788920"/>
            <a:ext cx="1572768" cy="384048"/>
          </a:xfrm>
          <a:prstGeom prst="roundRect">
            <a:avLst>
              <a:gd name="adj" fmla="val 50000"/>
            </a:avLst>
          </a:prstGeom>
          <a:solidFill>
            <a:srgbClr val="EEF2F5"/>
          </a:solidFill>
          <a:ln/>
        </p:spPr>
      </p:sp>
      <p:sp>
        <p:nvSpPr>
          <p:cNvPr id="21" name="Text 19"/>
          <p:cNvSpPr txBox="1"/>
          <p:nvPr/>
        </p:nvSpPr>
        <p:spPr>
          <a:xfrm>
            <a:off x="3931920" y="2788920"/>
            <a:ext cx="1572768" cy="384048"/>
          </a:xfrm>
          <a:prstGeom prst="rect">
            <a:avLst/>
          </a:prstGeom>
          <a:noFill/>
          <a:ln/>
        </p:spPr>
        <p:txBody>
          <a:bodyPr wrap="square" lIns="0" tIns="0" rIns="0" bIns="0" rtlCol="0" anchor="ctr"/>
          <a:lstStyle/>
          <a:p>
            <a:pPr algn="ctr" indent="0" marL="0">
              <a:buNone/>
            </a:pPr>
            <a:r>
              <a:rPr lang="en-US" sz="1300" dirty="0">
                <a:solidFill>
                  <a:srgbClr val="2B3A4A"/>
                </a:solidFill>
                <a:latin typeface="Calibri" pitchFamily="34" charset="0"/>
                <a:ea typeface="Calibri" pitchFamily="34" charset="-122"/>
                <a:cs typeface="Calibri" pitchFamily="34" charset="-120"/>
              </a:rPr>
              <a:t>Skewness</a:t>
            </a:r>
            <a:endParaRPr lang="en-US" sz="1300" dirty="0"/>
          </a:p>
        </p:txBody>
      </p:sp>
      <p:sp>
        <p:nvSpPr>
          <p:cNvPr id="22" name="Text 20"/>
          <p:cNvSpPr txBox="1"/>
          <p:nvPr/>
        </p:nvSpPr>
        <p:spPr>
          <a:xfrm>
            <a:off x="548640" y="3429000"/>
            <a:ext cx="5029200" cy="365760"/>
          </a:xfrm>
          <a:prstGeom prst="rect">
            <a:avLst/>
          </a:prstGeom>
          <a:noFill/>
          <a:ln/>
        </p:spPr>
        <p:txBody>
          <a:bodyPr wrap="square" lIns="0" tIns="0" rIns="0" bIns="0" rtlCol="0" anchor="ctr"/>
          <a:lstStyle/>
          <a:p>
            <a:pPr indent="0" marL="0">
              <a:buNone/>
            </a:pPr>
            <a:r>
              <a:rPr lang="en-US" sz="1600" b="1" dirty="0">
                <a:solidFill>
                  <a:schemeClr val="tx1"/>
                </a:solidFill>
                <a:latin typeface="Calibri" pitchFamily="34" charset="0"/>
                <a:ea typeface="Calibri" pitchFamily="34" charset="-122"/>
                <a:cs typeface="Calibri" pitchFamily="34" charset="-120"/>
              </a:rPr>
              <a:t>Frequency domain (5)</a:t>
            </a:r>
            <a:endParaRPr lang="en-US" sz="1600" dirty="0"/>
          </a:p>
        </p:txBody>
      </p:sp>
      <p:sp>
        <p:nvSpPr>
          <p:cNvPr id="23" name="Chip Dominant freq."/>
          <p:cNvSpPr/>
          <p:nvPr/>
        </p:nvSpPr>
        <p:spPr>
          <a:xfrm>
            <a:off x="548640" y="3886200"/>
            <a:ext cx="1572768" cy="384048"/>
          </a:xfrm>
          <a:prstGeom prst="roundRect">
            <a:avLst>
              <a:gd name="adj" fmla="val 50000"/>
            </a:avLst>
          </a:prstGeom>
          <a:solidFill>
            <a:srgbClr val="1C2530"/>
          </a:solidFill>
          <a:ln/>
        </p:spPr>
      </p:sp>
      <p:sp>
        <p:nvSpPr>
          <p:cNvPr id="24" name="Text 22"/>
          <p:cNvSpPr txBox="1"/>
          <p:nvPr/>
        </p:nvSpPr>
        <p:spPr>
          <a:xfrm>
            <a:off x="548640" y="3886200"/>
            <a:ext cx="1572768" cy="384048"/>
          </a:xfrm>
          <a:prstGeom prst="rect">
            <a:avLst/>
          </a:prstGeom>
          <a:noFill/>
          <a:ln/>
        </p:spPr>
        <p:txBody>
          <a:bodyPr wrap="square" lIns="0" tIns="0" rIns="0" bIns="0" rtlCol="0" anchor="ctr"/>
          <a:lstStyle/>
          <a:p>
            <a:pPr algn="ctr" indent="0" marL="0">
              <a:buNone/>
            </a:pPr>
            <a:r>
              <a:rPr lang="en-US" sz="1300" dirty="0">
                <a:solidFill>
                  <a:srgbClr val="FFFFFF"/>
                </a:solidFill>
                <a:latin typeface="Calibri" pitchFamily="34" charset="0"/>
                <a:ea typeface="Calibri" pitchFamily="34" charset="-122"/>
                <a:cs typeface="Calibri" pitchFamily="34" charset="-120"/>
              </a:rPr>
              <a:t>Dominant freq.</a:t>
            </a:r>
            <a:endParaRPr lang="en-US" sz="1300" dirty="0"/>
          </a:p>
        </p:txBody>
      </p:sp>
      <p:sp>
        <p:nvSpPr>
          <p:cNvPr id="25" name="Chip Band 1 energy"/>
          <p:cNvSpPr/>
          <p:nvPr/>
        </p:nvSpPr>
        <p:spPr>
          <a:xfrm>
            <a:off x="2240280" y="3886200"/>
            <a:ext cx="1572768" cy="384048"/>
          </a:xfrm>
          <a:prstGeom prst="roundRect">
            <a:avLst>
              <a:gd name="adj" fmla="val 50000"/>
            </a:avLst>
          </a:prstGeom>
          <a:solidFill>
            <a:srgbClr val="1C2530"/>
          </a:solidFill>
          <a:ln/>
        </p:spPr>
      </p:sp>
      <p:sp>
        <p:nvSpPr>
          <p:cNvPr id="26" name="Text 24"/>
          <p:cNvSpPr txBox="1"/>
          <p:nvPr/>
        </p:nvSpPr>
        <p:spPr>
          <a:xfrm>
            <a:off x="2240280" y="3886200"/>
            <a:ext cx="1572768" cy="384048"/>
          </a:xfrm>
          <a:prstGeom prst="rect">
            <a:avLst/>
          </a:prstGeom>
          <a:noFill/>
          <a:ln/>
        </p:spPr>
        <p:txBody>
          <a:bodyPr wrap="square" lIns="0" tIns="0" rIns="0" bIns="0" rtlCol="0" anchor="ctr"/>
          <a:lstStyle/>
          <a:p>
            <a:pPr algn="ctr" indent="0" marL="0">
              <a:buNone/>
            </a:pPr>
            <a:r>
              <a:rPr lang="en-US" sz="1300" dirty="0">
                <a:solidFill>
                  <a:srgbClr val="FFFFFF"/>
                </a:solidFill>
                <a:latin typeface="Calibri" pitchFamily="34" charset="0"/>
                <a:ea typeface="Calibri" pitchFamily="34" charset="-122"/>
                <a:cs typeface="Calibri" pitchFamily="34" charset="-120"/>
              </a:rPr>
              <a:t>Band 1 energy</a:t>
            </a:r>
            <a:endParaRPr lang="en-US" sz="1300" dirty="0"/>
          </a:p>
        </p:txBody>
      </p:sp>
      <p:sp>
        <p:nvSpPr>
          <p:cNvPr id="27" name="Chip Band 2 energy"/>
          <p:cNvSpPr/>
          <p:nvPr/>
        </p:nvSpPr>
        <p:spPr>
          <a:xfrm>
            <a:off x="3931920" y="3886200"/>
            <a:ext cx="1572768" cy="384048"/>
          </a:xfrm>
          <a:prstGeom prst="roundRect">
            <a:avLst>
              <a:gd name="adj" fmla="val 50000"/>
            </a:avLst>
          </a:prstGeom>
          <a:solidFill>
            <a:srgbClr val="1C2530"/>
          </a:solidFill>
          <a:ln/>
        </p:spPr>
      </p:sp>
      <p:sp>
        <p:nvSpPr>
          <p:cNvPr id="28" name="Text 26"/>
          <p:cNvSpPr txBox="1"/>
          <p:nvPr/>
        </p:nvSpPr>
        <p:spPr>
          <a:xfrm>
            <a:off x="3931920" y="3886200"/>
            <a:ext cx="1572768" cy="384048"/>
          </a:xfrm>
          <a:prstGeom prst="rect">
            <a:avLst/>
          </a:prstGeom>
          <a:noFill/>
          <a:ln/>
        </p:spPr>
        <p:txBody>
          <a:bodyPr wrap="square" lIns="0" tIns="0" rIns="0" bIns="0" rtlCol="0" anchor="ctr"/>
          <a:lstStyle/>
          <a:p>
            <a:pPr algn="ctr" indent="0" marL="0">
              <a:buNone/>
            </a:pPr>
            <a:r>
              <a:rPr lang="en-US" sz="1300" dirty="0">
                <a:solidFill>
                  <a:srgbClr val="FFFFFF"/>
                </a:solidFill>
                <a:latin typeface="Calibri" pitchFamily="34" charset="0"/>
                <a:ea typeface="Calibri" pitchFamily="34" charset="-122"/>
                <a:cs typeface="Calibri" pitchFamily="34" charset="-120"/>
              </a:rPr>
              <a:t>Band 2 energy</a:t>
            </a:r>
            <a:endParaRPr lang="en-US" sz="1300" dirty="0"/>
          </a:p>
        </p:txBody>
      </p:sp>
      <p:sp>
        <p:nvSpPr>
          <p:cNvPr id="29" name="Chip Band 3 energy"/>
          <p:cNvSpPr/>
          <p:nvPr/>
        </p:nvSpPr>
        <p:spPr>
          <a:xfrm>
            <a:off x="548640" y="4389120"/>
            <a:ext cx="1572768" cy="384048"/>
          </a:xfrm>
          <a:prstGeom prst="roundRect">
            <a:avLst>
              <a:gd name="adj" fmla="val 50000"/>
            </a:avLst>
          </a:prstGeom>
          <a:solidFill>
            <a:srgbClr val="1C2530"/>
          </a:solidFill>
          <a:ln/>
        </p:spPr>
      </p:sp>
      <p:sp>
        <p:nvSpPr>
          <p:cNvPr id="30" name="Text 28"/>
          <p:cNvSpPr txBox="1"/>
          <p:nvPr/>
        </p:nvSpPr>
        <p:spPr>
          <a:xfrm>
            <a:off x="548640" y="4389120"/>
            <a:ext cx="1572768" cy="384048"/>
          </a:xfrm>
          <a:prstGeom prst="rect">
            <a:avLst/>
          </a:prstGeom>
          <a:noFill/>
          <a:ln/>
        </p:spPr>
        <p:txBody>
          <a:bodyPr wrap="square" lIns="0" tIns="0" rIns="0" bIns="0" rtlCol="0" anchor="ctr"/>
          <a:lstStyle/>
          <a:p>
            <a:pPr algn="ctr" indent="0" marL="0">
              <a:buNone/>
            </a:pPr>
            <a:r>
              <a:rPr lang="en-US" sz="1300" dirty="0">
                <a:solidFill>
                  <a:srgbClr val="FFFFFF"/>
                </a:solidFill>
                <a:latin typeface="Calibri" pitchFamily="34" charset="0"/>
                <a:ea typeface="Calibri" pitchFamily="34" charset="-122"/>
                <a:cs typeface="Calibri" pitchFamily="34" charset="-120"/>
              </a:rPr>
              <a:t>Band 3 energy</a:t>
            </a:r>
            <a:endParaRPr lang="en-US" sz="1300" dirty="0"/>
          </a:p>
        </p:txBody>
      </p:sp>
      <p:sp>
        <p:nvSpPr>
          <p:cNvPr id="31" name="Chip Band 4 energy"/>
          <p:cNvSpPr/>
          <p:nvPr/>
        </p:nvSpPr>
        <p:spPr>
          <a:xfrm>
            <a:off x="2240280" y="4389120"/>
            <a:ext cx="1572768" cy="384048"/>
          </a:xfrm>
          <a:prstGeom prst="roundRect">
            <a:avLst>
              <a:gd name="adj" fmla="val 50000"/>
            </a:avLst>
          </a:prstGeom>
          <a:solidFill>
            <a:srgbClr val="1C2530"/>
          </a:solidFill>
          <a:ln/>
        </p:spPr>
      </p:sp>
      <p:sp>
        <p:nvSpPr>
          <p:cNvPr id="32" name="Text 30"/>
          <p:cNvSpPr txBox="1"/>
          <p:nvPr/>
        </p:nvSpPr>
        <p:spPr>
          <a:xfrm>
            <a:off x="2240280" y="4389120"/>
            <a:ext cx="1572768" cy="384048"/>
          </a:xfrm>
          <a:prstGeom prst="rect">
            <a:avLst/>
          </a:prstGeom>
          <a:noFill/>
          <a:ln/>
        </p:spPr>
        <p:txBody>
          <a:bodyPr wrap="square" lIns="0" tIns="0" rIns="0" bIns="0" rtlCol="0" anchor="ctr"/>
          <a:lstStyle/>
          <a:p>
            <a:pPr algn="ctr" indent="0" marL="0">
              <a:buNone/>
            </a:pPr>
            <a:r>
              <a:rPr lang="en-US" sz="1300" dirty="0">
                <a:solidFill>
                  <a:srgbClr val="FFFFFF"/>
                </a:solidFill>
                <a:latin typeface="Calibri" pitchFamily="34" charset="0"/>
                <a:ea typeface="Calibri" pitchFamily="34" charset="-122"/>
                <a:cs typeface="Calibri" pitchFamily="34" charset="-120"/>
              </a:rPr>
              <a:t>Band 4 energy</a:t>
            </a:r>
            <a:endParaRPr lang="en-US" sz="1300" dirty="0"/>
          </a:p>
        </p:txBody>
      </p:sp>
      <p:sp>
        <p:nvSpPr>
          <p:cNvPr id="33" name="Text 31"/>
          <p:cNvSpPr txBox="1"/>
          <p:nvPr/>
        </p:nvSpPr>
        <p:spPr>
          <a:xfrm>
            <a:off x="548640" y="5074920"/>
            <a:ext cx="5029200" cy="960120"/>
          </a:xfrm>
          <a:prstGeom prst="rect">
            <a:avLst/>
          </a:prstGeom>
          <a:noFill/>
          <a:ln/>
        </p:spPr>
        <p:txBody>
          <a:bodyPr wrap="square" lIns="0" tIns="0" rIns="0" bIns="0" rtlCol="0" anchor="t"/>
          <a:lstStyle/>
          <a:p>
            <a:pPr indent="0" marL="0">
              <a:buNone/>
            </a:pPr>
            <a:r>
              <a:rPr lang="en-US" sz="1300" b="1" dirty="0">
                <a:solidFill>
                  <a:srgbClr val="1C2530"/>
                </a:solidFill>
                <a:latin typeface="Calibri" pitchFamily="34" charset="0"/>
                <a:ea typeface="Calibri" pitchFamily="34" charset="-122"/>
                <a:cs typeface="Calibri" pitchFamily="34" charset="-120"/>
              </a:rPr>
              <a:t>Model: </a:t>
            </a:r>
            <a:pPr indent="0" marL="0">
              <a:buNone/>
            </a:pPr>
            <a:r>
              <a:rPr lang="en-US" sz="1300" dirty="0">
                <a:solidFill>
                  <a:schemeClr val="tx2"/>
                </a:solidFill>
                <a:latin typeface="Calibri" pitchFamily="34" charset="0"/>
                <a:ea typeface="Calibri" pitchFamily="34" charset="-122"/>
                <a:cs typeface="Calibri" pitchFamily="34" charset="-120"/>
              </a:rPr>
              <a:t>Random Forest, 100 trees, balanced class weights, random_state = 42. Trained on clean windows + one noisy copy each (SNR 0–20 dB).</a:t>
            </a:r>
            <a:endParaRPr lang="en-US" sz="1300" dirty="0"/>
          </a:p>
        </p:txBody>
      </p:sp>
      <p:pic>
        <p:nvPicPr>
          <p:cNvPr id="34" name="Image 0" descr="Feature importance bar chart, top 8 features">    </p:cNvPr>
          <p:cNvPicPr>
            <a:picLocks noChangeAspect="1"/>
          </p:cNvPicPr>
          <p:nvPr/>
        </p:nvPicPr>
        <p:blipFill>
          <a:blip r:embed="rId1"/>
          <a:stretch>
            <a:fillRect/>
          </a:stretch>
        </p:blipFill>
        <p:spPr>
          <a:xfrm>
            <a:off x="6035040" y="1280160"/>
            <a:ext cx="5605272" cy="4754880"/>
          </a:xfrm>
          <a:prstGeom prst="rect">
            <a:avLst/>
          </a:prstGeom>
        </p:spPr>
      </p:pic>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B8C"/>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chemeClr val="tx1"/>
                </a:solidFill>
                <a:latin typeface="Arial" pitchFamily="34" charset="0"/>
                <a:ea typeface="Arial" pitchFamily="34" charset="-122"/>
                <a:cs typeface="Arial" pitchFamily="34" charset="-120"/>
              </a:rPr>
              <a:t>Each fault has its own frequency signature</a:t>
            </a:r>
            <a:endParaRPr lang="en-US" sz="3200" dirty="0"/>
          </a:p>
        </p:txBody>
      </p:sp>
      <p:sp>
        <p:nvSpPr>
          <p:cNvPr id="3" name="Text 1"/>
          <p:cNvSpPr txBox="1"/>
          <p:nvPr/>
        </p:nvSpPr>
        <p:spPr>
          <a:xfrm>
            <a:off x="548640" y="1280160"/>
            <a:ext cx="2743200" cy="320040"/>
          </a:xfrm>
          <a:prstGeom prst="rect">
            <a:avLst/>
          </a:prstGeom>
          <a:noFill/>
          <a:ln/>
        </p:spPr>
        <p:txBody>
          <a:bodyPr wrap="square" lIns="0" tIns="0" rIns="0" bIns="0" rtlCol="0" anchor="ctr"/>
          <a:lstStyle/>
          <a:p>
            <a:pPr indent="0" marL="0">
              <a:buNone/>
            </a:pPr>
            <a:r>
              <a:rPr lang="en-US" sz="1500" b="1" dirty="0">
                <a:solidFill>
                  <a:srgbClr val="2E9E6B"/>
                </a:solidFill>
                <a:latin typeface="Calibri" pitchFamily="34" charset="0"/>
                <a:ea typeface="Calibri" pitchFamily="34" charset="-122"/>
                <a:cs typeface="Calibri" pitchFamily="34" charset="-120"/>
              </a:rPr>
              <a:t>Normal</a:t>
            </a:r>
            <a:endParaRPr lang="en-US" sz="1500" dirty="0"/>
          </a:p>
        </p:txBody>
      </p:sp>
      <p:pic>
        <p:nvPicPr>
          <p:cNvPr id="4" name="Image 0" descr="Normal FFT spectrum">    </p:cNvPr>
          <p:cNvPicPr>
            <a:picLocks noChangeAspect="1"/>
          </p:cNvPicPr>
          <p:nvPr/>
        </p:nvPicPr>
        <p:blipFill>
          <a:blip r:embed="rId1"/>
          <a:stretch>
            <a:fillRect/>
          </a:stretch>
        </p:blipFill>
        <p:spPr>
          <a:xfrm>
            <a:off x="548640" y="1627632"/>
            <a:ext cx="5074920" cy="1973580"/>
          </a:xfrm>
          <a:prstGeom prst="rect">
            <a:avLst/>
          </a:prstGeom>
        </p:spPr>
      </p:pic>
      <p:sp>
        <p:nvSpPr>
          <p:cNvPr id="5" name="Text 2"/>
          <p:cNvSpPr txBox="1"/>
          <p:nvPr/>
        </p:nvSpPr>
        <p:spPr>
          <a:xfrm>
            <a:off x="6537960" y="1280160"/>
            <a:ext cx="2743200" cy="320040"/>
          </a:xfrm>
          <a:prstGeom prst="rect">
            <a:avLst/>
          </a:prstGeom>
          <a:noFill/>
          <a:ln/>
        </p:spPr>
        <p:txBody>
          <a:bodyPr wrap="square" lIns="0" tIns="0" rIns="0" bIns="0" rtlCol="0" anchor="ctr"/>
          <a:lstStyle/>
          <a:p>
            <a:pPr indent="0" marL="0">
              <a:buNone/>
            </a:pPr>
            <a:r>
              <a:rPr lang="en-US" sz="1500" b="1" dirty="0">
                <a:solidFill>
                  <a:srgbClr val="D64545"/>
                </a:solidFill>
                <a:latin typeface="Calibri" pitchFamily="34" charset="0"/>
                <a:ea typeface="Calibri" pitchFamily="34" charset="-122"/>
                <a:cs typeface="Calibri" pitchFamily="34" charset="-120"/>
              </a:rPr>
              <a:t>Inner race fault</a:t>
            </a:r>
            <a:endParaRPr lang="en-US" sz="1500" dirty="0"/>
          </a:p>
        </p:txBody>
      </p:sp>
      <p:pic>
        <p:nvPicPr>
          <p:cNvPr id="6" name="Image 1" descr="Inner race fault FFT spectrum">    </p:cNvPr>
          <p:cNvPicPr>
            <a:picLocks noChangeAspect="1"/>
          </p:cNvPicPr>
          <p:nvPr/>
        </p:nvPicPr>
        <p:blipFill>
          <a:blip r:embed="rId2"/>
          <a:stretch>
            <a:fillRect/>
          </a:stretch>
        </p:blipFill>
        <p:spPr>
          <a:xfrm>
            <a:off x="6537960" y="1627632"/>
            <a:ext cx="5074920" cy="1973580"/>
          </a:xfrm>
          <a:prstGeom prst="rect">
            <a:avLst/>
          </a:prstGeom>
        </p:spPr>
      </p:pic>
      <p:sp>
        <p:nvSpPr>
          <p:cNvPr id="7" name="Text 3"/>
          <p:cNvSpPr txBox="1"/>
          <p:nvPr/>
        </p:nvSpPr>
        <p:spPr>
          <a:xfrm>
            <a:off x="548640" y="3657600"/>
            <a:ext cx="2743200" cy="320040"/>
          </a:xfrm>
          <a:prstGeom prst="rect">
            <a:avLst/>
          </a:prstGeom>
          <a:noFill/>
          <a:ln/>
        </p:spPr>
        <p:txBody>
          <a:bodyPr wrap="square" lIns="0" tIns="0" rIns="0" bIns="0" rtlCol="0" anchor="ctr"/>
          <a:lstStyle/>
          <a:p>
            <a:pPr indent="0" marL="0">
              <a:buNone/>
            </a:pPr>
            <a:r>
              <a:rPr lang="en-US" sz="1500" b="1" dirty="0">
                <a:solidFill>
                  <a:srgbClr val="D64545"/>
                </a:solidFill>
                <a:latin typeface="Calibri" pitchFamily="34" charset="0"/>
                <a:ea typeface="Calibri" pitchFamily="34" charset="-122"/>
                <a:cs typeface="Calibri" pitchFamily="34" charset="-120"/>
              </a:rPr>
              <a:t>Ball fault</a:t>
            </a:r>
            <a:endParaRPr lang="en-US" sz="1500" dirty="0"/>
          </a:p>
        </p:txBody>
      </p:sp>
      <p:pic>
        <p:nvPicPr>
          <p:cNvPr id="8" name="Image 2" descr="Ball fault FFT spectrum">    </p:cNvPr>
          <p:cNvPicPr>
            <a:picLocks noChangeAspect="1"/>
          </p:cNvPicPr>
          <p:nvPr/>
        </p:nvPicPr>
        <p:blipFill>
          <a:blip r:embed="rId3"/>
          <a:stretch>
            <a:fillRect/>
          </a:stretch>
        </p:blipFill>
        <p:spPr>
          <a:xfrm>
            <a:off x="548640" y="4005072"/>
            <a:ext cx="5074920" cy="1973580"/>
          </a:xfrm>
          <a:prstGeom prst="rect">
            <a:avLst/>
          </a:prstGeom>
        </p:spPr>
      </p:pic>
      <p:sp>
        <p:nvSpPr>
          <p:cNvPr id="9" name="Text 4"/>
          <p:cNvSpPr txBox="1"/>
          <p:nvPr/>
        </p:nvSpPr>
        <p:spPr>
          <a:xfrm>
            <a:off x="6537960" y="3657600"/>
            <a:ext cx="2743200" cy="320040"/>
          </a:xfrm>
          <a:prstGeom prst="rect">
            <a:avLst/>
          </a:prstGeom>
          <a:noFill/>
          <a:ln/>
        </p:spPr>
        <p:txBody>
          <a:bodyPr wrap="square" lIns="0" tIns="0" rIns="0" bIns="0" rtlCol="0" anchor="ctr"/>
          <a:lstStyle/>
          <a:p>
            <a:pPr indent="0" marL="0">
              <a:buNone/>
            </a:pPr>
            <a:r>
              <a:rPr lang="en-US" sz="1500" b="1" dirty="0">
                <a:solidFill>
                  <a:srgbClr val="D64545"/>
                </a:solidFill>
                <a:latin typeface="Calibri" pitchFamily="34" charset="0"/>
                <a:ea typeface="Calibri" pitchFamily="34" charset="-122"/>
                <a:cs typeface="Calibri" pitchFamily="34" charset="-120"/>
              </a:rPr>
              <a:t>Outer race fault</a:t>
            </a:r>
            <a:endParaRPr lang="en-US" sz="1500" dirty="0"/>
          </a:p>
        </p:txBody>
      </p:sp>
      <p:pic>
        <p:nvPicPr>
          <p:cNvPr id="10" name="Image 3" descr="Outer race fault FFT spectrum">    </p:cNvPr>
          <p:cNvPicPr>
            <a:picLocks noChangeAspect="1"/>
          </p:cNvPicPr>
          <p:nvPr/>
        </p:nvPicPr>
        <p:blipFill>
          <a:blip r:embed="rId4"/>
          <a:stretch>
            <a:fillRect/>
          </a:stretch>
        </p:blipFill>
        <p:spPr>
          <a:xfrm>
            <a:off x="6537960" y="4005072"/>
            <a:ext cx="5074920" cy="1973580"/>
          </a:xfrm>
          <a:prstGeom prst="rect">
            <a:avLst/>
          </a:prstGeom>
        </p:spPr>
      </p:pic>
      <p:sp>
        <p:nvSpPr>
          <p:cNvPr id="11" name="Text 5"/>
          <p:cNvSpPr txBox="1"/>
          <p:nvPr/>
        </p:nvSpPr>
        <p:spPr>
          <a:xfrm>
            <a:off x="548640" y="6053328"/>
            <a:ext cx="11094415" cy="274320"/>
          </a:xfrm>
          <a:prstGeom prst="rect">
            <a:avLst/>
          </a:prstGeom>
          <a:noFill/>
          <a:ln/>
        </p:spPr>
        <p:txBody>
          <a:bodyPr wrap="square" lIns="0" tIns="0" rIns="0" bIns="0" rtlCol="0" anchor="ctr"/>
          <a:lstStyle/>
          <a:p>
            <a:pPr indent="0" marL="0">
              <a:buNone/>
            </a:pPr>
            <a:r>
              <a:rPr lang="en-US" sz="1200" i="1" dirty="0">
                <a:solidFill>
                  <a:schemeClr val="accent5"/>
                </a:solidFill>
                <a:latin typeface="Calibri" pitchFamily="34" charset="0"/>
                <a:ea typeface="Calibri" pitchFamily="34" charset="-122"/>
                <a:cs typeface="Calibri" pitchFamily="34" charset="-120"/>
              </a:rPr>
              <a:t>FFT spectra of the first 2048 samples of each 0 HP recording (0.007" faults). Faults move the vibration energy into different frequency bands.</a:t>
            </a:r>
            <a:endParaRPr lang="en-US" sz="12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B8C"/>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chemeClr val="tx1"/>
                </a:solidFill>
                <a:latin typeface="Arial" pitchFamily="34" charset="0"/>
                <a:ea typeface="Arial" pitchFamily="34" charset="-122"/>
                <a:cs typeface="Arial" pitchFamily="34" charset="-120"/>
              </a:rPr>
              <a:t>Results: accuracy on unseen data</a:t>
            </a:r>
            <a:endParaRPr lang="en-US" sz="3200" dirty="0"/>
          </a:p>
        </p:txBody>
      </p:sp>
      <p:sp>
        <p:nvSpPr>
          <p:cNvPr id="3" name="Stat 0"/>
          <p:cNvSpPr/>
          <p:nvPr/>
        </p:nvSpPr>
        <p:spPr>
          <a:xfrm>
            <a:off x="548640" y="1371600"/>
            <a:ext cx="3108960" cy="2240280"/>
          </a:xfrm>
          <a:prstGeom prst="roundRect">
            <a:avLst>
              <a:gd name="adj" fmla="val 3265"/>
            </a:avLst>
          </a:prstGeom>
          <a:solidFill>
            <a:srgbClr val="EEF2F5"/>
          </a:solidFill>
          <a:ln/>
          <a:effectLst>
            <a:outerShdw sx="100000" sy="100000" kx="0" ky="0" algn="bl" rotWithShape="0" blurRad="76200" dist="25400" dir="5400000">
              <a:srgbClr val="1C2530">
                <a:alpha val="12000"/>
              </a:srgbClr>
            </a:outerShdw>
          </a:effectLst>
        </p:spPr>
      </p:sp>
      <p:sp>
        <p:nvSpPr>
          <p:cNvPr id="4" name="Text 2"/>
          <p:cNvSpPr txBox="1"/>
          <p:nvPr/>
        </p:nvSpPr>
        <p:spPr>
          <a:xfrm>
            <a:off x="822960" y="1645920"/>
            <a:ext cx="2560320" cy="274320"/>
          </a:xfrm>
          <a:prstGeom prst="rect">
            <a:avLst/>
          </a:prstGeom>
          <a:noFill/>
          <a:ln/>
        </p:spPr>
        <p:txBody>
          <a:bodyPr wrap="square" lIns="0" tIns="0" rIns="0" bIns="0" rtlCol="0" anchor="ctr"/>
          <a:lstStyle/>
          <a:p>
            <a:pPr indent="0" marL="0">
              <a:buNone/>
            </a:pPr>
            <a:r>
              <a:rPr lang="en-US" sz="1200" b="1" spc="100" kern="0" dirty="0">
                <a:solidFill>
                  <a:schemeClr val="accent2"/>
                </a:solidFill>
                <a:latin typeface="Calibri" pitchFamily="34" charset="0"/>
                <a:ea typeface="Calibri" pitchFamily="34" charset="-122"/>
                <a:cs typeface="Calibri" pitchFamily="34" charset="-120"/>
              </a:rPr>
              <a:t>FAULT TYPE</a:t>
            </a:r>
            <a:endParaRPr lang="en-US" sz="1200" dirty="0"/>
          </a:p>
        </p:txBody>
      </p:sp>
      <p:sp>
        <p:nvSpPr>
          <p:cNvPr id="5" name="Text 3"/>
          <p:cNvSpPr txBox="1"/>
          <p:nvPr/>
        </p:nvSpPr>
        <p:spPr>
          <a:xfrm>
            <a:off x="822960" y="1965960"/>
            <a:ext cx="2560320" cy="822960"/>
          </a:xfrm>
          <a:prstGeom prst="rect">
            <a:avLst/>
          </a:prstGeom>
          <a:noFill/>
          <a:ln/>
        </p:spPr>
        <p:txBody>
          <a:bodyPr wrap="square" lIns="0" tIns="0" rIns="0" bIns="0" rtlCol="0" anchor="ctr"/>
          <a:lstStyle/>
          <a:p>
            <a:pPr indent="0" marL="0">
              <a:buNone/>
            </a:pPr>
            <a:r>
              <a:rPr lang="en-US" sz="4400" b="1" dirty="0">
                <a:solidFill>
                  <a:schemeClr val="tx1"/>
                </a:solidFill>
                <a:latin typeface="Arial" pitchFamily="34" charset="0"/>
                <a:ea typeface="Arial" pitchFamily="34" charset="-122"/>
                <a:cs typeface="Arial" pitchFamily="34" charset="-120"/>
              </a:rPr>
              <a:t>99.57%</a:t>
            </a:r>
            <a:endParaRPr lang="en-US" sz="4400" dirty="0"/>
          </a:p>
        </p:txBody>
      </p:sp>
      <p:sp>
        <p:nvSpPr>
          <p:cNvPr id="6" name="Text 4"/>
          <p:cNvSpPr txBox="1"/>
          <p:nvPr/>
        </p:nvSpPr>
        <p:spPr>
          <a:xfrm>
            <a:off x="822960" y="2834640"/>
            <a:ext cx="2560320" cy="640080"/>
          </a:xfrm>
          <a:prstGeom prst="rect">
            <a:avLst/>
          </a:prstGeom>
          <a:noFill/>
          <a:ln/>
        </p:spPr>
        <p:txBody>
          <a:bodyPr wrap="square" lIns="0" tIns="0" rIns="0" bIns="0" rtlCol="0" anchor="t"/>
          <a:lstStyle/>
          <a:p>
            <a:pPr indent="0" marL="0">
              <a:buNone/>
            </a:pPr>
            <a:r>
              <a:rPr lang="en-US" sz="1200" dirty="0">
                <a:solidFill>
                  <a:schemeClr val="tx2"/>
                </a:solidFill>
                <a:latin typeface="Calibri" pitchFamily="34" charset="0"/>
                <a:ea typeface="Calibri" pitchFamily="34" charset="-122"/>
                <a:cs typeface="Calibri" pitchFamily="34" charset="-120"/>
              </a:rPr>
              <a:t>Random 80/20 split · 467 test windows</a:t>
            </a:r>
            <a:endParaRPr lang="en-US" sz="1200" dirty="0"/>
          </a:p>
        </p:txBody>
      </p:sp>
      <p:sp>
        <p:nvSpPr>
          <p:cNvPr id="7" name="Stat 1"/>
          <p:cNvSpPr/>
          <p:nvPr/>
        </p:nvSpPr>
        <p:spPr>
          <a:xfrm>
            <a:off x="3931920" y="1371600"/>
            <a:ext cx="3108960" cy="2240280"/>
          </a:xfrm>
          <a:prstGeom prst="roundRect">
            <a:avLst>
              <a:gd name="adj" fmla="val 3265"/>
            </a:avLst>
          </a:prstGeom>
          <a:solidFill>
            <a:srgbClr val="1C2530"/>
          </a:solidFill>
          <a:ln/>
          <a:effectLst>
            <a:outerShdw sx="100000" sy="100000" kx="0" ky="0" algn="bl" rotWithShape="0" blurRad="76200" dist="25400" dir="5400000">
              <a:srgbClr val="1C2530">
                <a:alpha val="12000"/>
              </a:srgbClr>
            </a:outerShdw>
          </a:effectLst>
        </p:spPr>
      </p:sp>
      <p:sp>
        <p:nvSpPr>
          <p:cNvPr id="8" name="Text 6"/>
          <p:cNvSpPr txBox="1"/>
          <p:nvPr/>
        </p:nvSpPr>
        <p:spPr>
          <a:xfrm>
            <a:off x="4206240" y="1645920"/>
            <a:ext cx="2560320" cy="274320"/>
          </a:xfrm>
          <a:prstGeom prst="rect">
            <a:avLst/>
          </a:prstGeom>
          <a:noFill/>
          <a:ln/>
        </p:spPr>
        <p:txBody>
          <a:bodyPr wrap="square" lIns="0" tIns="0" rIns="0" bIns="0" rtlCol="0" anchor="ctr"/>
          <a:lstStyle/>
          <a:p>
            <a:pPr indent="0" marL="0">
              <a:buNone/>
            </a:pPr>
            <a:r>
              <a:rPr lang="en-US" sz="1200" b="1" spc="100" kern="0" dirty="0">
                <a:solidFill>
                  <a:schemeClr val="accent1"/>
                </a:solidFill>
                <a:latin typeface="Calibri" pitchFamily="34" charset="0"/>
                <a:ea typeface="Calibri" pitchFamily="34" charset="-122"/>
                <a:cs typeface="Calibri" pitchFamily="34" charset="-120"/>
              </a:rPr>
              <a:t>FAULT TYPE</a:t>
            </a:r>
            <a:endParaRPr lang="en-US" sz="1200" dirty="0"/>
          </a:p>
        </p:txBody>
      </p:sp>
      <p:sp>
        <p:nvSpPr>
          <p:cNvPr id="9" name="Text 7"/>
          <p:cNvSpPr txBox="1"/>
          <p:nvPr/>
        </p:nvSpPr>
        <p:spPr>
          <a:xfrm>
            <a:off x="4206240" y="1965960"/>
            <a:ext cx="2560320" cy="822960"/>
          </a:xfrm>
          <a:prstGeom prst="rect">
            <a:avLst/>
          </a:prstGeom>
          <a:noFill/>
          <a:ln/>
        </p:spPr>
        <p:txBody>
          <a:bodyPr wrap="square" lIns="0" tIns="0" rIns="0" bIns="0" rtlCol="0" anchor="ctr"/>
          <a:lstStyle/>
          <a:p>
            <a:pPr indent="0" marL="0">
              <a:buNone/>
            </a:pPr>
            <a:r>
              <a:rPr lang="en-US" sz="4400" b="1" dirty="0">
                <a:solidFill>
                  <a:schemeClr val="bg1"/>
                </a:solidFill>
                <a:latin typeface="Arial" pitchFamily="34" charset="0"/>
                <a:ea typeface="Arial" pitchFamily="34" charset="-122"/>
                <a:cs typeface="Arial" pitchFamily="34" charset="-120"/>
              </a:rPr>
              <a:t>98.82%</a:t>
            </a:r>
            <a:endParaRPr lang="en-US" sz="4400" dirty="0"/>
          </a:p>
        </p:txBody>
      </p:sp>
      <p:sp>
        <p:nvSpPr>
          <p:cNvPr id="10" name="Text 8"/>
          <p:cNvSpPr txBox="1"/>
          <p:nvPr/>
        </p:nvSpPr>
        <p:spPr>
          <a:xfrm>
            <a:off x="4206240" y="2834640"/>
            <a:ext cx="2560320" cy="640080"/>
          </a:xfrm>
          <a:prstGeom prst="rect">
            <a:avLst/>
          </a:prstGeom>
          <a:noFill/>
          <a:ln/>
        </p:spPr>
        <p:txBody>
          <a:bodyPr wrap="square" lIns="0" tIns="0" rIns="0" bIns="0" rtlCol="0" anchor="t"/>
          <a:lstStyle/>
          <a:p>
            <a:pPr indent="0" marL="0">
              <a:buNone/>
            </a:pPr>
            <a:r>
              <a:rPr lang="en-US" sz="1200" dirty="0">
                <a:solidFill>
                  <a:schemeClr val="accent6"/>
                </a:solidFill>
                <a:latin typeface="Calibri" pitchFamily="34" charset="0"/>
                <a:ea typeface="Calibri" pitchFamily="34" charset="-122"/>
                <a:cs typeface="Calibri" pitchFamily="34" charset="-120"/>
              </a:rPr>
              <a:t>Train 0–2 HP, test unseen 3 HP · 591 windows</a:t>
            </a:r>
            <a:endParaRPr lang="en-US" sz="1200" dirty="0"/>
          </a:p>
        </p:txBody>
      </p:sp>
      <p:sp>
        <p:nvSpPr>
          <p:cNvPr id="11" name="Stat 2"/>
          <p:cNvSpPr/>
          <p:nvPr/>
        </p:nvSpPr>
        <p:spPr>
          <a:xfrm>
            <a:off x="548640" y="3886200"/>
            <a:ext cx="3108960" cy="2240280"/>
          </a:xfrm>
          <a:prstGeom prst="roundRect">
            <a:avLst>
              <a:gd name="adj" fmla="val 3265"/>
            </a:avLst>
          </a:prstGeom>
          <a:solidFill>
            <a:srgbClr val="EEF2F5"/>
          </a:solidFill>
          <a:ln/>
          <a:effectLst>
            <a:outerShdw sx="100000" sy="100000" kx="0" ky="0" algn="bl" rotWithShape="0" blurRad="76200" dist="25400" dir="5400000">
              <a:srgbClr val="1C2530">
                <a:alpha val="12000"/>
              </a:srgbClr>
            </a:outerShdw>
          </a:effectLst>
        </p:spPr>
      </p:sp>
      <p:sp>
        <p:nvSpPr>
          <p:cNvPr id="12" name="Text 10"/>
          <p:cNvSpPr txBox="1"/>
          <p:nvPr/>
        </p:nvSpPr>
        <p:spPr>
          <a:xfrm>
            <a:off x="822960" y="4160520"/>
            <a:ext cx="2560320" cy="274320"/>
          </a:xfrm>
          <a:prstGeom prst="rect">
            <a:avLst/>
          </a:prstGeom>
          <a:noFill/>
          <a:ln/>
        </p:spPr>
        <p:txBody>
          <a:bodyPr wrap="square" lIns="0" tIns="0" rIns="0" bIns="0" rtlCol="0" anchor="ctr"/>
          <a:lstStyle/>
          <a:p>
            <a:pPr indent="0" marL="0">
              <a:buNone/>
            </a:pPr>
            <a:r>
              <a:rPr lang="en-US" sz="1200" b="1" spc="100" kern="0" dirty="0">
                <a:solidFill>
                  <a:schemeClr val="accent2"/>
                </a:solidFill>
                <a:latin typeface="Calibri" pitchFamily="34" charset="0"/>
                <a:ea typeface="Calibri" pitchFamily="34" charset="-122"/>
                <a:cs typeface="Calibri" pitchFamily="34" charset="-120"/>
              </a:rPr>
              <a:t>FAULT SIZE</a:t>
            </a:r>
            <a:endParaRPr lang="en-US" sz="1200" dirty="0"/>
          </a:p>
        </p:txBody>
      </p:sp>
      <p:sp>
        <p:nvSpPr>
          <p:cNvPr id="13" name="Text 11"/>
          <p:cNvSpPr txBox="1"/>
          <p:nvPr/>
        </p:nvSpPr>
        <p:spPr>
          <a:xfrm>
            <a:off x="822960" y="4480560"/>
            <a:ext cx="2560320" cy="822960"/>
          </a:xfrm>
          <a:prstGeom prst="rect">
            <a:avLst/>
          </a:prstGeom>
          <a:noFill/>
          <a:ln/>
        </p:spPr>
        <p:txBody>
          <a:bodyPr wrap="square" lIns="0" tIns="0" rIns="0" bIns="0" rtlCol="0" anchor="ctr"/>
          <a:lstStyle/>
          <a:p>
            <a:pPr indent="0" marL="0">
              <a:buNone/>
            </a:pPr>
            <a:r>
              <a:rPr lang="en-US" sz="4400" b="1" dirty="0">
                <a:solidFill>
                  <a:schemeClr val="tx1"/>
                </a:solidFill>
                <a:latin typeface="Arial" pitchFamily="34" charset="0"/>
                <a:ea typeface="Arial" pitchFamily="34" charset="-122"/>
                <a:cs typeface="Arial" pitchFamily="34" charset="-120"/>
              </a:rPr>
              <a:t>99.76%</a:t>
            </a:r>
            <a:endParaRPr lang="en-US" sz="4400" dirty="0"/>
          </a:p>
        </p:txBody>
      </p:sp>
      <p:sp>
        <p:nvSpPr>
          <p:cNvPr id="14" name="Text 12"/>
          <p:cNvSpPr txBox="1"/>
          <p:nvPr/>
        </p:nvSpPr>
        <p:spPr>
          <a:xfrm>
            <a:off x="822960" y="5349240"/>
            <a:ext cx="2560320" cy="640080"/>
          </a:xfrm>
          <a:prstGeom prst="rect">
            <a:avLst/>
          </a:prstGeom>
          <a:noFill/>
          <a:ln/>
        </p:spPr>
        <p:txBody>
          <a:bodyPr wrap="square" lIns="0" tIns="0" rIns="0" bIns="0" rtlCol="0" anchor="t"/>
          <a:lstStyle/>
          <a:p>
            <a:pPr indent="0" marL="0">
              <a:buNone/>
            </a:pPr>
            <a:r>
              <a:rPr lang="en-US" sz="1200" dirty="0">
                <a:solidFill>
                  <a:schemeClr val="tx2"/>
                </a:solidFill>
                <a:latin typeface="Calibri" pitchFamily="34" charset="0"/>
                <a:ea typeface="Calibri" pitchFamily="34" charset="-122"/>
                <a:cs typeface="Calibri" pitchFamily="34" charset="-120"/>
              </a:rPr>
              <a:t>Random 80/20 split · 425 test windows</a:t>
            </a:r>
            <a:endParaRPr lang="en-US" sz="1200" dirty="0"/>
          </a:p>
        </p:txBody>
      </p:sp>
      <p:sp>
        <p:nvSpPr>
          <p:cNvPr id="15" name="Stat 3"/>
          <p:cNvSpPr/>
          <p:nvPr/>
        </p:nvSpPr>
        <p:spPr>
          <a:xfrm>
            <a:off x="3931920" y="3886200"/>
            <a:ext cx="3108960" cy="2240280"/>
          </a:xfrm>
          <a:prstGeom prst="roundRect">
            <a:avLst>
              <a:gd name="adj" fmla="val 3265"/>
            </a:avLst>
          </a:prstGeom>
          <a:solidFill>
            <a:srgbClr val="1C2530"/>
          </a:solidFill>
          <a:ln/>
          <a:effectLst>
            <a:outerShdw sx="100000" sy="100000" kx="0" ky="0" algn="bl" rotWithShape="0" blurRad="76200" dist="25400" dir="5400000">
              <a:srgbClr val="1C2530">
                <a:alpha val="12000"/>
              </a:srgbClr>
            </a:outerShdw>
          </a:effectLst>
        </p:spPr>
      </p:sp>
      <p:sp>
        <p:nvSpPr>
          <p:cNvPr id="16" name="Text 14"/>
          <p:cNvSpPr txBox="1"/>
          <p:nvPr/>
        </p:nvSpPr>
        <p:spPr>
          <a:xfrm>
            <a:off x="4206240" y="4160520"/>
            <a:ext cx="2560320" cy="274320"/>
          </a:xfrm>
          <a:prstGeom prst="rect">
            <a:avLst/>
          </a:prstGeom>
          <a:noFill/>
          <a:ln/>
        </p:spPr>
        <p:txBody>
          <a:bodyPr wrap="square" lIns="0" tIns="0" rIns="0" bIns="0" rtlCol="0" anchor="ctr"/>
          <a:lstStyle/>
          <a:p>
            <a:pPr indent="0" marL="0">
              <a:buNone/>
            </a:pPr>
            <a:r>
              <a:rPr lang="en-US" sz="1200" b="1" spc="100" kern="0" dirty="0">
                <a:solidFill>
                  <a:schemeClr val="accent1"/>
                </a:solidFill>
                <a:latin typeface="Calibri" pitchFamily="34" charset="0"/>
                <a:ea typeface="Calibri" pitchFamily="34" charset="-122"/>
                <a:cs typeface="Calibri" pitchFamily="34" charset="-120"/>
              </a:rPr>
              <a:t>FAULT SIZE</a:t>
            </a:r>
            <a:endParaRPr lang="en-US" sz="1200" dirty="0"/>
          </a:p>
        </p:txBody>
      </p:sp>
      <p:sp>
        <p:nvSpPr>
          <p:cNvPr id="17" name="Text 15"/>
          <p:cNvSpPr txBox="1"/>
          <p:nvPr/>
        </p:nvSpPr>
        <p:spPr>
          <a:xfrm>
            <a:off x="4206240" y="4480560"/>
            <a:ext cx="2560320" cy="822960"/>
          </a:xfrm>
          <a:prstGeom prst="rect">
            <a:avLst/>
          </a:prstGeom>
          <a:noFill/>
          <a:ln/>
        </p:spPr>
        <p:txBody>
          <a:bodyPr wrap="square" lIns="0" tIns="0" rIns="0" bIns="0" rtlCol="0" anchor="ctr"/>
          <a:lstStyle/>
          <a:p>
            <a:pPr indent="0" marL="0">
              <a:buNone/>
            </a:pPr>
            <a:r>
              <a:rPr lang="en-US" sz="4400" b="1" dirty="0">
                <a:solidFill>
                  <a:schemeClr val="bg1"/>
                </a:solidFill>
                <a:latin typeface="Arial" pitchFamily="34" charset="0"/>
                <a:ea typeface="Arial" pitchFamily="34" charset="-122"/>
                <a:cs typeface="Arial" pitchFamily="34" charset="-120"/>
              </a:rPr>
              <a:t>99.25%</a:t>
            </a:r>
            <a:endParaRPr lang="en-US" sz="4400" dirty="0"/>
          </a:p>
        </p:txBody>
      </p:sp>
      <p:sp>
        <p:nvSpPr>
          <p:cNvPr id="18" name="Text 16"/>
          <p:cNvSpPr txBox="1"/>
          <p:nvPr/>
        </p:nvSpPr>
        <p:spPr>
          <a:xfrm>
            <a:off x="4206240" y="5349240"/>
            <a:ext cx="2560320" cy="640080"/>
          </a:xfrm>
          <a:prstGeom prst="rect">
            <a:avLst/>
          </a:prstGeom>
          <a:noFill/>
          <a:ln/>
        </p:spPr>
        <p:txBody>
          <a:bodyPr wrap="square" lIns="0" tIns="0" rIns="0" bIns="0" rtlCol="0" anchor="t"/>
          <a:lstStyle/>
          <a:p>
            <a:pPr indent="0" marL="0">
              <a:buNone/>
            </a:pPr>
            <a:r>
              <a:rPr lang="en-US" sz="1200" dirty="0">
                <a:solidFill>
                  <a:schemeClr val="accent6"/>
                </a:solidFill>
                <a:latin typeface="Calibri" pitchFamily="34" charset="0"/>
                <a:ea typeface="Calibri" pitchFamily="34" charset="-122"/>
                <a:cs typeface="Calibri" pitchFamily="34" charset="-120"/>
              </a:rPr>
              <a:t>Train 0–2 HP, test unseen 3 HP · 532 windows</a:t>
            </a:r>
            <a:endParaRPr lang="en-US" sz="1200" dirty="0"/>
          </a:p>
        </p:txBody>
      </p:sp>
      <p:pic>
        <p:nvPicPr>
          <p:cNvPr id="19" name="Image 0" descr="Confusion matrix: train 0-2 HP, test 3 HP">    </p:cNvPr>
          <p:cNvPicPr>
            <a:picLocks noChangeAspect="1"/>
          </p:cNvPicPr>
          <p:nvPr/>
        </p:nvPicPr>
        <p:blipFill>
          <a:blip r:embed="rId1"/>
          <a:stretch>
            <a:fillRect/>
          </a:stretch>
        </p:blipFill>
        <p:spPr>
          <a:xfrm>
            <a:off x="7116775" y="1280160"/>
            <a:ext cx="4526280" cy="3879669"/>
          </a:xfrm>
          <a:prstGeom prst="rect">
            <a:avLst/>
          </a:prstGeom>
        </p:spPr>
      </p:pic>
      <p:sp>
        <p:nvSpPr>
          <p:cNvPr id="20" name="Text 17"/>
          <p:cNvSpPr txBox="1"/>
          <p:nvPr/>
        </p:nvSpPr>
        <p:spPr>
          <a:xfrm>
            <a:off x="7116775" y="5205549"/>
            <a:ext cx="4526280" cy="365760"/>
          </a:xfrm>
          <a:prstGeom prst="rect">
            <a:avLst/>
          </a:prstGeom>
          <a:noFill/>
          <a:ln/>
        </p:spPr>
        <p:txBody>
          <a:bodyPr wrap="square" lIns="0" tIns="0" rIns="0" bIns="0" rtlCol="0" anchor="ctr"/>
          <a:lstStyle/>
          <a:p>
            <a:pPr algn="ctr" indent="0" marL="0">
              <a:buNone/>
            </a:pPr>
            <a:r>
              <a:rPr lang="en-US" sz="1200" i="1" dirty="0">
                <a:solidFill>
                  <a:schemeClr val="accent5"/>
                </a:solidFill>
                <a:latin typeface="Calibri" pitchFamily="34" charset="0"/>
                <a:ea typeface="Calibri" pitchFamily="34" charset="-122"/>
                <a:cs typeface="Calibri" pitchFamily="34" charset="-120"/>
              </a:rPr>
              <a:t>Normal detected perfectly (59/59) at the unseen load.</a:t>
            </a:r>
            <a:endParaRPr lang="en-US" sz="12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B8C"/>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chemeClr val="tx1"/>
                </a:solidFill>
                <a:latin typeface="Arial" pitchFamily="34" charset="0"/>
                <a:ea typeface="Arial" pitchFamily="34" charset="-122"/>
                <a:cs typeface="Arial" pitchFamily="34" charset="-120"/>
              </a:rPr>
              <a:t>Robust to noisy signals</a:t>
            </a:r>
            <a:endParaRPr lang="en-US" sz="3200" dirty="0"/>
          </a:p>
        </p:txBody>
      </p:sp>
      <p:pic>
        <p:nvPicPr>
          <p:cNvPr id="3" name="Image 0" descr="Line chart: accuracy versus added noise for two models">    </p:cNvPr>
          <p:cNvPicPr>
            <a:picLocks noChangeAspect="1"/>
          </p:cNvPicPr>
          <p:nvPr/>
        </p:nvPicPr>
        <p:blipFill>
          <a:blip r:embed="rId1"/>
          <a:stretch>
            <a:fillRect/>
          </a:stretch>
        </p:blipFill>
        <p:spPr>
          <a:xfrm>
            <a:off x="548640" y="1280160"/>
            <a:ext cx="6949440" cy="4754880"/>
          </a:xfrm>
          <a:prstGeom prst="rect">
            <a:avLst/>
          </a:prstGeom>
        </p:spPr>
      </p:pic>
      <p:sp>
        <p:nvSpPr>
          <p:cNvPr id="4" name="Noise stat"/>
          <p:cNvSpPr/>
          <p:nvPr/>
        </p:nvSpPr>
        <p:spPr>
          <a:xfrm>
            <a:off x="7863840" y="1371600"/>
            <a:ext cx="3779215" cy="2286000"/>
          </a:xfrm>
          <a:prstGeom prst="roundRect">
            <a:avLst>
              <a:gd name="adj" fmla="val 3200"/>
            </a:avLst>
          </a:prstGeom>
          <a:solidFill>
            <a:srgbClr val="1C2530"/>
          </a:solidFill>
          <a:ln/>
          <a:effectLst>
            <a:outerShdw sx="100000" sy="100000" kx="0" ky="0" algn="bl" rotWithShape="0" blurRad="76200" dist="25400" dir="5400000">
              <a:srgbClr val="1C2530">
                <a:alpha val="12000"/>
              </a:srgbClr>
            </a:outerShdw>
          </a:effectLst>
        </p:spPr>
      </p:sp>
      <p:sp>
        <p:nvSpPr>
          <p:cNvPr id="5" name="Text 2"/>
          <p:cNvSpPr txBox="1"/>
          <p:nvPr/>
        </p:nvSpPr>
        <p:spPr>
          <a:xfrm>
            <a:off x="8138160" y="1600200"/>
            <a:ext cx="3230575" cy="274320"/>
          </a:xfrm>
          <a:prstGeom prst="rect">
            <a:avLst/>
          </a:prstGeom>
          <a:noFill/>
          <a:ln/>
        </p:spPr>
        <p:txBody>
          <a:bodyPr wrap="square" lIns="0" tIns="0" rIns="0" bIns="0" rtlCol="0" anchor="ctr"/>
          <a:lstStyle/>
          <a:p>
            <a:pPr indent="0" marL="0">
              <a:buNone/>
            </a:pPr>
            <a:r>
              <a:rPr lang="en-US" sz="1200" b="1" spc="100" kern="0" dirty="0">
                <a:solidFill>
                  <a:schemeClr val="accent1"/>
                </a:solidFill>
                <a:latin typeface="Calibri" pitchFamily="34" charset="0"/>
                <a:ea typeface="Calibri" pitchFamily="34" charset="-122"/>
                <a:cs typeface="Calibri" pitchFamily="34" charset="-120"/>
              </a:rPr>
              <a:t>AT 0 dB (NOISE = SIGNAL)</a:t>
            </a:r>
            <a:endParaRPr lang="en-US" sz="1200" dirty="0"/>
          </a:p>
        </p:txBody>
      </p:sp>
      <p:sp>
        <p:nvSpPr>
          <p:cNvPr id="6" name="Text 3"/>
          <p:cNvSpPr txBox="1"/>
          <p:nvPr/>
        </p:nvSpPr>
        <p:spPr>
          <a:xfrm>
            <a:off x="8138160" y="1920240"/>
            <a:ext cx="3230575" cy="365760"/>
          </a:xfrm>
          <a:prstGeom prst="rect">
            <a:avLst/>
          </a:prstGeom>
          <a:noFill/>
          <a:ln/>
        </p:spPr>
        <p:txBody>
          <a:bodyPr wrap="square" lIns="0" tIns="0" rIns="0" bIns="0" rtlCol="0" anchor="ctr"/>
          <a:lstStyle/>
          <a:p>
            <a:pPr indent="0" marL="0">
              <a:buNone/>
            </a:pPr>
            <a:r>
              <a:rPr lang="en-US" sz="1800" b="1" dirty="0">
                <a:solidFill>
                  <a:schemeClr val="accent6"/>
                </a:solidFill>
                <a:latin typeface="Calibri" pitchFamily="34" charset="0"/>
                <a:ea typeface="Calibri" pitchFamily="34" charset="-122"/>
                <a:cs typeface="Calibri" pitchFamily="34" charset="-120"/>
              </a:rPr>
              <a:t>Before: 65.1%</a:t>
            </a:r>
            <a:endParaRPr lang="en-US" sz="1800" dirty="0"/>
          </a:p>
        </p:txBody>
      </p:sp>
      <p:sp>
        <p:nvSpPr>
          <p:cNvPr id="7" name="Text 4"/>
          <p:cNvSpPr txBox="1"/>
          <p:nvPr/>
        </p:nvSpPr>
        <p:spPr>
          <a:xfrm>
            <a:off x="8138160" y="2286000"/>
            <a:ext cx="3230575" cy="777240"/>
          </a:xfrm>
          <a:prstGeom prst="rect">
            <a:avLst/>
          </a:prstGeom>
          <a:noFill/>
          <a:ln/>
        </p:spPr>
        <p:txBody>
          <a:bodyPr wrap="square" lIns="0" tIns="0" rIns="0" bIns="0" rtlCol="0" anchor="ctr"/>
          <a:lstStyle/>
          <a:p>
            <a:pPr indent="0" marL="0">
              <a:buNone/>
            </a:pPr>
            <a:r>
              <a:rPr lang="en-US" sz="4800" b="1" dirty="0">
                <a:solidFill>
                  <a:schemeClr val="bg1"/>
                </a:solidFill>
                <a:latin typeface="Arial" pitchFamily="34" charset="0"/>
                <a:ea typeface="Arial" pitchFamily="34" charset="-122"/>
                <a:cs typeface="Arial" pitchFamily="34" charset="-120"/>
              </a:rPr>
              <a:t>92.5%</a:t>
            </a:r>
            <a:endParaRPr lang="en-US" sz="4800" dirty="0"/>
          </a:p>
        </p:txBody>
      </p:sp>
      <p:sp>
        <p:nvSpPr>
          <p:cNvPr id="8" name="Text 5"/>
          <p:cNvSpPr txBox="1"/>
          <p:nvPr/>
        </p:nvSpPr>
        <p:spPr>
          <a:xfrm>
            <a:off x="8138160" y="3108960"/>
            <a:ext cx="3230575" cy="365760"/>
          </a:xfrm>
          <a:prstGeom prst="rect">
            <a:avLst/>
          </a:prstGeom>
          <a:noFill/>
          <a:ln/>
        </p:spPr>
        <p:txBody>
          <a:bodyPr wrap="square" lIns="0" tIns="0" rIns="0" bIns="0" rtlCol="0" anchor="t"/>
          <a:lstStyle/>
          <a:p>
            <a:pPr indent="0" marL="0">
              <a:buNone/>
            </a:pPr>
            <a:r>
              <a:rPr lang="en-US" sz="1300" dirty="0">
                <a:solidFill>
                  <a:schemeClr val="accent6"/>
                </a:solidFill>
                <a:latin typeface="Calibri" pitchFamily="34" charset="0"/>
                <a:ea typeface="Calibri" pitchFamily="34" charset="-122"/>
                <a:cs typeface="Calibri" pitchFamily="34" charset="-120"/>
              </a:rPr>
              <a:t>accuracy after training with noisy copies</a:t>
            </a:r>
            <a:endParaRPr lang="en-US" sz="1300" dirty="0"/>
          </a:p>
        </p:txBody>
      </p:sp>
      <p:sp>
        <p:nvSpPr>
          <p:cNvPr id="9" name="Text 6"/>
          <p:cNvSpPr txBox="1"/>
          <p:nvPr/>
        </p:nvSpPr>
        <p:spPr>
          <a:xfrm>
            <a:off x="7863840" y="3931920"/>
            <a:ext cx="3779215" cy="2103120"/>
          </a:xfrm>
          <a:prstGeom prst="rect">
            <a:avLst/>
          </a:prstGeom>
          <a:noFill/>
          <a:ln/>
        </p:spPr>
        <p:txBody>
          <a:bodyPr wrap="square" lIns="0" tIns="0" rIns="0" bIns="0" rtlCol="0" anchor="t"/>
          <a:lstStyle/>
          <a:p>
            <a:pPr indent="0" marL="0">
              <a:spcAft>
                <a:spcPts val="800"/>
              </a:spcAft>
              <a:buNone/>
            </a:pPr>
            <a:r>
              <a:rPr lang="en-US" sz="1400" b="1" dirty="0">
                <a:solidFill>
                  <a:srgbClr val="1C2530"/>
                </a:solidFill>
                <a:latin typeface="Calibri" pitchFamily="34" charset="0"/>
                <a:ea typeface="Calibri" pitchFamily="34" charset="-122"/>
                <a:cs typeface="Calibri" pitchFamily="34" charset="-120"/>
              </a:rPr>
              <a:t>How we tested: </a:t>
            </a:r>
            <a:pPr indent="0" marL="0">
              <a:spcAft>
                <a:spcPts val="800"/>
              </a:spcAft>
              <a:buNone/>
            </a:pPr>
            <a:r>
              <a:rPr lang="en-US" sz="1400" dirty="0">
                <a:solidFill>
                  <a:schemeClr val="tx2"/>
                </a:solidFill>
                <a:latin typeface="Calibri" pitchFamily="34" charset="0"/>
                <a:ea typeface="Calibri" pitchFamily="34" charset="-122"/>
                <a:cs typeface="Calibri" pitchFamily="34" charset="-120"/>
              </a:rPr>
              <a:t>random noise added to the 467 test windows at decreasing signal-to-noise ratios.</a:t>
            </a:r>
            <a:endParaRPr lang="en-US" sz="1400" dirty="0"/>
          </a:p>
          <a:p>
            <a:pPr indent="0" marL="0">
              <a:spcAft>
                <a:spcPts val="800"/>
              </a:spcAft>
              <a:buNone/>
            </a:pPr>
            <a:r>
              <a:rPr lang="en-US" sz="1400" b="1" dirty="0">
                <a:solidFill>
                  <a:srgbClr val="1C2530"/>
                </a:solidFill>
                <a:latin typeface="Calibri" pitchFamily="34" charset="0"/>
                <a:ea typeface="Calibri" pitchFamily="34" charset="-122"/>
                <a:cs typeface="Calibri" pitchFamily="34" charset="-120"/>
              </a:rPr>
              <a:t>Trade-off: </a:t>
            </a:r>
            <a:pPr indent="0" marL="0">
              <a:spcAft>
                <a:spcPts val="800"/>
              </a:spcAft>
              <a:buNone/>
            </a:pPr>
            <a:r>
              <a:rPr lang="en-US" sz="1400" dirty="0">
                <a:solidFill>
                  <a:schemeClr val="tx2"/>
                </a:solidFill>
                <a:latin typeface="Calibri" pitchFamily="34" charset="0"/>
                <a:ea typeface="Calibri" pitchFamily="34" charset="-122"/>
                <a:cs typeface="Calibri" pitchFamily="34" charset="-120"/>
              </a:rPr>
              <a:t>only 0.21 points lower on clean data, so the noise-trained model is used in the app.</a:t>
            </a:r>
            <a:endParaRPr lang="en-US" sz="14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B8C"/>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chemeClr val="tx1"/>
                </a:solidFill>
                <a:latin typeface="Arial" pitchFamily="34" charset="0"/>
                <a:ea typeface="Arial" pitchFamily="34" charset="-122"/>
                <a:cs typeface="Arial" pitchFamily="34" charset="-120"/>
              </a:rPr>
              <a:t>Where the model struggles</a:t>
            </a:r>
            <a:endParaRPr lang="en-US" sz="3200" dirty="0"/>
          </a:p>
        </p:txBody>
      </p:sp>
      <p:pic>
        <p:nvPicPr>
          <p:cNvPr id="3" name="Image 0" descr="Bar chart: accuracy under unseen load, unseen fault sizes and other sensor">    </p:cNvPr>
          <p:cNvPicPr>
            <a:picLocks noChangeAspect="1"/>
          </p:cNvPicPr>
          <p:nvPr/>
        </p:nvPicPr>
        <p:blipFill>
          <a:blip r:embed="rId1"/>
          <a:stretch>
            <a:fillRect/>
          </a:stretch>
        </p:blipFill>
        <p:spPr>
          <a:xfrm>
            <a:off x="548640" y="1280160"/>
            <a:ext cx="6949440" cy="4754880"/>
          </a:xfrm>
          <a:prstGeom prst="rect">
            <a:avLst/>
          </a:prstGeom>
        </p:spPr>
      </p:pic>
      <p:pic>
        <p:nvPicPr>
          <p:cNvPr id="4" name="Generalises across load icon" descr="Generalises across load">    </p:cNvPr>
          <p:cNvPicPr>
            <a:picLocks noChangeAspect="1"/>
          </p:cNvPicPr>
          <p:nvPr/>
        </p:nvPicPr>
        <p:blipFill>
          <a:blip r:embed="rId2"/>
          <a:stretch>
            <a:fillRect/>
          </a:stretch>
        </p:blipFill>
        <p:spPr>
          <a:xfrm>
            <a:off x="7863840" y="1444752"/>
            <a:ext cx="411480" cy="411480"/>
          </a:xfrm>
          <a:prstGeom prst="rect">
            <a:avLst/>
          </a:prstGeom>
        </p:spPr>
      </p:pic>
      <p:sp>
        <p:nvSpPr>
          <p:cNvPr id="5" name="Text 1"/>
          <p:cNvSpPr txBox="1"/>
          <p:nvPr/>
        </p:nvSpPr>
        <p:spPr>
          <a:xfrm>
            <a:off x="8412480" y="1417320"/>
            <a:ext cx="3230575" cy="365760"/>
          </a:xfrm>
          <a:prstGeom prst="rect">
            <a:avLst/>
          </a:prstGeom>
          <a:noFill/>
          <a:ln/>
        </p:spPr>
        <p:txBody>
          <a:bodyPr wrap="square" lIns="0" tIns="0" rIns="0" bIns="0" rtlCol="0" anchor="ctr"/>
          <a:lstStyle/>
          <a:p>
            <a:pPr indent="0" marL="0">
              <a:buNone/>
            </a:pPr>
            <a:r>
              <a:rPr lang="en-US" sz="1600" b="1" dirty="0">
                <a:solidFill>
                  <a:schemeClr val="tx1"/>
                </a:solidFill>
                <a:latin typeface="Calibri" pitchFamily="34" charset="0"/>
                <a:ea typeface="Calibri" pitchFamily="34" charset="-122"/>
                <a:cs typeface="Calibri" pitchFamily="34" charset="-120"/>
              </a:rPr>
              <a:t>Generalises across load</a:t>
            </a:r>
            <a:endParaRPr lang="en-US" sz="1600" dirty="0"/>
          </a:p>
        </p:txBody>
      </p:sp>
      <p:sp>
        <p:nvSpPr>
          <p:cNvPr id="6" name="Text 2"/>
          <p:cNvSpPr txBox="1"/>
          <p:nvPr/>
        </p:nvSpPr>
        <p:spPr>
          <a:xfrm>
            <a:off x="8412480" y="1801368"/>
            <a:ext cx="3230575" cy="685800"/>
          </a:xfrm>
          <a:prstGeom prst="rect">
            <a:avLst/>
          </a:prstGeom>
          <a:noFill/>
          <a:ln/>
        </p:spPr>
        <p:txBody>
          <a:bodyPr wrap="square" lIns="0" tIns="0" rIns="0" bIns="0" rtlCol="0" anchor="t"/>
          <a:lstStyle/>
          <a:p>
            <a:pPr indent="0" marL="0">
              <a:buNone/>
            </a:pPr>
            <a:r>
              <a:rPr lang="en-US" sz="1300" dirty="0">
                <a:solidFill>
                  <a:schemeClr val="tx2"/>
                </a:solidFill>
                <a:latin typeface="Calibri" pitchFamily="34" charset="0"/>
                <a:ea typeface="Calibri" pitchFamily="34" charset="-122"/>
                <a:cs typeface="Calibri" pitchFamily="34" charset="-120"/>
              </a:rPr>
              <a:t>Trained on 0–2 HP, still 98.8% at 3 HP.</a:t>
            </a:r>
            <a:endParaRPr lang="en-US" sz="1300" dirty="0"/>
          </a:p>
        </p:txBody>
      </p:sp>
      <p:pic>
        <p:nvPicPr>
          <p:cNvPr id="7" name="Not to new crack sizes icon" descr="Not to new crack sizes">    </p:cNvPr>
          <p:cNvPicPr>
            <a:picLocks noChangeAspect="1"/>
          </p:cNvPicPr>
          <p:nvPr/>
        </p:nvPicPr>
        <p:blipFill>
          <a:blip r:embed="rId3"/>
          <a:stretch>
            <a:fillRect/>
          </a:stretch>
        </p:blipFill>
        <p:spPr>
          <a:xfrm>
            <a:off x="7863840" y="2633472"/>
            <a:ext cx="411480" cy="411480"/>
          </a:xfrm>
          <a:prstGeom prst="rect">
            <a:avLst/>
          </a:prstGeom>
        </p:spPr>
      </p:pic>
      <p:sp>
        <p:nvSpPr>
          <p:cNvPr id="8" name="Text 3"/>
          <p:cNvSpPr txBox="1"/>
          <p:nvPr/>
        </p:nvSpPr>
        <p:spPr>
          <a:xfrm>
            <a:off x="8412480" y="2606040"/>
            <a:ext cx="3230575" cy="365760"/>
          </a:xfrm>
          <a:prstGeom prst="rect">
            <a:avLst/>
          </a:prstGeom>
          <a:noFill/>
          <a:ln/>
        </p:spPr>
        <p:txBody>
          <a:bodyPr wrap="square" lIns="0" tIns="0" rIns="0" bIns="0" rtlCol="0" anchor="ctr"/>
          <a:lstStyle/>
          <a:p>
            <a:pPr indent="0" marL="0">
              <a:buNone/>
            </a:pPr>
            <a:r>
              <a:rPr lang="en-US" sz="1600" b="1" dirty="0">
                <a:solidFill>
                  <a:schemeClr val="tx1"/>
                </a:solidFill>
                <a:latin typeface="Calibri" pitchFamily="34" charset="0"/>
                <a:ea typeface="Calibri" pitchFamily="34" charset="-122"/>
                <a:cs typeface="Calibri" pitchFamily="34" charset="-120"/>
              </a:rPr>
              <a:t>Not to new crack sizes</a:t>
            </a:r>
            <a:endParaRPr lang="en-US" sz="1600" dirty="0"/>
          </a:p>
        </p:txBody>
      </p:sp>
      <p:sp>
        <p:nvSpPr>
          <p:cNvPr id="9" name="Text 4"/>
          <p:cNvSpPr txBox="1"/>
          <p:nvPr/>
        </p:nvSpPr>
        <p:spPr>
          <a:xfrm>
            <a:off x="8412480" y="2990088"/>
            <a:ext cx="3230575" cy="685800"/>
          </a:xfrm>
          <a:prstGeom prst="rect">
            <a:avLst/>
          </a:prstGeom>
          <a:noFill/>
          <a:ln/>
        </p:spPr>
        <p:txBody>
          <a:bodyPr wrap="square" lIns="0" tIns="0" rIns="0" bIns="0" rtlCol="0" anchor="t"/>
          <a:lstStyle/>
          <a:p>
            <a:pPr indent="0" marL="0">
              <a:buNone/>
            </a:pPr>
            <a:r>
              <a:rPr lang="en-US" sz="1300" dirty="0">
                <a:solidFill>
                  <a:schemeClr val="tx2"/>
                </a:solidFill>
                <a:latin typeface="Calibri" pitchFamily="34" charset="0"/>
                <a:ea typeface="Calibri" pitchFamily="34" charset="-122"/>
                <a:cs typeface="Calibri" pitchFamily="34" charset="-120"/>
              </a:rPr>
              <a:t>Leaving one size out of training drops accuracy to 32.1–63.1%.</a:t>
            </a:r>
            <a:endParaRPr lang="en-US" sz="1300" dirty="0"/>
          </a:p>
        </p:txBody>
      </p:sp>
      <p:pic>
        <p:nvPicPr>
          <p:cNvPr id="10" name="Not to a new sensor position icon" descr="Not to a new sensor position">    </p:cNvPr>
          <p:cNvPicPr>
            <a:picLocks noChangeAspect="1"/>
          </p:cNvPicPr>
          <p:nvPr/>
        </p:nvPicPr>
        <p:blipFill>
          <a:blip r:embed="rId4"/>
          <a:stretch>
            <a:fillRect/>
          </a:stretch>
        </p:blipFill>
        <p:spPr>
          <a:xfrm>
            <a:off x="7863840" y="3822192"/>
            <a:ext cx="411480" cy="411480"/>
          </a:xfrm>
          <a:prstGeom prst="rect">
            <a:avLst/>
          </a:prstGeom>
        </p:spPr>
      </p:pic>
      <p:sp>
        <p:nvSpPr>
          <p:cNvPr id="11" name="Text 5"/>
          <p:cNvSpPr txBox="1"/>
          <p:nvPr/>
        </p:nvSpPr>
        <p:spPr>
          <a:xfrm>
            <a:off x="8412480" y="3794760"/>
            <a:ext cx="3230575" cy="365760"/>
          </a:xfrm>
          <a:prstGeom prst="rect">
            <a:avLst/>
          </a:prstGeom>
          <a:noFill/>
          <a:ln/>
        </p:spPr>
        <p:txBody>
          <a:bodyPr wrap="square" lIns="0" tIns="0" rIns="0" bIns="0" rtlCol="0" anchor="ctr"/>
          <a:lstStyle/>
          <a:p>
            <a:pPr indent="0" marL="0">
              <a:buNone/>
            </a:pPr>
            <a:r>
              <a:rPr lang="en-US" sz="1600" b="1" dirty="0">
                <a:solidFill>
                  <a:schemeClr val="tx1"/>
                </a:solidFill>
                <a:latin typeface="Calibri" pitchFamily="34" charset="0"/>
                <a:ea typeface="Calibri" pitchFamily="34" charset="-122"/>
                <a:cs typeface="Calibri" pitchFamily="34" charset="-120"/>
              </a:rPr>
              <a:t>Not to a new sensor position</a:t>
            </a:r>
            <a:endParaRPr lang="en-US" sz="1600" dirty="0"/>
          </a:p>
        </p:txBody>
      </p:sp>
      <p:sp>
        <p:nvSpPr>
          <p:cNvPr id="12" name="Text 6"/>
          <p:cNvSpPr txBox="1"/>
          <p:nvPr/>
        </p:nvSpPr>
        <p:spPr>
          <a:xfrm>
            <a:off x="8412480" y="4178808"/>
            <a:ext cx="3230575" cy="685800"/>
          </a:xfrm>
          <a:prstGeom prst="rect">
            <a:avLst/>
          </a:prstGeom>
          <a:noFill/>
          <a:ln/>
        </p:spPr>
        <p:txBody>
          <a:bodyPr wrap="square" lIns="0" tIns="0" rIns="0" bIns="0" rtlCol="0" anchor="t"/>
          <a:lstStyle/>
          <a:p>
            <a:pPr indent="0" marL="0">
              <a:buNone/>
            </a:pPr>
            <a:r>
              <a:rPr lang="en-US" sz="1300" dirty="0">
                <a:solidFill>
                  <a:schemeClr val="tx2"/>
                </a:solidFill>
                <a:latin typeface="Calibri" pitchFamily="34" charset="0"/>
                <a:ea typeface="Calibri" pitchFamily="34" charset="-122"/>
                <a:cs typeface="Calibri" pitchFamily="34" charset="-120"/>
              </a:rPr>
              <a:t>Drive-end model on fan-end data: 19.6%.</a:t>
            </a:r>
            <a:endParaRPr lang="en-US" sz="1300" dirty="0"/>
          </a:p>
        </p:txBody>
      </p:sp>
      <p:sp>
        <p:nvSpPr>
          <p:cNvPr id="13" name="Lesson box"/>
          <p:cNvSpPr/>
          <p:nvPr/>
        </p:nvSpPr>
        <p:spPr>
          <a:xfrm>
            <a:off x="7863840" y="5029200"/>
            <a:ext cx="3779215" cy="1005840"/>
          </a:xfrm>
          <a:prstGeom prst="roundRect">
            <a:avLst>
              <a:gd name="adj" fmla="val 7273"/>
            </a:avLst>
          </a:prstGeom>
          <a:solidFill>
            <a:srgbClr val="EEF2F5"/>
          </a:solidFill>
          <a:ln/>
          <a:effectLst>
            <a:outerShdw sx="100000" sy="100000" kx="0" ky="0" algn="bl" rotWithShape="0" blurRad="76200" dist="25400" dir="5400000">
              <a:srgbClr val="1C2530">
                <a:alpha val="12000"/>
              </a:srgbClr>
            </a:outerShdw>
          </a:effectLst>
        </p:spPr>
      </p:sp>
      <p:sp>
        <p:nvSpPr>
          <p:cNvPr id="14" name="Text 8"/>
          <p:cNvSpPr txBox="1"/>
          <p:nvPr/>
        </p:nvSpPr>
        <p:spPr>
          <a:xfrm>
            <a:off x="8092440" y="5120640"/>
            <a:ext cx="3322015" cy="822960"/>
          </a:xfrm>
          <a:prstGeom prst="rect">
            <a:avLst/>
          </a:prstGeom>
          <a:noFill/>
          <a:ln/>
        </p:spPr>
        <p:txBody>
          <a:bodyPr wrap="square" lIns="0" tIns="0" rIns="0" bIns="0" rtlCol="0" anchor="ctr"/>
          <a:lstStyle/>
          <a:p>
            <a:pPr indent="0" marL="0">
              <a:buNone/>
            </a:pPr>
            <a:r>
              <a:rPr lang="en-US" sz="1300" b="1" dirty="0">
                <a:solidFill>
                  <a:schemeClr val="tx1"/>
                </a:solidFill>
                <a:latin typeface="Calibri" pitchFamily="34" charset="0"/>
                <a:ea typeface="Calibri" pitchFamily="34" charset="-122"/>
                <a:cs typeface="Calibri" pitchFamily="34" charset="-120"/>
              </a:rPr>
              <a:t>Lesson: train on data from the same fault sizes and sensor position the system will be used on.</a:t>
            </a:r>
            <a:endParaRPr lang="en-US" sz="13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B8C"/>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chemeClr val="tx1"/>
                </a:solidFill>
                <a:latin typeface="Arial" pitchFamily="34" charset="0"/>
                <a:ea typeface="Arial" pitchFamily="34" charset="-122"/>
                <a:cs typeface="Arial" pitchFamily="34" charset="-120"/>
              </a:rPr>
              <a:t>Live demo: Streamlit web app</a:t>
            </a:r>
            <a:endParaRPr lang="en-US" sz="3200" dirty="0"/>
          </a:p>
        </p:txBody>
      </p:sp>
      <p:sp>
        <p:nvSpPr>
          <p:cNvPr id="3" name="Screenshot frame"/>
          <p:cNvSpPr/>
          <p:nvPr/>
        </p:nvSpPr>
        <p:spPr>
          <a:xfrm>
            <a:off x="457200" y="1234440"/>
            <a:ext cx="6217920" cy="4252221"/>
          </a:xfrm>
          <a:prstGeom prst="roundRect">
            <a:avLst>
              <a:gd name="adj" fmla="val 1720"/>
            </a:avLst>
          </a:prstGeom>
          <a:solidFill>
            <a:srgbClr val="FFFFFF"/>
          </a:solidFill>
          <a:ln/>
          <a:effectLst>
            <a:outerShdw sx="100000" sy="100000" kx="0" ky="0" algn="bl" rotWithShape="0" blurRad="76200" dist="25400" dir="5400000">
              <a:srgbClr val="1C2530">
                <a:alpha val="12000"/>
              </a:srgbClr>
            </a:outerShdw>
          </a:effectLst>
        </p:spPr>
      </p:sp>
      <p:pic>
        <p:nvPicPr>
          <p:cNvPr id="4" name="Image 0" descr="App predicting inner race fault 0.021 inch">    </p:cNvPr>
          <p:cNvPicPr>
            <a:picLocks noChangeAspect="1"/>
          </p:cNvPicPr>
          <p:nvPr/>
        </p:nvPicPr>
        <p:blipFill>
          <a:blip r:embed="rId1"/>
          <a:stretch>
            <a:fillRect/>
          </a:stretch>
        </p:blipFill>
        <p:spPr>
          <a:xfrm>
            <a:off x="548640" y="1325880"/>
            <a:ext cx="6035040" cy="4069341"/>
          </a:xfrm>
          <a:prstGeom prst="rect">
            <a:avLst/>
          </a:prstGeom>
        </p:spPr>
      </p:pic>
      <p:sp>
        <p:nvSpPr>
          <p:cNvPr id="5" name="Text 2"/>
          <p:cNvSpPr txBox="1"/>
          <p:nvPr/>
        </p:nvSpPr>
        <p:spPr>
          <a:xfrm>
            <a:off x="548640" y="5578101"/>
            <a:ext cx="6035040" cy="274320"/>
          </a:xfrm>
          <a:prstGeom prst="rect">
            <a:avLst/>
          </a:prstGeom>
          <a:noFill/>
          <a:ln/>
        </p:spPr>
        <p:txBody>
          <a:bodyPr wrap="square" lIns="0" tIns="0" rIns="0" bIns="0" rtlCol="0" anchor="ctr"/>
          <a:lstStyle/>
          <a:p>
            <a:pPr indent="0" marL="0">
              <a:buNone/>
            </a:pPr>
            <a:r>
              <a:rPr lang="en-US" sz="1200" i="1" dirty="0">
                <a:solidFill>
                  <a:schemeClr val="accent5"/>
                </a:solidFill>
                <a:latin typeface="Calibri" pitchFamily="34" charset="0"/>
                <a:ea typeface="Calibri" pitchFamily="34" charset="-122"/>
                <a:cs typeface="Calibri" pitchFamily="34" charset="-120"/>
              </a:rPr>
              <a:t>Upload: sample_inner_race_fault_0_021in.csv</a:t>
            </a:r>
            <a:endParaRPr lang="en-US" sz="1200" dirty="0"/>
          </a:p>
        </p:txBody>
      </p:sp>
      <p:sp>
        <p:nvSpPr>
          <p:cNvPr id="6" name="Healthy frame"/>
          <p:cNvSpPr/>
          <p:nvPr/>
        </p:nvSpPr>
        <p:spPr>
          <a:xfrm>
            <a:off x="6858000" y="1234440"/>
            <a:ext cx="4876495" cy="1054551"/>
          </a:xfrm>
          <a:prstGeom prst="roundRect">
            <a:avLst>
              <a:gd name="adj" fmla="val 6937"/>
            </a:avLst>
          </a:prstGeom>
          <a:solidFill>
            <a:srgbClr val="FFFFFF"/>
          </a:solidFill>
          <a:ln/>
          <a:effectLst>
            <a:outerShdw sx="100000" sy="100000" kx="0" ky="0" algn="bl" rotWithShape="0" blurRad="76200" dist="25400" dir="5400000">
              <a:srgbClr val="1C2530">
                <a:alpha val="12000"/>
              </a:srgbClr>
            </a:outerShdw>
          </a:effectLst>
        </p:spPr>
      </p:sp>
      <p:pic>
        <p:nvPicPr>
          <p:cNvPr id="7" name="Image 1" descr="App result: motor healthy">    </p:cNvPr>
          <p:cNvPicPr>
            <a:picLocks noChangeAspect="1"/>
          </p:cNvPicPr>
          <p:nvPr/>
        </p:nvPicPr>
        <p:blipFill>
          <a:blip r:embed="rId2"/>
          <a:stretch>
            <a:fillRect/>
          </a:stretch>
        </p:blipFill>
        <p:spPr>
          <a:xfrm>
            <a:off x="6949440" y="1325880"/>
            <a:ext cx="4693615" cy="871671"/>
          </a:xfrm>
          <a:prstGeom prst="rect">
            <a:avLst/>
          </a:prstGeom>
        </p:spPr>
      </p:pic>
      <p:sp>
        <p:nvSpPr>
          <p:cNvPr id="8" name="Text 4"/>
          <p:cNvSpPr txBox="1"/>
          <p:nvPr/>
        </p:nvSpPr>
        <p:spPr>
          <a:xfrm>
            <a:off x="6949440" y="2307279"/>
            <a:ext cx="4693615" cy="274320"/>
          </a:xfrm>
          <a:prstGeom prst="rect">
            <a:avLst/>
          </a:prstGeom>
          <a:noFill/>
          <a:ln/>
        </p:spPr>
        <p:txBody>
          <a:bodyPr wrap="square" lIns="0" tIns="0" rIns="0" bIns="0" rtlCol="0" anchor="ctr"/>
          <a:lstStyle/>
          <a:p>
            <a:pPr indent="0" marL="0">
              <a:buNone/>
            </a:pPr>
            <a:r>
              <a:rPr lang="en-US" sz="1200" i="1" dirty="0">
                <a:solidFill>
                  <a:schemeClr val="accent5"/>
                </a:solidFill>
                <a:latin typeface="Calibri" pitchFamily="34" charset="0"/>
                <a:ea typeface="Calibri" pitchFamily="34" charset="-122"/>
                <a:cs typeface="Calibri" pitchFamily="34" charset="-120"/>
              </a:rPr>
              <a:t>Upload: sample_normal.csv</a:t>
            </a:r>
            <a:endParaRPr lang="en-US" sz="1200" dirty="0"/>
          </a:p>
        </p:txBody>
      </p:sp>
      <p:sp>
        <p:nvSpPr>
          <p:cNvPr id="9" name="Text 5"/>
          <p:cNvSpPr txBox="1"/>
          <p:nvPr/>
        </p:nvSpPr>
        <p:spPr>
          <a:xfrm>
            <a:off x="6949440" y="2788920"/>
            <a:ext cx="4693615" cy="3200400"/>
          </a:xfrm>
          <a:prstGeom prst="rect">
            <a:avLst/>
          </a:prstGeom>
          <a:noFill/>
          <a:ln/>
        </p:spPr>
        <p:txBody>
          <a:bodyPr wrap="square" lIns="0" tIns="0" rIns="0" bIns="0" rtlCol="0" anchor="t"/>
          <a:lstStyle/>
          <a:p>
            <a:pPr indent="0" marL="0">
              <a:spcAft>
                <a:spcPts val="800"/>
              </a:spcAft>
              <a:buNone/>
            </a:pPr>
            <a:r>
              <a:rPr lang="en-US" sz="1400" b="1" dirty="0">
                <a:solidFill>
                  <a:srgbClr val="1C2530"/>
                </a:solidFill>
                <a:latin typeface="Calibri" pitchFamily="34" charset="0"/>
                <a:ea typeface="Calibri" pitchFamily="34" charset="-122"/>
                <a:cs typeface="Calibri" pitchFamily="34" charset="-120"/>
              </a:rPr>
              <a:t>Run:  python3 -m streamlit run app.py</a:t>
            </a:r>
            <a:endParaRPr lang="en-US" sz="1400" dirty="0"/>
          </a:p>
          <a:p>
            <a:pPr marL="342900" indent="-342900">
              <a:spcAft>
                <a:spcPts val="800"/>
              </a:spcAft>
              <a:buSzPct val="100000"/>
              <a:buChar char="•"/>
            </a:pPr>
            <a:r>
              <a:rPr lang="en-US" sz="1400" dirty="0">
                <a:solidFill>
                  <a:schemeClr val="tx2"/>
                </a:solidFill>
                <a:latin typeface="Calibri" pitchFamily="34" charset="0"/>
                <a:ea typeface="Calibri" pitchFamily="34" charset="-122"/>
                <a:cs typeface="Calibri" pitchFamily="34" charset="-120"/>
              </a:rPr>
              <a:t>Demo files in data/samples/ were left out of training (unseen 3 HP data).</a:t>
            </a:r>
            <a:endParaRPr lang="en-US" sz="1400" dirty="0"/>
          </a:p>
          <a:p>
            <a:pPr marL="342900" indent="-342900">
              <a:spcAft>
                <a:spcPts val="800"/>
              </a:spcAft>
              <a:buSzPct val="100000"/>
              <a:buChar char="•"/>
            </a:pPr>
            <a:r>
              <a:rPr lang="en-US" sz="1400" dirty="0">
                <a:solidFill>
                  <a:schemeClr val="tx2"/>
                </a:solidFill>
                <a:latin typeface="Calibri" pitchFamily="34" charset="0"/>
                <a:ea typeface="Calibri" pitchFamily="34" charset="-122"/>
                <a:cs typeface="Calibri" pitchFamily="34" charset="-120"/>
              </a:rPr>
              <a:t>All 6 demo samples: correct fault type and fault size.</a:t>
            </a:r>
            <a:endParaRPr lang="en-US" sz="1400" dirty="0"/>
          </a:p>
          <a:p>
            <a:pPr marL="342900" indent="-342900">
              <a:spcAft>
                <a:spcPts val="800"/>
              </a:spcAft>
              <a:buSzPct val="100000"/>
              <a:buChar char="•"/>
            </a:pPr>
            <a:r>
              <a:rPr lang="en-US" sz="1400" dirty="0">
                <a:solidFill>
                  <a:schemeClr val="tx2"/>
                </a:solidFill>
                <a:latin typeface="Calibri" pitchFamily="34" charset="0"/>
                <a:ea typeface="Calibri" pitchFamily="34" charset="-122"/>
                <a:cs typeface="Calibri" pitchFamily="34" charset="-120"/>
              </a:rPr>
              <a:t>48 kHz sample: set rate to 48000 → converted, Normal 100%.</a:t>
            </a:r>
            <a:endParaRPr lang="en-US" sz="1400" dirty="0"/>
          </a:p>
          <a:p>
            <a:pPr marL="342900" indent="-342900">
              <a:spcAft>
                <a:spcPts val="800"/>
              </a:spcAft>
              <a:buSzPct val="100000"/>
              <a:buChar char="•"/>
            </a:pPr>
            <a:r>
              <a:rPr lang="en-US" sz="1400" dirty="0">
                <a:solidFill>
                  <a:schemeClr val="tx2"/>
                </a:solidFill>
                <a:latin typeface="Calibri" pitchFamily="34" charset="0"/>
                <a:ea typeface="Calibri" pitchFamily="34" charset="-122"/>
                <a:cs typeface="Calibri" pitchFamily="34" charset="-120"/>
              </a:rPr>
              <a:t>Unfamiliar input (e.g. 100× louder signal) → "Result uncertain".</a:t>
            </a:r>
            <a:endParaRPr lang="en-US" sz="14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B8C"/>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chemeClr val="tx1"/>
                </a:solidFill>
                <a:latin typeface="Arial" pitchFamily="34" charset="0"/>
                <a:ea typeface="Arial" pitchFamily="34" charset="-122"/>
                <a:cs typeface="Arial" pitchFamily="34" charset="-120"/>
              </a:rPr>
              <a:t>Advantages</a:t>
            </a:r>
            <a:endParaRPr lang="en-US" sz="3200" dirty="0"/>
          </a:p>
        </p:txBody>
      </p:sp>
      <p:sp>
        <p:nvSpPr>
          <p:cNvPr id="3" name="Type and severity"/>
          <p:cNvSpPr/>
          <p:nvPr/>
        </p:nvSpPr>
        <p:spPr>
          <a:xfrm>
            <a:off x="548640" y="1371600"/>
            <a:ext cx="3520440" cy="2240280"/>
          </a:xfrm>
          <a:prstGeom prst="roundRect">
            <a:avLst>
              <a:gd name="adj" fmla="val 3265"/>
            </a:avLst>
          </a:prstGeom>
          <a:solidFill>
            <a:srgbClr val="EEF2F5"/>
          </a:solidFill>
          <a:ln/>
          <a:effectLst>
            <a:outerShdw sx="100000" sy="100000" kx="0" ky="0" algn="bl" rotWithShape="0" blurRad="76200" dist="25400" dir="5400000">
              <a:srgbClr val="1C2530">
                <a:alpha val="12000"/>
              </a:srgbClr>
            </a:outerShdw>
          </a:effectLst>
        </p:spPr>
      </p:sp>
      <p:sp>
        <p:nvSpPr>
          <p:cNvPr id="4" name="Type and severity circle"/>
          <p:cNvSpPr/>
          <p:nvPr/>
        </p:nvSpPr>
        <p:spPr>
          <a:xfrm>
            <a:off x="822960" y="1645920"/>
            <a:ext cx="640080" cy="640080"/>
          </a:xfrm>
          <a:prstGeom prst="ellipse">
            <a:avLst/>
          </a:prstGeom>
          <a:solidFill>
            <a:schemeClr val="tx1"/>
          </a:solidFill>
          <a:ln/>
        </p:spPr>
      </p:sp>
      <p:pic>
        <p:nvPicPr>
          <p:cNvPr id="5" name="Type and severity icon" descr="Type and severity">    </p:cNvPr>
          <p:cNvPicPr>
            <a:picLocks noChangeAspect="1"/>
          </p:cNvPicPr>
          <p:nvPr/>
        </p:nvPicPr>
        <p:blipFill>
          <a:blip r:embed="rId1"/>
          <a:stretch>
            <a:fillRect/>
          </a:stretch>
        </p:blipFill>
        <p:spPr>
          <a:xfrm>
            <a:off x="989381" y="1812341"/>
            <a:ext cx="307238" cy="307238"/>
          </a:xfrm>
          <a:prstGeom prst="rect">
            <a:avLst/>
          </a:prstGeom>
        </p:spPr>
      </p:pic>
      <p:sp>
        <p:nvSpPr>
          <p:cNvPr id="6" name="Text 3"/>
          <p:cNvSpPr txBox="1"/>
          <p:nvPr/>
        </p:nvSpPr>
        <p:spPr>
          <a:xfrm>
            <a:off x="1645920" y="1755648"/>
            <a:ext cx="2240280" cy="411480"/>
          </a:xfrm>
          <a:prstGeom prst="rect">
            <a:avLst/>
          </a:prstGeom>
          <a:noFill/>
          <a:ln/>
        </p:spPr>
        <p:txBody>
          <a:bodyPr wrap="square" lIns="0" tIns="0" rIns="0" bIns="0" rtlCol="0" anchor="ctr"/>
          <a:lstStyle/>
          <a:p>
            <a:pPr indent="0" marL="0">
              <a:buNone/>
            </a:pPr>
            <a:r>
              <a:rPr lang="en-US" sz="1700" b="1" dirty="0">
                <a:solidFill>
                  <a:schemeClr val="tx1"/>
                </a:solidFill>
                <a:latin typeface="Calibri" pitchFamily="34" charset="0"/>
                <a:ea typeface="Calibri" pitchFamily="34" charset="-122"/>
                <a:cs typeface="Calibri" pitchFamily="34" charset="-120"/>
              </a:rPr>
              <a:t>Type and severity</a:t>
            </a:r>
            <a:endParaRPr lang="en-US" sz="1700" dirty="0"/>
          </a:p>
        </p:txBody>
      </p:sp>
      <p:sp>
        <p:nvSpPr>
          <p:cNvPr id="7" name="Text 4"/>
          <p:cNvSpPr txBox="1"/>
          <p:nvPr/>
        </p:nvSpPr>
        <p:spPr>
          <a:xfrm>
            <a:off x="822960" y="2468880"/>
            <a:ext cx="2971800" cy="100584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Names the damaged part and estimates the crack size, not just "faulty".</a:t>
            </a:r>
            <a:endParaRPr lang="en-US" sz="1400" dirty="0"/>
          </a:p>
        </p:txBody>
      </p:sp>
      <p:sp>
        <p:nvSpPr>
          <p:cNvPr id="8" name="Noise robust"/>
          <p:cNvSpPr/>
          <p:nvPr/>
        </p:nvSpPr>
        <p:spPr>
          <a:xfrm>
            <a:off x="4343400" y="1371600"/>
            <a:ext cx="3520440" cy="2240280"/>
          </a:xfrm>
          <a:prstGeom prst="roundRect">
            <a:avLst>
              <a:gd name="adj" fmla="val 3265"/>
            </a:avLst>
          </a:prstGeom>
          <a:solidFill>
            <a:srgbClr val="EEF2F5"/>
          </a:solidFill>
          <a:ln/>
          <a:effectLst>
            <a:outerShdw sx="100000" sy="100000" kx="0" ky="0" algn="bl" rotWithShape="0" blurRad="76200" dist="25400" dir="5400000">
              <a:srgbClr val="1C2530">
                <a:alpha val="12000"/>
              </a:srgbClr>
            </a:outerShdw>
          </a:effectLst>
        </p:spPr>
      </p:sp>
      <p:sp>
        <p:nvSpPr>
          <p:cNvPr id="9" name="Noise robust circle"/>
          <p:cNvSpPr/>
          <p:nvPr/>
        </p:nvSpPr>
        <p:spPr>
          <a:xfrm>
            <a:off x="4617720" y="1645920"/>
            <a:ext cx="640080" cy="640080"/>
          </a:xfrm>
          <a:prstGeom prst="ellipse">
            <a:avLst/>
          </a:prstGeom>
          <a:solidFill>
            <a:schemeClr val="tx1"/>
          </a:solidFill>
          <a:ln/>
        </p:spPr>
      </p:sp>
      <p:pic>
        <p:nvPicPr>
          <p:cNvPr id="10" name="Noise robust icon" descr="Noise robust">    </p:cNvPr>
          <p:cNvPicPr>
            <a:picLocks noChangeAspect="1"/>
          </p:cNvPicPr>
          <p:nvPr/>
        </p:nvPicPr>
        <p:blipFill>
          <a:blip r:embed="rId2"/>
          <a:stretch>
            <a:fillRect/>
          </a:stretch>
        </p:blipFill>
        <p:spPr>
          <a:xfrm>
            <a:off x="4784141" y="1812341"/>
            <a:ext cx="307238" cy="307238"/>
          </a:xfrm>
          <a:prstGeom prst="rect">
            <a:avLst/>
          </a:prstGeom>
        </p:spPr>
      </p:pic>
      <p:sp>
        <p:nvSpPr>
          <p:cNvPr id="11" name="Text 7"/>
          <p:cNvSpPr txBox="1"/>
          <p:nvPr/>
        </p:nvSpPr>
        <p:spPr>
          <a:xfrm>
            <a:off x="5440680" y="1755648"/>
            <a:ext cx="2240280" cy="411480"/>
          </a:xfrm>
          <a:prstGeom prst="rect">
            <a:avLst/>
          </a:prstGeom>
          <a:noFill/>
          <a:ln/>
        </p:spPr>
        <p:txBody>
          <a:bodyPr wrap="square" lIns="0" tIns="0" rIns="0" bIns="0" rtlCol="0" anchor="ctr"/>
          <a:lstStyle/>
          <a:p>
            <a:pPr indent="0" marL="0">
              <a:buNone/>
            </a:pPr>
            <a:r>
              <a:rPr lang="en-US" sz="1700" b="1" dirty="0">
                <a:solidFill>
                  <a:schemeClr val="tx1"/>
                </a:solidFill>
                <a:latin typeface="Calibri" pitchFamily="34" charset="0"/>
                <a:ea typeface="Calibri" pitchFamily="34" charset="-122"/>
                <a:cs typeface="Calibri" pitchFamily="34" charset="-120"/>
              </a:rPr>
              <a:t>Noise robust</a:t>
            </a:r>
            <a:endParaRPr lang="en-US" sz="1700" dirty="0"/>
          </a:p>
        </p:txBody>
      </p:sp>
      <p:sp>
        <p:nvSpPr>
          <p:cNvPr id="12" name="Text 8"/>
          <p:cNvSpPr txBox="1"/>
          <p:nvPr/>
        </p:nvSpPr>
        <p:spPr>
          <a:xfrm>
            <a:off x="4617720" y="2468880"/>
            <a:ext cx="2971800" cy="100584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Keeps 92.5% accuracy even when noise is as strong as the signal.</a:t>
            </a:r>
            <a:endParaRPr lang="en-US" sz="1400" dirty="0"/>
          </a:p>
        </p:txBody>
      </p:sp>
      <p:sp>
        <p:nvSpPr>
          <p:cNvPr id="13" name="Knows when it's unsure"/>
          <p:cNvSpPr/>
          <p:nvPr/>
        </p:nvSpPr>
        <p:spPr>
          <a:xfrm>
            <a:off x="8138160" y="1371600"/>
            <a:ext cx="3520440" cy="2240280"/>
          </a:xfrm>
          <a:prstGeom prst="roundRect">
            <a:avLst>
              <a:gd name="adj" fmla="val 3265"/>
            </a:avLst>
          </a:prstGeom>
          <a:solidFill>
            <a:srgbClr val="EEF2F5"/>
          </a:solidFill>
          <a:ln/>
          <a:effectLst>
            <a:outerShdw sx="100000" sy="100000" kx="0" ky="0" algn="bl" rotWithShape="0" blurRad="76200" dist="25400" dir="5400000">
              <a:srgbClr val="1C2530">
                <a:alpha val="12000"/>
              </a:srgbClr>
            </a:outerShdw>
          </a:effectLst>
        </p:spPr>
      </p:sp>
      <p:sp>
        <p:nvSpPr>
          <p:cNvPr id="14" name="Knows when it's unsure circle"/>
          <p:cNvSpPr/>
          <p:nvPr/>
        </p:nvSpPr>
        <p:spPr>
          <a:xfrm>
            <a:off x="8412480" y="1645920"/>
            <a:ext cx="640080" cy="640080"/>
          </a:xfrm>
          <a:prstGeom prst="ellipse">
            <a:avLst/>
          </a:prstGeom>
          <a:solidFill>
            <a:schemeClr val="tx1"/>
          </a:solidFill>
          <a:ln/>
        </p:spPr>
      </p:sp>
      <p:pic>
        <p:nvPicPr>
          <p:cNvPr id="15" name="Knows when it's unsure icon" descr="Knows when it's unsure">    </p:cNvPr>
          <p:cNvPicPr>
            <a:picLocks noChangeAspect="1"/>
          </p:cNvPicPr>
          <p:nvPr/>
        </p:nvPicPr>
        <p:blipFill>
          <a:blip r:embed="rId3"/>
          <a:stretch>
            <a:fillRect/>
          </a:stretch>
        </p:blipFill>
        <p:spPr>
          <a:xfrm>
            <a:off x="8578901" y="1812341"/>
            <a:ext cx="307238" cy="307238"/>
          </a:xfrm>
          <a:prstGeom prst="rect">
            <a:avLst/>
          </a:prstGeom>
        </p:spPr>
      </p:pic>
      <p:sp>
        <p:nvSpPr>
          <p:cNvPr id="16" name="Text 11"/>
          <p:cNvSpPr txBox="1"/>
          <p:nvPr/>
        </p:nvSpPr>
        <p:spPr>
          <a:xfrm>
            <a:off x="9235440" y="1755648"/>
            <a:ext cx="2240280" cy="411480"/>
          </a:xfrm>
          <a:prstGeom prst="rect">
            <a:avLst/>
          </a:prstGeom>
          <a:noFill/>
          <a:ln/>
        </p:spPr>
        <p:txBody>
          <a:bodyPr wrap="square" lIns="0" tIns="0" rIns="0" bIns="0" rtlCol="0" anchor="ctr"/>
          <a:lstStyle/>
          <a:p>
            <a:pPr indent="0" marL="0">
              <a:buNone/>
            </a:pPr>
            <a:r>
              <a:rPr lang="en-US" sz="1700" b="1" dirty="0">
                <a:solidFill>
                  <a:schemeClr val="tx1"/>
                </a:solidFill>
                <a:latin typeface="Calibri" pitchFamily="34" charset="0"/>
                <a:ea typeface="Calibri" pitchFamily="34" charset="-122"/>
                <a:cs typeface="Calibri" pitchFamily="34" charset="-120"/>
              </a:rPr>
              <a:t>Knows when it's unsure</a:t>
            </a:r>
            <a:endParaRPr lang="en-US" sz="1700" dirty="0"/>
          </a:p>
        </p:txBody>
      </p:sp>
      <p:sp>
        <p:nvSpPr>
          <p:cNvPr id="17" name="Text 12"/>
          <p:cNvSpPr txBox="1"/>
          <p:nvPr/>
        </p:nvSpPr>
        <p:spPr>
          <a:xfrm>
            <a:off x="8412480" y="2468880"/>
            <a:ext cx="2971800" cy="100584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Flags unfamiliar or low-confidence signals instead of guessing.</a:t>
            </a:r>
            <a:endParaRPr lang="en-US" sz="1400" dirty="0"/>
          </a:p>
        </p:txBody>
      </p:sp>
      <p:sp>
        <p:nvSpPr>
          <p:cNvPr id="18" name="Any sampling rate"/>
          <p:cNvSpPr/>
          <p:nvPr/>
        </p:nvSpPr>
        <p:spPr>
          <a:xfrm>
            <a:off x="548640" y="3886200"/>
            <a:ext cx="3520440" cy="2240280"/>
          </a:xfrm>
          <a:prstGeom prst="roundRect">
            <a:avLst>
              <a:gd name="adj" fmla="val 3265"/>
            </a:avLst>
          </a:prstGeom>
          <a:solidFill>
            <a:srgbClr val="EEF2F5"/>
          </a:solidFill>
          <a:ln/>
          <a:effectLst>
            <a:outerShdw sx="100000" sy="100000" kx="0" ky="0" algn="bl" rotWithShape="0" blurRad="76200" dist="25400" dir="5400000">
              <a:srgbClr val="1C2530">
                <a:alpha val="12000"/>
              </a:srgbClr>
            </a:outerShdw>
          </a:effectLst>
        </p:spPr>
      </p:sp>
      <p:sp>
        <p:nvSpPr>
          <p:cNvPr id="19" name="Any sampling rate circle"/>
          <p:cNvSpPr/>
          <p:nvPr/>
        </p:nvSpPr>
        <p:spPr>
          <a:xfrm>
            <a:off x="822960" y="4160520"/>
            <a:ext cx="640080" cy="640080"/>
          </a:xfrm>
          <a:prstGeom prst="ellipse">
            <a:avLst/>
          </a:prstGeom>
          <a:solidFill>
            <a:schemeClr val="tx1"/>
          </a:solidFill>
          <a:ln/>
        </p:spPr>
      </p:sp>
      <p:pic>
        <p:nvPicPr>
          <p:cNvPr id="20" name="Any sampling rate icon" descr="Any sampling rate">    </p:cNvPr>
          <p:cNvPicPr>
            <a:picLocks noChangeAspect="1"/>
          </p:cNvPicPr>
          <p:nvPr/>
        </p:nvPicPr>
        <p:blipFill>
          <a:blip r:embed="rId4"/>
          <a:stretch>
            <a:fillRect/>
          </a:stretch>
        </p:blipFill>
        <p:spPr>
          <a:xfrm>
            <a:off x="989381" y="4326941"/>
            <a:ext cx="307238" cy="307238"/>
          </a:xfrm>
          <a:prstGeom prst="rect">
            <a:avLst/>
          </a:prstGeom>
        </p:spPr>
      </p:pic>
      <p:sp>
        <p:nvSpPr>
          <p:cNvPr id="21" name="Text 15"/>
          <p:cNvSpPr txBox="1"/>
          <p:nvPr/>
        </p:nvSpPr>
        <p:spPr>
          <a:xfrm>
            <a:off x="1645920" y="4270248"/>
            <a:ext cx="2240280" cy="411480"/>
          </a:xfrm>
          <a:prstGeom prst="rect">
            <a:avLst/>
          </a:prstGeom>
          <a:noFill/>
          <a:ln/>
        </p:spPr>
        <p:txBody>
          <a:bodyPr wrap="square" lIns="0" tIns="0" rIns="0" bIns="0" rtlCol="0" anchor="ctr"/>
          <a:lstStyle/>
          <a:p>
            <a:pPr indent="0" marL="0">
              <a:buNone/>
            </a:pPr>
            <a:r>
              <a:rPr lang="en-US" sz="1700" b="1" dirty="0">
                <a:solidFill>
                  <a:schemeClr val="tx1"/>
                </a:solidFill>
                <a:latin typeface="Calibri" pitchFamily="34" charset="0"/>
                <a:ea typeface="Calibri" pitchFamily="34" charset="-122"/>
                <a:cs typeface="Calibri" pitchFamily="34" charset="-120"/>
              </a:rPr>
              <a:t>Any sampling rate</a:t>
            </a:r>
            <a:endParaRPr lang="en-US" sz="1700" dirty="0"/>
          </a:p>
        </p:txBody>
      </p:sp>
      <p:sp>
        <p:nvSpPr>
          <p:cNvPr id="22" name="Text 16"/>
          <p:cNvSpPr txBox="1"/>
          <p:nvPr/>
        </p:nvSpPr>
        <p:spPr>
          <a:xfrm>
            <a:off x="822960" y="4983480"/>
            <a:ext cx="2971800" cy="100584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Signals recorded at other rates are converted to 12 kHz automatically.</a:t>
            </a:r>
            <a:endParaRPr lang="en-US" sz="1400" dirty="0"/>
          </a:p>
        </p:txBody>
      </p:sp>
      <p:sp>
        <p:nvSpPr>
          <p:cNvPr id="23" name="Lightweight"/>
          <p:cNvSpPr/>
          <p:nvPr/>
        </p:nvSpPr>
        <p:spPr>
          <a:xfrm>
            <a:off x="4343400" y="3886200"/>
            <a:ext cx="3520440" cy="2240280"/>
          </a:xfrm>
          <a:prstGeom prst="roundRect">
            <a:avLst>
              <a:gd name="adj" fmla="val 3265"/>
            </a:avLst>
          </a:prstGeom>
          <a:solidFill>
            <a:srgbClr val="EEF2F5"/>
          </a:solidFill>
          <a:ln/>
          <a:effectLst>
            <a:outerShdw sx="100000" sy="100000" kx="0" ky="0" algn="bl" rotWithShape="0" blurRad="76200" dist="25400" dir="5400000">
              <a:srgbClr val="1C2530">
                <a:alpha val="12000"/>
              </a:srgbClr>
            </a:outerShdw>
          </a:effectLst>
        </p:spPr>
      </p:sp>
      <p:sp>
        <p:nvSpPr>
          <p:cNvPr id="24" name="Lightweight circle"/>
          <p:cNvSpPr/>
          <p:nvPr/>
        </p:nvSpPr>
        <p:spPr>
          <a:xfrm>
            <a:off x="4617720" y="4160520"/>
            <a:ext cx="640080" cy="640080"/>
          </a:xfrm>
          <a:prstGeom prst="ellipse">
            <a:avLst/>
          </a:prstGeom>
          <a:solidFill>
            <a:schemeClr val="tx1"/>
          </a:solidFill>
          <a:ln/>
        </p:spPr>
      </p:sp>
      <p:pic>
        <p:nvPicPr>
          <p:cNvPr id="25" name="Lightweight icon" descr="Lightweight">    </p:cNvPr>
          <p:cNvPicPr>
            <a:picLocks noChangeAspect="1"/>
          </p:cNvPicPr>
          <p:nvPr/>
        </p:nvPicPr>
        <p:blipFill>
          <a:blip r:embed="rId5"/>
          <a:stretch>
            <a:fillRect/>
          </a:stretch>
        </p:blipFill>
        <p:spPr>
          <a:xfrm>
            <a:off x="4784141" y="4326941"/>
            <a:ext cx="307238" cy="307238"/>
          </a:xfrm>
          <a:prstGeom prst="rect">
            <a:avLst/>
          </a:prstGeom>
        </p:spPr>
      </p:pic>
      <p:sp>
        <p:nvSpPr>
          <p:cNvPr id="26" name="Text 19"/>
          <p:cNvSpPr txBox="1"/>
          <p:nvPr/>
        </p:nvSpPr>
        <p:spPr>
          <a:xfrm>
            <a:off x="5440680" y="4270248"/>
            <a:ext cx="2240280" cy="411480"/>
          </a:xfrm>
          <a:prstGeom prst="rect">
            <a:avLst/>
          </a:prstGeom>
          <a:noFill/>
          <a:ln/>
        </p:spPr>
        <p:txBody>
          <a:bodyPr wrap="square" lIns="0" tIns="0" rIns="0" bIns="0" rtlCol="0" anchor="ctr"/>
          <a:lstStyle/>
          <a:p>
            <a:pPr indent="0" marL="0">
              <a:buNone/>
            </a:pPr>
            <a:r>
              <a:rPr lang="en-US" sz="1700" b="1" dirty="0">
                <a:solidFill>
                  <a:schemeClr val="tx1"/>
                </a:solidFill>
                <a:latin typeface="Calibri" pitchFamily="34" charset="0"/>
                <a:ea typeface="Calibri" pitchFamily="34" charset="-122"/>
                <a:cs typeface="Calibri" pitchFamily="34" charset="-120"/>
              </a:rPr>
              <a:t>Lightweight</a:t>
            </a:r>
            <a:endParaRPr lang="en-US" sz="1700" dirty="0"/>
          </a:p>
        </p:txBody>
      </p:sp>
      <p:sp>
        <p:nvSpPr>
          <p:cNvPr id="27" name="Text 20"/>
          <p:cNvSpPr txBox="1"/>
          <p:nvPr/>
        </p:nvSpPr>
        <p:spPr>
          <a:xfrm>
            <a:off x="4617720" y="4983480"/>
            <a:ext cx="2971800" cy="100584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Random Forest on 14 features: trains in about 20 s on a laptop, no GPU.</a:t>
            </a:r>
            <a:endParaRPr lang="en-US" sz="1400" dirty="0"/>
          </a:p>
        </p:txBody>
      </p:sp>
      <p:sp>
        <p:nvSpPr>
          <p:cNvPr id="28" name="Explainable"/>
          <p:cNvSpPr/>
          <p:nvPr/>
        </p:nvSpPr>
        <p:spPr>
          <a:xfrm>
            <a:off x="8138160" y="3886200"/>
            <a:ext cx="3520440" cy="2240280"/>
          </a:xfrm>
          <a:prstGeom prst="roundRect">
            <a:avLst>
              <a:gd name="adj" fmla="val 3265"/>
            </a:avLst>
          </a:prstGeom>
          <a:solidFill>
            <a:srgbClr val="EEF2F5"/>
          </a:solidFill>
          <a:ln/>
          <a:effectLst>
            <a:outerShdw sx="100000" sy="100000" kx="0" ky="0" algn="bl" rotWithShape="0" blurRad="76200" dist="25400" dir="5400000">
              <a:srgbClr val="1C2530">
                <a:alpha val="12000"/>
              </a:srgbClr>
            </a:outerShdw>
          </a:effectLst>
        </p:spPr>
      </p:sp>
      <p:sp>
        <p:nvSpPr>
          <p:cNvPr id="29" name="Explainable circle"/>
          <p:cNvSpPr/>
          <p:nvPr/>
        </p:nvSpPr>
        <p:spPr>
          <a:xfrm>
            <a:off x="8412480" y="4160520"/>
            <a:ext cx="640080" cy="640080"/>
          </a:xfrm>
          <a:prstGeom prst="ellipse">
            <a:avLst/>
          </a:prstGeom>
          <a:solidFill>
            <a:schemeClr val="tx1"/>
          </a:solidFill>
          <a:ln/>
        </p:spPr>
      </p:sp>
      <p:pic>
        <p:nvPicPr>
          <p:cNvPr id="30" name="Explainable icon" descr="Explainable">    </p:cNvPr>
          <p:cNvPicPr>
            <a:picLocks noChangeAspect="1"/>
          </p:cNvPicPr>
          <p:nvPr/>
        </p:nvPicPr>
        <p:blipFill>
          <a:blip r:embed="rId6"/>
          <a:stretch>
            <a:fillRect/>
          </a:stretch>
        </p:blipFill>
        <p:spPr>
          <a:xfrm>
            <a:off x="8578901" y="4326941"/>
            <a:ext cx="307238" cy="307238"/>
          </a:xfrm>
          <a:prstGeom prst="rect">
            <a:avLst/>
          </a:prstGeom>
        </p:spPr>
      </p:pic>
      <p:sp>
        <p:nvSpPr>
          <p:cNvPr id="31" name="Text 23"/>
          <p:cNvSpPr txBox="1"/>
          <p:nvPr/>
        </p:nvSpPr>
        <p:spPr>
          <a:xfrm>
            <a:off x="9235440" y="4270248"/>
            <a:ext cx="2240280" cy="411480"/>
          </a:xfrm>
          <a:prstGeom prst="rect">
            <a:avLst/>
          </a:prstGeom>
          <a:noFill/>
          <a:ln/>
        </p:spPr>
        <p:txBody>
          <a:bodyPr wrap="square" lIns="0" tIns="0" rIns="0" bIns="0" rtlCol="0" anchor="ctr"/>
          <a:lstStyle/>
          <a:p>
            <a:pPr indent="0" marL="0">
              <a:buNone/>
            </a:pPr>
            <a:r>
              <a:rPr lang="en-US" sz="1700" b="1" dirty="0">
                <a:solidFill>
                  <a:schemeClr val="tx1"/>
                </a:solidFill>
                <a:latin typeface="Calibri" pitchFamily="34" charset="0"/>
                <a:ea typeface="Calibri" pitchFamily="34" charset="-122"/>
                <a:cs typeface="Calibri" pitchFamily="34" charset="-120"/>
              </a:rPr>
              <a:t>Explainable</a:t>
            </a:r>
            <a:endParaRPr lang="en-US" sz="1700" dirty="0"/>
          </a:p>
        </p:txBody>
      </p:sp>
      <p:sp>
        <p:nvSpPr>
          <p:cNvPr id="32" name="Text 24"/>
          <p:cNvSpPr txBox="1"/>
          <p:nvPr/>
        </p:nvSpPr>
        <p:spPr>
          <a:xfrm>
            <a:off x="8412480" y="4983480"/>
            <a:ext cx="2971800" cy="100584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Each feature (RMS, kurtosis, band energy) has a physical meaning.</a:t>
            </a:r>
            <a:endParaRPr lang="en-US" sz="14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B8C"/>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chemeClr val="bg1"/>
                </a:solidFill>
                <a:latin typeface="Arial" pitchFamily="34" charset="0"/>
                <a:ea typeface="Arial" pitchFamily="34" charset="-122"/>
                <a:cs typeface="Arial" pitchFamily="34" charset="-120"/>
              </a:rPr>
              <a:t>Limitations and future scope</a:t>
            </a:r>
            <a:endParaRPr lang="en-US" sz="3200" dirty="0"/>
          </a:p>
        </p:txBody>
      </p:sp>
      <p:sp>
        <p:nvSpPr>
          <p:cNvPr id="3" name="Text 1"/>
          <p:cNvSpPr txBox="1"/>
          <p:nvPr/>
        </p:nvSpPr>
        <p:spPr>
          <a:xfrm>
            <a:off x="548640" y="1371600"/>
            <a:ext cx="4937760" cy="320040"/>
          </a:xfrm>
          <a:prstGeom prst="rect">
            <a:avLst/>
          </a:prstGeom>
          <a:noFill/>
          <a:ln/>
        </p:spPr>
        <p:txBody>
          <a:bodyPr wrap="square" lIns="0" tIns="0" rIns="0" bIns="0" rtlCol="0" anchor="ctr"/>
          <a:lstStyle/>
          <a:p>
            <a:pPr indent="0" marL="0">
              <a:buNone/>
            </a:pPr>
            <a:r>
              <a:rPr lang="en-US" sz="1300" b="1" spc="200" kern="0" dirty="0">
                <a:solidFill>
                  <a:schemeClr val="accent1"/>
                </a:solidFill>
                <a:latin typeface="Calibri" pitchFamily="34" charset="0"/>
                <a:ea typeface="Calibri" pitchFamily="34" charset="-122"/>
                <a:cs typeface="Calibri" pitchFamily="34" charset="-120"/>
              </a:rPr>
              <a:t>CURRENT LIMITATIONS</a:t>
            </a:r>
            <a:endParaRPr lang="en-US" sz="1300" dirty="0"/>
          </a:p>
        </p:txBody>
      </p:sp>
      <p:sp>
        <p:nvSpPr>
          <p:cNvPr id="4" name="Text 2"/>
          <p:cNvSpPr txBox="1"/>
          <p:nvPr/>
        </p:nvSpPr>
        <p:spPr>
          <a:xfrm>
            <a:off x="548640" y="1828800"/>
            <a:ext cx="4754880" cy="4114800"/>
          </a:xfrm>
          <a:prstGeom prst="rect">
            <a:avLst/>
          </a:prstGeom>
          <a:noFill/>
          <a:ln/>
        </p:spPr>
        <p:txBody>
          <a:bodyPr wrap="square" lIns="0" tIns="0" rIns="0" bIns="0" rtlCol="0" anchor="t"/>
          <a:lstStyle/>
          <a:p>
            <a:pPr marL="342900" indent="-342900">
              <a:spcAft>
                <a:spcPts val="1200"/>
              </a:spcAft>
              <a:buSzPct val="100000"/>
              <a:buChar char="•"/>
            </a:pPr>
            <a:r>
              <a:rPr lang="en-US" sz="1500" dirty="0">
                <a:solidFill>
                  <a:schemeClr val="bg1"/>
                </a:solidFill>
                <a:latin typeface="Calibri" pitchFamily="34" charset="0"/>
                <a:ea typeface="Calibri" pitchFamily="34" charset="-122"/>
                <a:cs typeface="Calibri" pitchFamily="34" charset="-120"/>
              </a:rPr>
              <a:t>Software prototype on recorded lab data from one test rig; no hardware or real-time monitoring yet</a:t>
            </a:r>
            <a:endParaRPr lang="en-US" sz="1500" dirty="0"/>
          </a:p>
          <a:p>
            <a:pPr marL="342900" indent="-342900">
              <a:spcAft>
                <a:spcPts val="1200"/>
              </a:spcAft>
              <a:buSzPct val="100000"/>
              <a:buChar char="•"/>
            </a:pPr>
            <a:r>
              <a:rPr lang="en-US" sz="1500" dirty="0">
                <a:solidFill>
                  <a:schemeClr val="bg1"/>
                </a:solidFill>
                <a:latin typeface="Calibri" pitchFamily="34" charset="0"/>
                <a:ea typeface="Calibri" pitchFamily="34" charset="-122"/>
                <a:cs typeface="Calibri" pitchFamily="34" charset="-120"/>
              </a:rPr>
              <a:t>Does not generalise to unseen crack sizes or a different sensor position</a:t>
            </a:r>
            <a:endParaRPr lang="en-US" sz="1500" dirty="0"/>
          </a:p>
          <a:p>
            <a:pPr marL="342900" indent="-342900">
              <a:spcAft>
                <a:spcPts val="1200"/>
              </a:spcAft>
              <a:buSzPct val="100000"/>
              <a:buChar char="•"/>
            </a:pPr>
            <a:r>
              <a:rPr lang="en-US" sz="1500" dirty="0">
                <a:solidFill>
                  <a:schemeClr val="bg1"/>
                </a:solidFill>
                <a:latin typeface="Calibri" pitchFamily="34" charset="0"/>
                <a:ea typeface="Calibri" pitchFamily="34" charset="-122"/>
                <a:cs typeface="Calibri" pitchFamily="34" charset="-120"/>
              </a:rPr>
              <a:t>Only bearing faults; misalignment, unbalance and looseness are not classified</a:t>
            </a:r>
            <a:endParaRPr lang="en-US" sz="1500" dirty="0"/>
          </a:p>
          <a:p>
            <a:pPr marL="342900" indent="-342900">
              <a:spcAft>
                <a:spcPts val="1200"/>
              </a:spcAft>
              <a:buSzPct val="100000"/>
              <a:buChar char="•"/>
            </a:pPr>
            <a:r>
              <a:rPr lang="en-US" sz="1500" dirty="0">
                <a:solidFill>
                  <a:schemeClr val="bg1"/>
                </a:solidFill>
                <a:latin typeface="Calibri" pitchFamily="34" charset="0"/>
                <a:ea typeface="Calibri" pitchFamily="34" charset="-122"/>
                <a:cs typeface="Calibri" pitchFamily="34" charset="-120"/>
              </a:rPr>
              <a:t>User must enter the correct sampling rate</a:t>
            </a:r>
            <a:endParaRPr lang="en-US" sz="1500" dirty="0"/>
          </a:p>
        </p:txBody>
      </p:sp>
      <p:sp>
        <p:nvSpPr>
          <p:cNvPr id="5" name="Text 3"/>
          <p:cNvSpPr txBox="1"/>
          <p:nvPr/>
        </p:nvSpPr>
        <p:spPr>
          <a:xfrm>
            <a:off x="6035040" y="1371600"/>
            <a:ext cx="5486400" cy="320040"/>
          </a:xfrm>
          <a:prstGeom prst="rect">
            <a:avLst/>
          </a:prstGeom>
          <a:noFill/>
          <a:ln/>
        </p:spPr>
        <p:txBody>
          <a:bodyPr wrap="square" lIns="0" tIns="0" rIns="0" bIns="0" rtlCol="0" anchor="ctr"/>
          <a:lstStyle/>
          <a:p>
            <a:pPr indent="0" marL="0">
              <a:buNone/>
            </a:pPr>
            <a:r>
              <a:rPr lang="en-US" sz="1300" b="1" spc="200" kern="0" dirty="0">
                <a:solidFill>
                  <a:schemeClr val="accent1"/>
                </a:solidFill>
                <a:latin typeface="Calibri" pitchFamily="34" charset="0"/>
                <a:ea typeface="Calibri" pitchFamily="34" charset="-122"/>
                <a:cs typeface="Calibri" pitchFamily="34" charset="-120"/>
              </a:rPr>
              <a:t>FUTURE SCOPE</a:t>
            </a:r>
            <a:endParaRPr lang="en-US" sz="1300" dirty="0"/>
          </a:p>
        </p:txBody>
      </p:sp>
      <p:sp>
        <p:nvSpPr>
          <p:cNvPr id="6" name="Accelerometer + ESP32 circle"/>
          <p:cNvSpPr/>
          <p:nvPr/>
        </p:nvSpPr>
        <p:spPr>
          <a:xfrm>
            <a:off x="6035040" y="1828800"/>
            <a:ext cx="640080" cy="640080"/>
          </a:xfrm>
          <a:prstGeom prst="ellipse">
            <a:avLst/>
          </a:prstGeom>
          <a:solidFill>
            <a:schemeClr val="accent1"/>
          </a:solidFill>
          <a:ln/>
        </p:spPr>
      </p:sp>
      <p:pic>
        <p:nvPicPr>
          <p:cNvPr id="7" name="Accelerometer + ESP32 icon" descr="Accelerometer + ESP32">    </p:cNvPr>
          <p:cNvPicPr>
            <a:picLocks noChangeAspect="1"/>
          </p:cNvPicPr>
          <p:nvPr/>
        </p:nvPicPr>
        <p:blipFill>
          <a:blip r:embed="rId1"/>
          <a:stretch>
            <a:fillRect/>
          </a:stretch>
        </p:blipFill>
        <p:spPr>
          <a:xfrm>
            <a:off x="6201461" y="1995221"/>
            <a:ext cx="307238" cy="307238"/>
          </a:xfrm>
          <a:prstGeom prst="rect">
            <a:avLst/>
          </a:prstGeom>
        </p:spPr>
      </p:pic>
      <p:sp>
        <p:nvSpPr>
          <p:cNvPr id="8" name="Text 5"/>
          <p:cNvSpPr txBox="1"/>
          <p:nvPr/>
        </p:nvSpPr>
        <p:spPr>
          <a:xfrm>
            <a:off x="6858000" y="1810512"/>
            <a:ext cx="4754880" cy="347472"/>
          </a:xfrm>
          <a:prstGeom prst="rect">
            <a:avLst/>
          </a:prstGeom>
          <a:noFill/>
          <a:ln/>
        </p:spPr>
        <p:txBody>
          <a:bodyPr wrap="square" lIns="0" tIns="0" rIns="0" bIns="0" rtlCol="0" anchor="ctr"/>
          <a:lstStyle/>
          <a:p>
            <a:pPr indent="0" marL="0">
              <a:buNone/>
            </a:pPr>
            <a:r>
              <a:rPr lang="en-US" sz="1600" b="1" dirty="0">
                <a:solidFill>
                  <a:schemeClr val="bg1"/>
                </a:solidFill>
                <a:latin typeface="Calibri" pitchFamily="34" charset="0"/>
                <a:ea typeface="Calibri" pitchFamily="34" charset="-122"/>
                <a:cs typeface="Calibri" pitchFamily="34" charset="-120"/>
              </a:rPr>
              <a:t>Accelerometer + ESP32</a:t>
            </a:r>
            <a:endParaRPr lang="en-US" sz="1600" dirty="0"/>
          </a:p>
        </p:txBody>
      </p:sp>
      <p:sp>
        <p:nvSpPr>
          <p:cNvPr id="9" name="Text 6"/>
          <p:cNvSpPr txBox="1"/>
          <p:nvPr/>
        </p:nvSpPr>
        <p:spPr>
          <a:xfrm>
            <a:off x="6858000" y="2157984"/>
            <a:ext cx="4754880" cy="502920"/>
          </a:xfrm>
          <a:prstGeom prst="rect">
            <a:avLst/>
          </a:prstGeom>
          <a:noFill/>
          <a:ln/>
        </p:spPr>
        <p:txBody>
          <a:bodyPr wrap="square" lIns="0" tIns="0" rIns="0" bIns="0" rtlCol="0" anchor="t"/>
          <a:lstStyle/>
          <a:p>
            <a:pPr indent="0" marL="0">
              <a:buNone/>
            </a:pPr>
            <a:r>
              <a:rPr lang="en-US" sz="1300" dirty="0">
                <a:solidFill>
                  <a:schemeClr val="accent6"/>
                </a:solidFill>
                <a:latin typeface="Calibri" pitchFamily="34" charset="0"/>
                <a:ea typeface="Calibri" pitchFamily="34" charset="-122"/>
                <a:cs typeface="Calibri" pitchFamily="34" charset="-120"/>
              </a:rPr>
              <a:t>Capture vibration from a real motor for real-time monitoring.</a:t>
            </a:r>
            <a:endParaRPr lang="en-US" sz="1300" dirty="0"/>
          </a:p>
        </p:txBody>
      </p:sp>
      <p:sp>
        <p:nvSpPr>
          <p:cNvPr id="10" name="IoT / cloud dashboard circle"/>
          <p:cNvSpPr/>
          <p:nvPr/>
        </p:nvSpPr>
        <p:spPr>
          <a:xfrm>
            <a:off x="6035040" y="2880360"/>
            <a:ext cx="640080" cy="640080"/>
          </a:xfrm>
          <a:prstGeom prst="ellipse">
            <a:avLst/>
          </a:prstGeom>
          <a:solidFill>
            <a:schemeClr val="accent1"/>
          </a:solidFill>
          <a:ln/>
        </p:spPr>
      </p:sp>
      <p:pic>
        <p:nvPicPr>
          <p:cNvPr id="11" name="IoT / cloud dashboard icon" descr="IoT / cloud dashboard">    </p:cNvPr>
          <p:cNvPicPr>
            <a:picLocks noChangeAspect="1"/>
          </p:cNvPicPr>
          <p:nvPr/>
        </p:nvPicPr>
        <p:blipFill>
          <a:blip r:embed="rId2"/>
          <a:stretch>
            <a:fillRect/>
          </a:stretch>
        </p:blipFill>
        <p:spPr>
          <a:xfrm>
            <a:off x="6201461" y="3046781"/>
            <a:ext cx="307238" cy="307238"/>
          </a:xfrm>
          <a:prstGeom prst="rect">
            <a:avLst/>
          </a:prstGeom>
        </p:spPr>
      </p:pic>
      <p:sp>
        <p:nvSpPr>
          <p:cNvPr id="12" name="Text 8"/>
          <p:cNvSpPr txBox="1"/>
          <p:nvPr/>
        </p:nvSpPr>
        <p:spPr>
          <a:xfrm>
            <a:off x="6858000" y="2862072"/>
            <a:ext cx="4754880" cy="347472"/>
          </a:xfrm>
          <a:prstGeom prst="rect">
            <a:avLst/>
          </a:prstGeom>
          <a:noFill/>
          <a:ln/>
        </p:spPr>
        <p:txBody>
          <a:bodyPr wrap="square" lIns="0" tIns="0" rIns="0" bIns="0" rtlCol="0" anchor="ctr"/>
          <a:lstStyle/>
          <a:p>
            <a:pPr indent="0" marL="0">
              <a:buNone/>
            </a:pPr>
            <a:r>
              <a:rPr lang="en-US" sz="1600" b="1" dirty="0">
                <a:solidFill>
                  <a:schemeClr val="bg1"/>
                </a:solidFill>
                <a:latin typeface="Calibri" pitchFamily="34" charset="0"/>
                <a:ea typeface="Calibri" pitchFamily="34" charset="-122"/>
                <a:cs typeface="Calibri" pitchFamily="34" charset="-120"/>
              </a:rPr>
              <a:t>IoT / cloud dashboard</a:t>
            </a:r>
            <a:endParaRPr lang="en-US" sz="1600" dirty="0"/>
          </a:p>
        </p:txBody>
      </p:sp>
      <p:sp>
        <p:nvSpPr>
          <p:cNvPr id="13" name="Text 9"/>
          <p:cNvSpPr txBox="1"/>
          <p:nvPr/>
        </p:nvSpPr>
        <p:spPr>
          <a:xfrm>
            <a:off x="6858000" y="3209544"/>
            <a:ext cx="4754880" cy="502920"/>
          </a:xfrm>
          <a:prstGeom prst="rect">
            <a:avLst/>
          </a:prstGeom>
          <a:noFill/>
          <a:ln/>
        </p:spPr>
        <p:txBody>
          <a:bodyPr wrap="square" lIns="0" tIns="0" rIns="0" bIns="0" rtlCol="0" anchor="t"/>
          <a:lstStyle/>
          <a:p>
            <a:pPr indent="0" marL="0">
              <a:buNone/>
            </a:pPr>
            <a:r>
              <a:rPr lang="en-US" sz="1300" dirty="0">
                <a:solidFill>
                  <a:schemeClr val="accent6"/>
                </a:solidFill>
                <a:latin typeface="Calibri" pitchFamily="34" charset="0"/>
                <a:ea typeface="Calibri" pitchFamily="34" charset="-122"/>
                <a:cs typeface="Calibri" pitchFamily="34" charset="-120"/>
              </a:rPr>
              <a:t>Remote monitoring, alerts and trend history for many motors.</a:t>
            </a:r>
            <a:endParaRPr lang="en-US" sz="1300" dirty="0"/>
          </a:p>
        </p:txBody>
      </p:sp>
      <p:sp>
        <p:nvSpPr>
          <p:cNvPr id="14" name="Envelope analysis circle"/>
          <p:cNvSpPr/>
          <p:nvPr/>
        </p:nvSpPr>
        <p:spPr>
          <a:xfrm>
            <a:off x="6035040" y="3931920"/>
            <a:ext cx="640080" cy="640080"/>
          </a:xfrm>
          <a:prstGeom prst="ellipse">
            <a:avLst/>
          </a:prstGeom>
          <a:solidFill>
            <a:schemeClr val="accent1"/>
          </a:solidFill>
          <a:ln/>
        </p:spPr>
      </p:sp>
      <p:pic>
        <p:nvPicPr>
          <p:cNvPr id="15" name="Envelope analysis icon" descr="Envelope analysis">    </p:cNvPr>
          <p:cNvPicPr>
            <a:picLocks noChangeAspect="1"/>
          </p:cNvPicPr>
          <p:nvPr/>
        </p:nvPicPr>
        <p:blipFill>
          <a:blip r:embed="rId3"/>
          <a:stretch>
            <a:fillRect/>
          </a:stretch>
        </p:blipFill>
        <p:spPr>
          <a:xfrm>
            <a:off x="6201461" y="4098341"/>
            <a:ext cx="307238" cy="307238"/>
          </a:xfrm>
          <a:prstGeom prst="rect">
            <a:avLst/>
          </a:prstGeom>
        </p:spPr>
      </p:pic>
      <p:sp>
        <p:nvSpPr>
          <p:cNvPr id="16" name="Text 11"/>
          <p:cNvSpPr txBox="1"/>
          <p:nvPr/>
        </p:nvSpPr>
        <p:spPr>
          <a:xfrm>
            <a:off x="6858000" y="3913632"/>
            <a:ext cx="4754880" cy="347472"/>
          </a:xfrm>
          <a:prstGeom prst="rect">
            <a:avLst/>
          </a:prstGeom>
          <a:noFill/>
          <a:ln/>
        </p:spPr>
        <p:txBody>
          <a:bodyPr wrap="square" lIns="0" tIns="0" rIns="0" bIns="0" rtlCol="0" anchor="ctr"/>
          <a:lstStyle/>
          <a:p>
            <a:pPr indent="0" marL="0">
              <a:buNone/>
            </a:pPr>
            <a:r>
              <a:rPr lang="en-US" sz="1600" b="1" dirty="0">
                <a:solidFill>
                  <a:schemeClr val="bg1"/>
                </a:solidFill>
                <a:latin typeface="Calibri" pitchFamily="34" charset="0"/>
                <a:ea typeface="Calibri" pitchFamily="34" charset="-122"/>
                <a:cs typeface="Calibri" pitchFamily="34" charset="-120"/>
              </a:rPr>
              <a:t>Envelope analysis</a:t>
            </a:r>
            <a:endParaRPr lang="en-US" sz="1600" dirty="0"/>
          </a:p>
        </p:txBody>
      </p:sp>
      <p:sp>
        <p:nvSpPr>
          <p:cNvPr id="17" name="Text 12"/>
          <p:cNvSpPr txBox="1"/>
          <p:nvPr/>
        </p:nvSpPr>
        <p:spPr>
          <a:xfrm>
            <a:off x="6858000" y="4261104"/>
            <a:ext cx="4754880" cy="502920"/>
          </a:xfrm>
          <a:prstGeom prst="rect">
            <a:avLst/>
          </a:prstGeom>
          <a:noFill/>
          <a:ln/>
        </p:spPr>
        <p:txBody>
          <a:bodyPr wrap="square" lIns="0" tIns="0" rIns="0" bIns="0" rtlCol="0" anchor="t"/>
          <a:lstStyle/>
          <a:p>
            <a:pPr indent="0" marL="0">
              <a:buNone/>
            </a:pPr>
            <a:r>
              <a:rPr lang="en-US" sz="1300" dirty="0">
                <a:solidFill>
                  <a:schemeClr val="accent6"/>
                </a:solidFill>
                <a:latin typeface="Calibri" pitchFamily="34" charset="0"/>
                <a:ea typeface="Calibri" pitchFamily="34" charset="-122"/>
                <a:cs typeface="Calibri" pitchFamily="34" charset="-120"/>
              </a:rPr>
              <a:t>Physics-based features at bearing defect frequencies to generalise to new sizes and sensors.</a:t>
            </a:r>
            <a:endParaRPr lang="en-US" sz="1300" dirty="0"/>
          </a:p>
        </p:txBody>
      </p:sp>
      <p:sp>
        <p:nvSpPr>
          <p:cNvPr id="18" name="Real industrial data circle"/>
          <p:cNvSpPr/>
          <p:nvPr/>
        </p:nvSpPr>
        <p:spPr>
          <a:xfrm>
            <a:off x="6035040" y="4983480"/>
            <a:ext cx="640080" cy="640080"/>
          </a:xfrm>
          <a:prstGeom prst="ellipse">
            <a:avLst/>
          </a:prstGeom>
          <a:solidFill>
            <a:schemeClr val="accent1"/>
          </a:solidFill>
          <a:ln/>
        </p:spPr>
      </p:sp>
      <p:pic>
        <p:nvPicPr>
          <p:cNvPr id="19" name="Real industrial data icon" descr="Real industrial data">    </p:cNvPr>
          <p:cNvPicPr>
            <a:picLocks noChangeAspect="1"/>
          </p:cNvPicPr>
          <p:nvPr/>
        </p:nvPicPr>
        <p:blipFill>
          <a:blip r:embed="rId4"/>
          <a:stretch>
            <a:fillRect/>
          </a:stretch>
        </p:blipFill>
        <p:spPr>
          <a:xfrm>
            <a:off x="6201461" y="5149901"/>
            <a:ext cx="307238" cy="307238"/>
          </a:xfrm>
          <a:prstGeom prst="rect">
            <a:avLst/>
          </a:prstGeom>
        </p:spPr>
      </p:pic>
      <p:sp>
        <p:nvSpPr>
          <p:cNvPr id="20" name="Text 14"/>
          <p:cNvSpPr txBox="1"/>
          <p:nvPr/>
        </p:nvSpPr>
        <p:spPr>
          <a:xfrm>
            <a:off x="6858000" y="4965192"/>
            <a:ext cx="4754880" cy="347472"/>
          </a:xfrm>
          <a:prstGeom prst="rect">
            <a:avLst/>
          </a:prstGeom>
          <a:noFill/>
          <a:ln/>
        </p:spPr>
        <p:txBody>
          <a:bodyPr wrap="square" lIns="0" tIns="0" rIns="0" bIns="0" rtlCol="0" anchor="ctr"/>
          <a:lstStyle/>
          <a:p>
            <a:pPr indent="0" marL="0">
              <a:buNone/>
            </a:pPr>
            <a:r>
              <a:rPr lang="en-US" sz="1600" b="1" dirty="0">
                <a:solidFill>
                  <a:schemeClr val="bg1"/>
                </a:solidFill>
                <a:latin typeface="Calibri" pitchFamily="34" charset="0"/>
                <a:ea typeface="Calibri" pitchFamily="34" charset="-122"/>
                <a:cs typeface="Calibri" pitchFamily="34" charset="-120"/>
              </a:rPr>
              <a:t>Real industrial data</a:t>
            </a:r>
            <a:endParaRPr lang="en-US" sz="1600" dirty="0"/>
          </a:p>
        </p:txBody>
      </p:sp>
      <p:sp>
        <p:nvSpPr>
          <p:cNvPr id="21" name="Text 15"/>
          <p:cNvSpPr txBox="1"/>
          <p:nvPr/>
        </p:nvSpPr>
        <p:spPr>
          <a:xfrm>
            <a:off x="6858000" y="5312664"/>
            <a:ext cx="4754880" cy="502920"/>
          </a:xfrm>
          <a:prstGeom prst="rect">
            <a:avLst/>
          </a:prstGeom>
          <a:noFill/>
          <a:ln/>
        </p:spPr>
        <p:txBody>
          <a:bodyPr wrap="square" lIns="0" tIns="0" rIns="0" bIns="0" rtlCol="0" anchor="t"/>
          <a:lstStyle/>
          <a:p>
            <a:pPr indent="0" marL="0">
              <a:buNone/>
            </a:pPr>
            <a:r>
              <a:rPr lang="en-US" sz="1300" dirty="0">
                <a:solidFill>
                  <a:schemeClr val="accent6"/>
                </a:solidFill>
                <a:latin typeface="Calibri" pitchFamily="34" charset="0"/>
                <a:ea typeface="Calibri" pitchFamily="34" charset="-122"/>
                <a:cs typeface="Calibri" pitchFamily="34" charset="-120"/>
              </a:rPr>
              <a:t>Train on factory data and more fault types.</a:t>
            </a:r>
            <a:endParaRPr lang="en-US" sz="13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FB3C8"/>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1554480"/>
            <a:ext cx="6766560" cy="2103120"/>
          </a:xfrm>
          <a:prstGeom prst="rect">
            <a:avLst/>
          </a:prstGeom>
          <a:noFill/>
          <a:ln/>
        </p:spPr>
        <p:txBody>
          <a:bodyPr wrap="square" lIns="0" tIns="0" rIns="0" bIns="0" rtlCol="0" anchor="b"/>
          <a:lstStyle/>
          <a:p>
            <a:pPr algn="l" indent="0" marL="0">
              <a:buNone/>
            </a:pPr>
            <a:r>
              <a:rPr lang="en-US" sz="4000" b="1" dirty="0">
                <a:solidFill>
                  <a:schemeClr val="bg1"/>
                </a:solidFill>
                <a:latin typeface="Arial" pitchFamily="34" charset="0"/>
                <a:ea typeface="Arial" pitchFamily="34" charset="-122"/>
                <a:cs typeface="Arial" pitchFamily="34" charset="-120"/>
              </a:rPr>
              <a:t>Thank you</a:t>
            </a:r>
            <a:endParaRPr lang="en-US" sz="4000" dirty="0"/>
          </a:p>
        </p:txBody>
      </p:sp>
      <p:sp>
        <p:nvSpPr>
          <p:cNvPr id="3" name="Text 0"/>
          <p:cNvSpPr/>
          <p:nvPr>
            <p:ph idx="101" type="body" hasCustomPrompt="1"/>
          </p:nvPr>
        </p:nvSpPr>
        <p:spPr>
          <a:xfrm>
            <a:off x="548640" y="3840480"/>
            <a:ext cx="6400800" cy="914400"/>
          </a:xfrm>
          <a:prstGeom prst="rect">
            <a:avLst/>
          </a:prstGeom>
          <a:noFill/>
          <a:ln/>
        </p:spPr>
        <p:txBody>
          <a:bodyPr wrap="square" lIns="0" tIns="0" rIns="0" bIns="0" rtlCol="0" anchor="t"/>
          <a:lstStyle/>
          <a:p>
            <a:pPr algn="l" indent="0" marL="0">
              <a:buNone/>
            </a:pPr>
            <a:r>
              <a:rPr lang="en-US" sz="1800" dirty="0">
                <a:solidFill>
                  <a:schemeClr val="accent6"/>
                </a:solidFill>
              </a:rPr>
              <a:t>Questions?</a:t>
            </a:r>
            <a:endParaRPr lang="en-US" sz="1800" dirty="0"/>
          </a:p>
        </p:txBody>
      </p:sp>
      <p:sp>
        <p:nvSpPr>
          <p:cNvPr id="4" name="Text 2"/>
          <p:cNvSpPr txBox="1"/>
          <p:nvPr/>
        </p:nvSpPr>
        <p:spPr>
          <a:xfrm>
            <a:off x="7863840" y="1737360"/>
            <a:ext cx="3749040" cy="640080"/>
          </a:xfrm>
          <a:prstGeom prst="rect">
            <a:avLst/>
          </a:prstGeom>
          <a:noFill/>
          <a:ln/>
        </p:spPr>
        <p:txBody>
          <a:bodyPr wrap="square" lIns="0" tIns="0" rIns="0" bIns="0" rtlCol="0" anchor="ctr"/>
          <a:lstStyle/>
          <a:p>
            <a:pPr indent="0" marL="0">
              <a:buNone/>
            </a:pPr>
            <a:r>
              <a:rPr lang="en-US" sz="3600" b="1" dirty="0">
                <a:solidFill>
                  <a:schemeClr val="accent1"/>
                </a:solidFill>
                <a:latin typeface="Arial" pitchFamily="34" charset="0"/>
                <a:ea typeface="Arial" pitchFamily="34" charset="-122"/>
                <a:cs typeface="Arial" pitchFamily="34" charset="-120"/>
              </a:rPr>
              <a:t>98.82%</a:t>
            </a:r>
            <a:endParaRPr lang="en-US" sz="3600" dirty="0"/>
          </a:p>
        </p:txBody>
      </p:sp>
      <p:sp>
        <p:nvSpPr>
          <p:cNvPr id="5" name="Text 3"/>
          <p:cNvSpPr txBox="1"/>
          <p:nvPr/>
        </p:nvSpPr>
        <p:spPr>
          <a:xfrm>
            <a:off x="7863840" y="2359152"/>
            <a:ext cx="3749040" cy="320040"/>
          </a:xfrm>
          <a:prstGeom prst="rect">
            <a:avLst/>
          </a:prstGeom>
          <a:noFill/>
          <a:ln/>
        </p:spPr>
        <p:txBody>
          <a:bodyPr wrap="square" lIns="0" tIns="0" rIns="0" bIns="0" rtlCol="0" anchor="ctr"/>
          <a:lstStyle/>
          <a:p>
            <a:pPr indent="0" marL="0">
              <a:buNone/>
            </a:pPr>
            <a:r>
              <a:rPr lang="en-US" sz="1400" dirty="0">
                <a:solidFill>
                  <a:schemeClr val="accent6"/>
                </a:solidFill>
                <a:latin typeface="Calibri" pitchFamily="34" charset="0"/>
                <a:ea typeface="Calibri" pitchFamily="34" charset="-122"/>
                <a:cs typeface="Calibri" pitchFamily="34" charset="-120"/>
              </a:rPr>
              <a:t>fault type at an unseen load</a:t>
            </a:r>
            <a:endParaRPr lang="en-US" sz="1400" dirty="0"/>
          </a:p>
        </p:txBody>
      </p:sp>
      <p:sp>
        <p:nvSpPr>
          <p:cNvPr id="6" name="Text 4"/>
          <p:cNvSpPr txBox="1"/>
          <p:nvPr/>
        </p:nvSpPr>
        <p:spPr>
          <a:xfrm>
            <a:off x="7863840" y="2926080"/>
            <a:ext cx="3749040" cy="640080"/>
          </a:xfrm>
          <a:prstGeom prst="rect">
            <a:avLst/>
          </a:prstGeom>
          <a:noFill/>
          <a:ln/>
        </p:spPr>
        <p:txBody>
          <a:bodyPr wrap="square" lIns="0" tIns="0" rIns="0" bIns="0" rtlCol="0" anchor="ctr"/>
          <a:lstStyle/>
          <a:p>
            <a:pPr indent="0" marL="0">
              <a:buNone/>
            </a:pPr>
            <a:r>
              <a:rPr lang="en-US" sz="3600" b="1" dirty="0">
                <a:solidFill>
                  <a:schemeClr val="accent1"/>
                </a:solidFill>
                <a:latin typeface="Arial" pitchFamily="34" charset="0"/>
                <a:ea typeface="Arial" pitchFamily="34" charset="-122"/>
                <a:cs typeface="Arial" pitchFamily="34" charset="-120"/>
              </a:rPr>
              <a:t>99.25%</a:t>
            </a:r>
            <a:endParaRPr lang="en-US" sz="3600" dirty="0"/>
          </a:p>
        </p:txBody>
      </p:sp>
      <p:sp>
        <p:nvSpPr>
          <p:cNvPr id="7" name="Text 5"/>
          <p:cNvSpPr txBox="1"/>
          <p:nvPr/>
        </p:nvSpPr>
        <p:spPr>
          <a:xfrm>
            <a:off x="7863840" y="3547872"/>
            <a:ext cx="3749040" cy="320040"/>
          </a:xfrm>
          <a:prstGeom prst="rect">
            <a:avLst/>
          </a:prstGeom>
          <a:noFill/>
          <a:ln/>
        </p:spPr>
        <p:txBody>
          <a:bodyPr wrap="square" lIns="0" tIns="0" rIns="0" bIns="0" rtlCol="0" anchor="ctr"/>
          <a:lstStyle/>
          <a:p>
            <a:pPr indent="0" marL="0">
              <a:buNone/>
            </a:pPr>
            <a:r>
              <a:rPr lang="en-US" sz="1400" dirty="0">
                <a:solidFill>
                  <a:schemeClr val="accent6"/>
                </a:solidFill>
                <a:latin typeface="Calibri" pitchFamily="34" charset="0"/>
                <a:ea typeface="Calibri" pitchFamily="34" charset="-122"/>
                <a:cs typeface="Calibri" pitchFamily="34" charset="-120"/>
              </a:rPr>
              <a:t>fault size at an unseen load</a:t>
            </a:r>
            <a:endParaRPr lang="en-US" sz="1400" dirty="0"/>
          </a:p>
        </p:txBody>
      </p:sp>
      <p:sp>
        <p:nvSpPr>
          <p:cNvPr id="8" name="Text 6"/>
          <p:cNvSpPr txBox="1"/>
          <p:nvPr/>
        </p:nvSpPr>
        <p:spPr>
          <a:xfrm>
            <a:off x="7863840" y="4114800"/>
            <a:ext cx="3749040" cy="640080"/>
          </a:xfrm>
          <a:prstGeom prst="rect">
            <a:avLst/>
          </a:prstGeom>
          <a:noFill/>
          <a:ln/>
        </p:spPr>
        <p:txBody>
          <a:bodyPr wrap="square" lIns="0" tIns="0" rIns="0" bIns="0" rtlCol="0" anchor="ctr"/>
          <a:lstStyle/>
          <a:p>
            <a:pPr indent="0" marL="0">
              <a:buNone/>
            </a:pPr>
            <a:r>
              <a:rPr lang="en-US" sz="3600" b="1" dirty="0">
                <a:solidFill>
                  <a:schemeClr val="accent1"/>
                </a:solidFill>
                <a:latin typeface="Arial" pitchFamily="34" charset="0"/>
                <a:ea typeface="Arial" pitchFamily="34" charset="-122"/>
                <a:cs typeface="Arial" pitchFamily="34" charset="-120"/>
              </a:rPr>
              <a:t>92.5%</a:t>
            </a:r>
            <a:endParaRPr lang="en-US" sz="3600" dirty="0"/>
          </a:p>
        </p:txBody>
      </p:sp>
      <p:sp>
        <p:nvSpPr>
          <p:cNvPr id="9" name="Text 7"/>
          <p:cNvSpPr txBox="1"/>
          <p:nvPr/>
        </p:nvSpPr>
        <p:spPr>
          <a:xfrm>
            <a:off x="7863840" y="4736592"/>
            <a:ext cx="3749040" cy="320040"/>
          </a:xfrm>
          <a:prstGeom prst="rect">
            <a:avLst/>
          </a:prstGeom>
          <a:noFill/>
          <a:ln/>
        </p:spPr>
        <p:txBody>
          <a:bodyPr wrap="square" lIns="0" tIns="0" rIns="0" bIns="0" rtlCol="0" anchor="ctr"/>
          <a:lstStyle/>
          <a:p>
            <a:pPr indent="0" marL="0">
              <a:buNone/>
            </a:pPr>
            <a:r>
              <a:rPr lang="en-US" sz="1400" dirty="0">
                <a:solidFill>
                  <a:schemeClr val="accent6"/>
                </a:solidFill>
                <a:latin typeface="Calibri" pitchFamily="34" charset="0"/>
                <a:ea typeface="Calibri" pitchFamily="34" charset="-122"/>
                <a:cs typeface="Calibri" pitchFamily="34" charset="-120"/>
              </a:rPr>
              <a:t>accuracy with heavy noise</a:t>
            </a:r>
            <a:endParaRPr lang="en-US" sz="1400" dirty="0"/>
          </a:p>
        </p:txBody>
      </p:sp>
      <p:sp>
        <p:nvSpPr>
          <p:cNvPr id="10" name="Text 8"/>
          <p:cNvSpPr txBox="1"/>
          <p:nvPr/>
        </p:nvSpPr>
        <p:spPr>
          <a:xfrm>
            <a:off x="548640" y="6035040"/>
            <a:ext cx="10972800" cy="320040"/>
          </a:xfrm>
          <a:prstGeom prst="rect">
            <a:avLst/>
          </a:prstGeom>
          <a:noFill/>
          <a:ln/>
        </p:spPr>
        <p:txBody>
          <a:bodyPr wrap="square" lIns="0" tIns="0" rIns="0" bIns="0" rtlCol="0" anchor="ctr"/>
          <a:lstStyle/>
          <a:p>
            <a:pPr indent="0" marL="0">
              <a:buNone/>
            </a:pPr>
            <a:r>
              <a:rPr lang="en-US" sz="1200" dirty="0">
                <a:solidFill>
                  <a:schemeClr val="accent6"/>
                </a:solidFill>
                <a:latin typeface="Calibri" pitchFamily="34" charset="0"/>
                <a:ea typeface="Calibri" pitchFamily="34" charset="-122"/>
                <a:cs typeface="Calibri" pitchFamily="34" charset="-120"/>
              </a:rPr>
              <a:t>Code, results and demo: motor-fault-detection/  ·  Data: CWRU Bearing Data Center</a:t>
            </a:r>
            <a:endParaRPr lang="en-US" sz="1200" dirty="0"/>
          </a:p>
        </p:txBody>
      </p:sp>
    </p:spTree>
  </p:cSld>
  <p:clrMapOvr>
    <a:masterClrMapping/>
  </p:clrMapOvr>
</p:sld>
</file>

<file path=ppt/theme/theme1.xml><?xml version="1.0" encoding="utf-8"?>
<a:theme xmlns:a="http://schemas.openxmlformats.org/drawingml/2006/main" name="Industrial Steel">
  <a:themeElements>
    <a:clrScheme name="Industrial Steel">
      <a:dk1>
        <a:srgbClr val="1C2530"/>
      </a:dk1>
      <a:lt1>
        <a:srgbClr val="FFFFFF"/>
      </a:lt1>
      <a:dk2>
        <a:srgbClr val="2B3A4A"/>
      </a:dk2>
      <a:lt2>
        <a:srgbClr val="EEF2F5"/>
      </a:lt2>
      <a:accent1>
        <a:srgbClr val="F2A900"/>
      </a:accent1>
      <a:accent2>
        <a:srgbClr val="2F7D95"/>
      </a:accent2>
      <a:accent3>
        <a:srgbClr val="2E9E6B"/>
      </a:accent3>
      <a:accent4>
        <a:srgbClr val="D64545"/>
      </a:accent4>
      <a:accent5>
        <a:srgbClr val="6B7B8C"/>
      </a:accent5>
      <a:accent6>
        <a:srgbClr val="9FB3C8"/>
      </a:accent6>
      <a:hlink>
        <a:srgbClr val="2F7D95"/>
      </a:hlink>
      <a:folHlink>
        <a:srgbClr val="6B7B8C"/>
      </a:folHlink>
    </a:clrScheme>
    <a:fontScheme name="Industrial Steel">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AI-Based Motor Vibration Fault Detection for Industries</dc:title>
  <dc:subject>Bearing fault detection from vibration signals</dc:subject>
  <dc:creator>PptxGenJS</dc:creator>
  <cp:lastModifiedBy>PptxGenJS</cp:lastModifiedBy>
  <cp:revision>1</cp:revision>
  <dcterms:created xsi:type="dcterms:W3CDTF">2026-10-08T10:56:03Z</dcterms:created>
  <dcterms:modified xsi:type="dcterms:W3CDTF">2026-10-08T10:56:03Z</dcterms:modified>
</cp:coreProperties>
</file>